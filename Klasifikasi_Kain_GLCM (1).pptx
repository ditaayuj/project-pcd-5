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70" r:id="rId9"/>
    <p:sldId id="267" r:id="rId10"/>
    <p:sldId id="272" r:id="rId11"/>
    <p:sldId id="266" r:id="rId12"/>
    <p:sldId id="268" r:id="rId13"/>
    <p:sldId id="273" r:id="rId14"/>
    <p:sldId id="262" r:id="rId15"/>
    <p:sldId id="269" r:id="rId16"/>
    <p:sldId id="265"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819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6AAB-EDF0-800E-836B-1E88F7148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882C4-3F29-F103-D690-6137F2760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4E69D-AE90-90C2-86C7-942257EB15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EB1CE-4DCA-38A5-C960-EFAB44F09BF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28874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E599D-AFAA-D506-3252-FEC74E0CD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9D2A9-970E-C499-C1C1-87B720053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46548-B3D9-34E9-3A95-647390EB4A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F3832E-E790-9CC1-2A4D-15A47294F55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84258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3B72-62F7-AF9C-9A05-D7DE126E7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31B98-34A5-ED78-0B2F-AB129F726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B3902-9947-2691-993B-D674D2BAD0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7216AE-0E50-5ECE-DEEE-5DC12DCA313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58387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CE13F-8505-670B-6027-BF2F38D13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9F3D9-5920-CE98-DE7F-1C9A73460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586B1-9941-0278-07B8-F2CEFA56F6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B9CCD-9E7B-373D-C225-BE85E93CF82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90134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29A95-326D-801F-377E-2A572C7E1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0E324-5C15-859F-B55C-777292C52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C7CF3-6E3D-F262-FDA7-B743EA560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A0AD8F-A938-7CE0-EED8-4D8665B9A62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632291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2B6AF-5233-3575-8D1B-BA8ED0BAF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BF62F-8153-B335-9742-6A06B8402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FFE85-37A2-C2DF-9316-20B20FCEDF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7996E3-D15A-766F-9050-BBC3CD8C53C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3454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E6BF1-DF9B-7D76-55FC-001A7BA40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03963-0C3C-4BA3-74ED-FED316C63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E6C8ED-D863-4CA8-F631-45A8B40FA4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9541C-5AC2-8A34-816E-DF9B8E2F86A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21455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C89CA-3C5D-19C7-AFA5-1F42B083D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80AA7-AD0C-3062-AF1E-50E931AE5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FCA8E-6E6A-9BA9-D007-C2BEE6F95B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162DF8-2384-ECE2-7A21-FAF819D577F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40032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65A82">
              <a:alpha val="45000"/>
            </a:srgbClr>
          </a:solidFill>
          <a:ln/>
        </p:spPr>
      </p:sp>
      <p:sp>
        <p:nvSpPr>
          <p:cNvPr id="3" name="Shape 1"/>
          <p:cNvSpPr/>
          <p:nvPr/>
        </p:nvSpPr>
        <p:spPr>
          <a:xfrm>
            <a:off x="-1645920" y="4389120"/>
            <a:ext cx="4114800" cy="4114800"/>
          </a:xfrm>
          <a:prstGeom prst="ellipse">
            <a:avLst/>
          </a:prstGeom>
          <a:solidFill>
            <a:srgbClr val="1C7293">
              <a:alpha val="35000"/>
            </a:srgbClr>
          </a:solidFill>
          <a:ln/>
        </p:spPr>
      </p:sp>
      <p:sp>
        <p:nvSpPr>
          <p:cNvPr id="4" name="Text 2"/>
          <p:cNvSpPr/>
          <p:nvPr/>
        </p:nvSpPr>
        <p:spPr>
          <a:xfrm>
            <a:off x="731520" y="1371600"/>
            <a:ext cx="7315200" cy="365760"/>
          </a:xfrm>
          <a:prstGeom prst="rect">
            <a:avLst/>
          </a:prstGeom>
          <a:noFill/>
          <a:ln/>
        </p:spPr>
        <p:txBody>
          <a:bodyPr wrap="square" rtlCol="0" anchor="ctr"/>
          <a:lstStyle/>
          <a:p>
            <a:pPr marL="0" indent="0">
              <a:buNone/>
            </a:pPr>
            <a:r>
              <a:rPr lang="en-US" sz="1300" b="1" kern="0" spc="300" dirty="0">
                <a:solidFill>
                  <a:srgbClr val="7FB3D5"/>
                </a:solidFill>
                <a:latin typeface="Calibri" pitchFamily="34" charset="0"/>
                <a:ea typeface="Calibri" pitchFamily="34" charset="-122"/>
                <a:cs typeface="Calibri" pitchFamily="34" charset="-120"/>
              </a:rPr>
              <a:t>DIGITAL IMAGE PROCESSING</a:t>
            </a:r>
            <a:endParaRPr lang="en-US" sz="1300" dirty="0"/>
          </a:p>
        </p:txBody>
      </p:sp>
      <p:sp>
        <p:nvSpPr>
          <p:cNvPr id="5" name="Text 3"/>
          <p:cNvSpPr/>
          <p:nvPr/>
        </p:nvSpPr>
        <p:spPr>
          <a:xfrm>
            <a:off x="731520" y="1828800"/>
            <a:ext cx="9601200" cy="1737360"/>
          </a:xfrm>
          <a:prstGeom prst="rect">
            <a:avLst/>
          </a:prstGeom>
          <a:noFill/>
          <a:ln/>
        </p:spPr>
        <p:txBody>
          <a:bodyPr wrap="square"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Klasifikasi Kain Defektif dan</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Non Defektif Menggunakan Fitur GLCM</a:t>
            </a:r>
            <a:endParaRPr lang="en-US" sz="3800" dirty="0"/>
          </a:p>
        </p:txBody>
      </p:sp>
      <p:sp>
        <p:nvSpPr>
          <p:cNvPr id="6" name="Text 4"/>
          <p:cNvSpPr/>
          <p:nvPr/>
        </p:nvSpPr>
        <p:spPr>
          <a:xfrm>
            <a:off x="731520" y="3566160"/>
            <a:ext cx="8686800" cy="548640"/>
          </a:xfrm>
          <a:prstGeom prst="rect">
            <a:avLst/>
          </a:prstGeom>
          <a:noFill/>
          <a:ln/>
        </p:spPr>
        <p:txBody>
          <a:bodyPr wrap="square" rtlCol="0" anchor="ctr"/>
          <a:lstStyle/>
          <a:p>
            <a:pPr marL="0" indent="0">
              <a:buNone/>
            </a:pPr>
            <a:r>
              <a:rPr lang="en-US" sz="1600" i="1" dirty="0">
                <a:solidFill>
                  <a:srgbClr val="C9D6E8"/>
                </a:solidFill>
                <a:latin typeface="Calibri" pitchFamily="34" charset="0"/>
                <a:ea typeface="Calibri" pitchFamily="34" charset="-122"/>
                <a:cs typeface="Calibri" pitchFamily="34" charset="-120"/>
              </a:rPr>
              <a:t>Perbandingan Tiga Skema Preprocessing dengan Klasifikasi SVM, Random Forest, dan KNN</a:t>
            </a:r>
            <a:endParaRPr lang="en-US" sz="1600" dirty="0"/>
          </a:p>
        </p:txBody>
      </p:sp>
      <p:sp>
        <p:nvSpPr>
          <p:cNvPr id="7" name="Shape 5"/>
          <p:cNvSpPr/>
          <p:nvPr/>
        </p:nvSpPr>
        <p:spPr>
          <a:xfrm>
            <a:off x="731520" y="4343400"/>
            <a:ext cx="3200400" cy="0"/>
          </a:xfrm>
          <a:prstGeom prst="line">
            <a:avLst/>
          </a:prstGeom>
          <a:noFill/>
          <a:ln w="25400">
            <a:solidFill>
              <a:srgbClr val="F2A359"/>
            </a:solidFill>
            <a:prstDash val="solid"/>
          </a:ln>
        </p:spPr>
      </p:sp>
      <p:sp>
        <p:nvSpPr>
          <p:cNvPr id="8" name="Text 6"/>
          <p:cNvSpPr/>
          <p:nvPr/>
        </p:nvSpPr>
        <p:spPr>
          <a:xfrm>
            <a:off x="731520" y="4663440"/>
            <a:ext cx="6400800" cy="1645920"/>
          </a:xfrm>
          <a:prstGeom prst="rect">
            <a:avLst/>
          </a:prstGeom>
          <a:noFill/>
          <a:ln/>
        </p:spPr>
        <p:txBody>
          <a:bodyPr wrap="square" rtlCol="0" anchor="ctr"/>
          <a:lstStyle/>
          <a:p>
            <a:pPr marL="342900" indent="-342900">
              <a:spcAft>
                <a:spcPts val="600"/>
              </a:spcAft>
              <a:buSzPct val="100000"/>
              <a:buChar char="•"/>
            </a:pPr>
            <a:r>
              <a:rPr lang="en-US" sz="1350" dirty="0">
                <a:solidFill>
                  <a:srgbClr val="DCE5F2"/>
                </a:solidFill>
                <a:latin typeface="Times New Roman" panose="02020603050405020304" pitchFamily="18" charset="0"/>
                <a:ea typeface="Calibri" pitchFamily="34" charset="-122"/>
                <a:cs typeface="Times New Roman" panose="02020603050405020304" pitchFamily="18" charset="0"/>
              </a:rPr>
              <a:t>Deswita Salsabila — F1D02410004</a:t>
            </a:r>
            <a:endParaRPr lang="en-US" sz="135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350" dirty="0">
                <a:solidFill>
                  <a:srgbClr val="DCE5F2"/>
                </a:solidFill>
                <a:latin typeface="Times New Roman" panose="02020603050405020304" pitchFamily="18" charset="0"/>
                <a:ea typeface="Calibri" pitchFamily="34" charset="-122"/>
                <a:cs typeface="Times New Roman" panose="02020603050405020304" pitchFamily="18" charset="0"/>
              </a:rPr>
              <a:t>Winona Andien Jihan Habbibah — F1D02410027</a:t>
            </a:r>
            <a:endParaRPr lang="en-US" sz="135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350" dirty="0">
                <a:solidFill>
                  <a:srgbClr val="DCE5F2"/>
                </a:solidFill>
                <a:latin typeface="Times New Roman" panose="02020603050405020304" pitchFamily="18" charset="0"/>
                <a:ea typeface="Calibri" pitchFamily="34" charset="-122"/>
                <a:cs typeface="Times New Roman" panose="02020603050405020304" pitchFamily="18" charset="0"/>
              </a:rPr>
              <a:t>Faiz Ahmad Tsaqib Wirawan — F1D02410043</a:t>
            </a:r>
            <a:endParaRPr lang="en-US" sz="1350" dirty="0">
              <a:latin typeface="Times New Roman" panose="02020603050405020304" pitchFamily="18" charset="0"/>
              <a:cs typeface="Times New Roman" panose="02020603050405020304" pitchFamily="18" charset="0"/>
            </a:endParaRPr>
          </a:p>
          <a:p>
            <a:pPr marL="342900" indent="-342900">
              <a:spcAft>
                <a:spcPts val="600"/>
              </a:spcAft>
              <a:buSzPct val="100000"/>
              <a:buChar char="•"/>
            </a:pPr>
            <a:r>
              <a:rPr lang="en-US" sz="1350" dirty="0">
                <a:solidFill>
                  <a:srgbClr val="DCE5F2"/>
                </a:solidFill>
                <a:latin typeface="Times New Roman" panose="02020603050405020304" pitchFamily="18" charset="0"/>
                <a:ea typeface="Calibri" pitchFamily="34" charset="-122"/>
                <a:cs typeface="Times New Roman" panose="02020603050405020304" pitchFamily="18" charset="0"/>
              </a:rPr>
              <a:t>Dita Ayu Julita — F1D02410111</a:t>
            </a:r>
            <a:endParaRPr lang="en-US" sz="13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LATAR BELAKANG</a:t>
            </a:r>
            <a:endParaRPr lang="en-US" sz="1200" dirty="0"/>
          </a:p>
        </p:txBody>
      </p:sp>
      <p:sp>
        <p:nvSpPr>
          <p:cNvPr id="3" name="Text 1"/>
          <p:cNvSpPr/>
          <p:nvPr/>
        </p:nvSpPr>
        <p:spPr>
          <a:xfrm>
            <a:off x="548640" y="777240"/>
            <a:ext cx="100584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Mengapa Deteksi Cacat Kain Penting?</a:t>
            </a:r>
            <a:endParaRPr lang="en-US" sz="3000" dirty="0"/>
          </a:p>
        </p:txBody>
      </p:sp>
      <p:sp>
        <p:nvSpPr>
          <p:cNvPr id="4" name="Shape 2"/>
          <p:cNvSpPr/>
          <p:nvPr/>
        </p:nvSpPr>
        <p:spPr>
          <a:xfrm>
            <a:off x="548640" y="1783080"/>
            <a:ext cx="3246120" cy="2286000"/>
          </a:xfrm>
          <a:prstGeom prst="roundRect">
            <a:avLst>
              <a:gd name="adj" fmla="val 3200"/>
            </a:avLst>
          </a:prstGeom>
          <a:solidFill>
            <a:srgbClr val="EAF4F7"/>
          </a:solidFill>
          <a:ln/>
          <a:effectLst>
            <a:outerShdw blurRad="101600" dist="38100" dir="5400000" algn="bl" rotWithShape="0">
              <a:srgbClr val="000000">
                <a:alpha val="10000"/>
              </a:srgbClr>
            </a:outerShdw>
          </a:effectLst>
        </p:spPr>
      </p:sp>
      <p:sp>
        <p:nvSpPr>
          <p:cNvPr id="5" name="Shape 3"/>
          <p:cNvSpPr/>
          <p:nvPr/>
        </p:nvSpPr>
        <p:spPr>
          <a:xfrm>
            <a:off x="822960" y="2057400"/>
            <a:ext cx="502920" cy="502920"/>
          </a:xfrm>
          <a:prstGeom prst="ellipse">
            <a:avLst/>
          </a:prstGeom>
          <a:solidFill>
            <a:srgbClr val="1C7293"/>
          </a:solidFill>
          <a:ln/>
        </p:spPr>
      </p:sp>
      <p:sp>
        <p:nvSpPr>
          <p:cNvPr id="6" name="Text 4"/>
          <p:cNvSpPr/>
          <p:nvPr/>
        </p:nvSpPr>
        <p:spPr>
          <a:xfrm>
            <a:off x="822960" y="20574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822960" y="2743200"/>
            <a:ext cx="2697480" cy="41148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Kualitas Industri</a:t>
            </a:r>
            <a:endParaRPr lang="en-US" sz="1600" dirty="0"/>
          </a:p>
        </p:txBody>
      </p:sp>
      <p:sp>
        <p:nvSpPr>
          <p:cNvPr id="8" name="Text 6"/>
          <p:cNvSpPr/>
          <p:nvPr/>
        </p:nvSpPr>
        <p:spPr>
          <a:xfrm>
            <a:off x="822960" y="3154680"/>
            <a:ext cx="2697480" cy="822960"/>
          </a:xfrm>
          <a:prstGeom prst="rect">
            <a:avLst/>
          </a:prstGeom>
          <a:noFill/>
          <a:ln/>
        </p:spPr>
        <p:txBody>
          <a:bodyPr wrap="square" rtlCol="0" anchor="ctr"/>
          <a:lstStyle/>
          <a:p>
            <a:pPr marL="0" indent="0">
              <a:lnSpc>
                <a:spcPct val="115000"/>
              </a:lnSpc>
              <a:buNone/>
            </a:pPr>
            <a:r>
              <a:rPr lang="en-US" sz="1200" dirty="0">
                <a:solidFill>
                  <a:srgbClr val="5A6B85"/>
                </a:solidFill>
                <a:latin typeface="Times New Roman" panose="02020603050405020304" pitchFamily="18" charset="0"/>
                <a:ea typeface="Calibri" pitchFamily="34" charset="-122"/>
                <a:cs typeface="Times New Roman" panose="02020603050405020304" pitchFamily="18" charset="0"/>
              </a:rPr>
              <a:t>Inspeksi manual kain rentan human error dan lambat untuk produksi skala besar.</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4114800" y="1783080"/>
            <a:ext cx="3246120" cy="2286000"/>
          </a:xfrm>
          <a:prstGeom prst="roundRect">
            <a:avLst>
              <a:gd name="adj" fmla="val 3200"/>
            </a:avLst>
          </a:prstGeom>
          <a:solidFill>
            <a:srgbClr val="EAF4F7"/>
          </a:solidFill>
          <a:ln/>
          <a:effectLst>
            <a:outerShdw blurRad="101600" dist="38100" dir="5400000" algn="bl" rotWithShape="0">
              <a:srgbClr val="000000">
                <a:alpha val="10000"/>
              </a:srgbClr>
            </a:outerShdw>
          </a:effectLst>
        </p:spPr>
      </p:sp>
      <p:sp>
        <p:nvSpPr>
          <p:cNvPr id="10" name="Shape 8"/>
          <p:cNvSpPr/>
          <p:nvPr/>
        </p:nvSpPr>
        <p:spPr>
          <a:xfrm>
            <a:off x="4389120" y="2057400"/>
            <a:ext cx="502920" cy="502920"/>
          </a:xfrm>
          <a:prstGeom prst="ellipse">
            <a:avLst/>
          </a:prstGeom>
          <a:solidFill>
            <a:srgbClr val="1C7293"/>
          </a:solidFill>
          <a:ln/>
        </p:spPr>
      </p:sp>
      <p:sp>
        <p:nvSpPr>
          <p:cNvPr id="11" name="Text 9"/>
          <p:cNvSpPr/>
          <p:nvPr/>
        </p:nvSpPr>
        <p:spPr>
          <a:xfrm>
            <a:off x="4389120" y="20574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389120" y="2743200"/>
            <a:ext cx="2697480" cy="41148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Tekstur sebagai Kunci</a:t>
            </a:r>
            <a:endParaRPr lang="en-US" sz="1600" dirty="0"/>
          </a:p>
        </p:txBody>
      </p:sp>
      <p:sp>
        <p:nvSpPr>
          <p:cNvPr id="13" name="Text 11"/>
          <p:cNvSpPr/>
          <p:nvPr/>
        </p:nvSpPr>
        <p:spPr>
          <a:xfrm>
            <a:off x="4389120" y="3154680"/>
            <a:ext cx="2697480" cy="822960"/>
          </a:xfrm>
          <a:prstGeom prst="rect">
            <a:avLst/>
          </a:prstGeom>
          <a:noFill/>
          <a:ln/>
        </p:spPr>
        <p:txBody>
          <a:bodyPr wrap="square" rtlCol="0" anchor="ctr"/>
          <a:lstStyle/>
          <a:p>
            <a:pPr marL="0" indent="0">
              <a:lnSpc>
                <a:spcPct val="115000"/>
              </a:lnSpc>
              <a:buNone/>
            </a:pPr>
            <a:r>
              <a:rPr lang="en-US" sz="1200" dirty="0">
                <a:solidFill>
                  <a:srgbClr val="5A6B85"/>
                </a:solidFill>
                <a:latin typeface="Times New Roman" panose="02020603050405020304" pitchFamily="18" charset="0"/>
                <a:ea typeface="Calibri" pitchFamily="34" charset="-122"/>
                <a:cs typeface="Times New Roman" panose="02020603050405020304" pitchFamily="18" charset="0"/>
              </a:rPr>
              <a:t>Cacat kain umumnya tampak sebagai </a:t>
            </a:r>
            <a:r>
              <a:rPr lang="en-US" sz="1200" dirty="0" err="1">
                <a:solidFill>
                  <a:srgbClr val="5A6B85"/>
                </a:solidFill>
                <a:latin typeface="Times New Roman" panose="02020603050405020304" pitchFamily="18" charset="0"/>
                <a:ea typeface="Calibri" pitchFamily="34" charset="-122"/>
                <a:cs typeface="Times New Roman" panose="02020603050405020304" pitchFamily="18" charset="0"/>
              </a:rPr>
              <a:t>perubahan</a:t>
            </a:r>
            <a:r>
              <a:rPr lang="en-US" sz="1200" dirty="0">
                <a:solidFill>
                  <a:srgbClr val="5A6B85"/>
                </a:solidFill>
                <a:latin typeface="Times New Roman" panose="02020603050405020304" pitchFamily="18" charset="0"/>
                <a:ea typeface="Calibri" pitchFamily="34" charset="-122"/>
                <a:cs typeface="Times New Roman" panose="02020603050405020304" pitchFamily="18" charset="0"/>
              </a:rPr>
              <a:t> </a:t>
            </a:r>
            <a:r>
              <a:rPr lang="en-US" sz="1200" dirty="0" err="1">
                <a:solidFill>
                  <a:srgbClr val="5A6B85"/>
                </a:solidFill>
                <a:latin typeface="Times New Roman" panose="02020603050405020304" pitchFamily="18" charset="0"/>
                <a:ea typeface="Calibri" pitchFamily="34" charset="-122"/>
                <a:cs typeface="Times New Roman" panose="02020603050405020304" pitchFamily="18" charset="0"/>
              </a:rPr>
              <a:t>tekstur</a:t>
            </a:r>
            <a:r>
              <a:rPr lang="en-US" sz="1200" dirty="0">
                <a:solidFill>
                  <a:srgbClr val="5A6B85"/>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7680960" y="1783080"/>
            <a:ext cx="3246120" cy="2286000"/>
          </a:xfrm>
          <a:prstGeom prst="roundRect">
            <a:avLst>
              <a:gd name="adj" fmla="val 3200"/>
            </a:avLst>
          </a:prstGeom>
          <a:solidFill>
            <a:srgbClr val="EAF4F7"/>
          </a:solidFill>
          <a:ln/>
          <a:effectLst>
            <a:outerShdw blurRad="101600" dist="38100" dir="5400000" algn="bl" rotWithShape="0">
              <a:srgbClr val="000000">
                <a:alpha val="10000"/>
              </a:srgbClr>
            </a:outerShdw>
          </a:effectLst>
        </p:spPr>
      </p:sp>
      <p:sp>
        <p:nvSpPr>
          <p:cNvPr id="15" name="Shape 13"/>
          <p:cNvSpPr/>
          <p:nvPr/>
        </p:nvSpPr>
        <p:spPr>
          <a:xfrm>
            <a:off x="7955280" y="2057400"/>
            <a:ext cx="502920" cy="502920"/>
          </a:xfrm>
          <a:prstGeom prst="ellipse">
            <a:avLst/>
          </a:prstGeom>
          <a:solidFill>
            <a:srgbClr val="1C7293"/>
          </a:solidFill>
          <a:ln/>
        </p:spPr>
      </p:sp>
      <p:sp>
        <p:nvSpPr>
          <p:cNvPr id="16" name="Text 14"/>
          <p:cNvSpPr/>
          <p:nvPr/>
        </p:nvSpPr>
        <p:spPr>
          <a:xfrm>
            <a:off x="7955280" y="20574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7955280" y="2743200"/>
            <a:ext cx="2697480" cy="411480"/>
          </a:xfrm>
          <a:prstGeom prst="rect">
            <a:avLst/>
          </a:prstGeom>
          <a:noFill/>
          <a:ln/>
        </p:spPr>
        <p:txBody>
          <a:bodyPr wrap="square"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Preprocessing Berpengaruh</a:t>
            </a:r>
            <a:endParaRPr lang="en-US" sz="1600" dirty="0"/>
          </a:p>
        </p:txBody>
      </p:sp>
      <p:sp>
        <p:nvSpPr>
          <p:cNvPr id="18" name="Text 16"/>
          <p:cNvSpPr/>
          <p:nvPr/>
        </p:nvSpPr>
        <p:spPr>
          <a:xfrm>
            <a:off x="7955280" y="3154680"/>
            <a:ext cx="2697480" cy="822960"/>
          </a:xfrm>
          <a:prstGeom prst="rect">
            <a:avLst/>
          </a:prstGeom>
          <a:noFill/>
          <a:ln/>
        </p:spPr>
        <p:txBody>
          <a:bodyPr wrap="square" rtlCol="0" anchor="ctr"/>
          <a:lstStyle/>
          <a:p>
            <a:pPr marL="0" indent="0">
              <a:lnSpc>
                <a:spcPct val="115000"/>
              </a:lnSpc>
              <a:buNone/>
            </a:pPr>
            <a:r>
              <a:rPr lang="en-US" sz="1200" dirty="0">
                <a:solidFill>
                  <a:srgbClr val="5A6B85"/>
                </a:solidFill>
                <a:latin typeface="Times New Roman" panose="02020603050405020304" pitchFamily="18" charset="0"/>
                <a:ea typeface="Calibri" pitchFamily="34" charset="-122"/>
                <a:cs typeface="Times New Roman" panose="02020603050405020304" pitchFamily="18" charset="0"/>
              </a:rPr>
              <a:t>Teknik preprocessing citra dapat meningkatkan atau menurunkan kualitas fitur yang diekstraksi.</a:t>
            </a:r>
            <a:endParaRPr lang="en-US" sz="1200" dirty="0">
              <a:latin typeface="Times New Roman" panose="02020603050405020304" pitchFamily="18" charset="0"/>
              <a:cs typeface="Times New Roman" panose="02020603050405020304" pitchFamily="18" charset="0"/>
            </a:endParaRPr>
          </a:p>
        </p:txBody>
      </p:sp>
      <p:sp>
        <p:nvSpPr>
          <p:cNvPr id="19" name="Shape 17"/>
          <p:cNvSpPr/>
          <p:nvPr/>
        </p:nvSpPr>
        <p:spPr>
          <a:xfrm>
            <a:off x="548640" y="4343400"/>
            <a:ext cx="11064240" cy="1691640"/>
          </a:xfrm>
          <a:prstGeom prst="roundRect">
            <a:avLst>
              <a:gd name="adj" fmla="val 4324"/>
            </a:avLst>
          </a:prstGeom>
          <a:solidFill>
            <a:srgbClr val="21295C"/>
          </a:solidFill>
          <a:ln/>
        </p:spPr>
      </p:sp>
      <p:sp>
        <p:nvSpPr>
          <p:cNvPr id="20" name="Text 18"/>
          <p:cNvSpPr/>
          <p:nvPr/>
        </p:nvSpPr>
        <p:spPr>
          <a:xfrm>
            <a:off x="914400" y="4553712"/>
            <a:ext cx="4572000" cy="320040"/>
          </a:xfrm>
          <a:prstGeom prst="rect">
            <a:avLst/>
          </a:prstGeom>
          <a:noFill/>
          <a:ln/>
        </p:spPr>
        <p:txBody>
          <a:bodyPr wrap="square" rtlCol="0" anchor="ctr"/>
          <a:lstStyle/>
          <a:p>
            <a:pPr marL="0" indent="0">
              <a:buNone/>
            </a:pPr>
            <a:r>
              <a:rPr lang="en-US" sz="1200" b="1" kern="0" spc="200" dirty="0">
                <a:solidFill>
                  <a:srgbClr val="7FB3D5"/>
                </a:solidFill>
                <a:latin typeface="Calibri" pitchFamily="34" charset="0"/>
                <a:ea typeface="Calibri" pitchFamily="34" charset="-122"/>
                <a:cs typeface="Calibri" pitchFamily="34" charset="-120"/>
              </a:rPr>
              <a:t>TUJUAN PENELITIAN</a:t>
            </a:r>
            <a:endParaRPr lang="en-US" sz="1200" dirty="0"/>
          </a:p>
        </p:txBody>
      </p:sp>
      <p:sp>
        <p:nvSpPr>
          <p:cNvPr id="21" name="Text 19"/>
          <p:cNvSpPr/>
          <p:nvPr/>
        </p:nvSpPr>
        <p:spPr>
          <a:xfrm>
            <a:off x="914400" y="4892040"/>
            <a:ext cx="10332720" cy="1051560"/>
          </a:xfrm>
          <a:prstGeom prst="rect">
            <a:avLst/>
          </a:prstGeom>
          <a:noFill/>
          <a:ln/>
        </p:spPr>
        <p:txBody>
          <a:bodyPr wrap="square" rtlCol="0" anchor="ctr"/>
          <a:lstStyle/>
          <a:p>
            <a:pPr marL="0" indent="0">
              <a:lnSpc>
                <a:spcPct val="125000"/>
              </a:lnSpc>
              <a:buNone/>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Membandingkan performa klasifikasi kain defect / non-defect menggunakan fitur tekstur GLCM pada tiga skema preprocessing yang berbeda tingkat kompleksitasnya, dievaluasi dengan model Random Forest, SVM, dan KNN.</a:t>
            </a:r>
            <a:endParaRPr lang="en-US" sz="1500" dirty="0">
              <a:latin typeface="Times New Roman" panose="02020603050405020304" pitchFamily="18" charset="0"/>
              <a:cs typeface="Times New Roman" panose="02020603050405020304" pitchFamily="18" charset="0"/>
            </a:endParaRPr>
          </a:p>
        </p:txBody>
      </p:sp>
      <p:sp>
        <p:nvSpPr>
          <p:cNvPr id="22" name="Text 2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UNDERSTANDING</a:t>
            </a:r>
            <a:endParaRPr lang="en-US" sz="1200" dirty="0"/>
          </a:p>
        </p:txBody>
      </p:sp>
      <p:sp>
        <p:nvSpPr>
          <p:cNvPr id="3" name="Text 1"/>
          <p:cNvSpPr/>
          <p:nvPr/>
        </p:nvSpPr>
        <p:spPr>
          <a:xfrm>
            <a:off x="548640" y="777240"/>
            <a:ext cx="73152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Dataset Citra Kain</a:t>
            </a:r>
            <a:endParaRPr lang="en-US" sz="3000" dirty="0"/>
          </a:p>
        </p:txBody>
      </p:sp>
      <p:sp>
        <p:nvSpPr>
          <p:cNvPr id="4" name="Shape 2"/>
          <p:cNvSpPr/>
          <p:nvPr/>
        </p:nvSpPr>
        <p:spPr>
          <a:xfrm>
            <a:off x="548639" y="1991153"/>
            <a:ext cx="5622628" cy="3358087"/>
          </a:xfrm>
          <a:prstGeom prst="roundRect">
            <a:avLst>
              <a:gd name="adj" fmla="val 2162"/>
            </a:avLst>
          </a:prstGeom>
          <a:solidFill>
            <a:srgbClr val="21295C"/>
          </a:solidFill>
          <a:ln/>
        </p:spPr>
        <p:txBody>
          <a:bodyPr/>
          <a:lstStyle/>
          <a:p>
            <a:endParaRPr lang="id-ID" dirty="0"/>
          </a:p>
        </p:txBody>
      </p:sp>
      <p:sp>
        <p:nvSpPr>
          <p:cNvPr id="5" name="Text 3"/>
          <p:cNvSpPr/>
          <p:nvPr/>
        </p:nvSpPr>
        <p:spPr>
          <a:xfrm>
            <a:off x="1584338" y="1933769"/>
            <a:ext cx="3383280" cy="914400"/>
          </a:xfrm>
          <a:prstGeom prst="rect">
            <a:avLst/>
          </a:prstGeom>
          <a:noFill/>
          <a:ln/>
        </p:spPr>
        <p:txBody>
          <a:bodyPr wrap="square" rtlCol="0" anchor="ctr"/>
          <a:lstStyle/>
          <a:p>
            <a:pPr marL="0" indent="0" algn="ctr">
              <a:buNone/>
            </a:pPr>
            <a:r>
              <a:rPr lang="en-US" sz="5600" b="1" dirty="0">
                <a:solidFill>
                  <a:srgbClr val="F2A359"/>
                </a:solidFill>
                <a:latin typeface="Cambria" pitchFamily="34" charset="0"/>
                <a:ea typeface="Cambria" pitchFamily="34" charset="-122"/>
              </a:rPr>
              <a:t>Defect </a:t>
            </a:r>
            <a:endParaRPr lang="en-US" sz="5600" dirty="0"/>
          </a:p>
        </p:txBody>
      </p:sp>
      <p:sp>
        <p:nvSpPr>
          <p:cNvPr id="6" name="Text 4"/>
          <p:cNvSpPr/>
          <p:nvPr/>
        </p:nvSpPr>
        <p:spPr>
          <a:xfrm>
            <a:off x="548640" y="3168209"/>
            <a:ext cx="3383280" cy="365760"/>
          </a:xfrm>
          <a:prstGeom prst="rect">
            <a:avLst/>
          </a:prstGeom>
          <a:noFill/>
          <a:ln/>
        </p:spPr>
        <p:txBody>
          <a:bodyPr wrap="square" rtlCol="0" anchor="ctr"/>
          <a:lstStyle/>
          <a:p>
            <a:pPr marL="0" indent="0" algn="ctr">
              <a:buNone/>
            </a:pPr>
            <a:endParaRPr lang="en-US" sz="1400" dirty="0">
              <a:latin typeface="Times New Roman" panose="02020603050405020304" pitchFamily="18" charset="0"/>
              <a:cs typeface="Times New Roman" panose="02020603050405020304" pitchFamily="18" charset="0"/>
            </a:endParaRPr>
          </a:p>
        </p:txBody>
      </p:sp>
      <p:sp>
        <p:nvSpPr>
          <p:cNvPr id="7" name="Shape 5"/>
          <p:cNvSpPr/>
          <p:nvPr/>
        </p:nvSpPr>
        <p:spPr>
          <a:xfrm>
            <a:off x="2132978" y="2732003"/>
            <a:ext cx="2286000" cy="0"/>
          </a:xfrm>
          <a:prstGeom prst="line">
            <a:avLst/>
          </a:prstGeom>
          <a:noFill/>
          <a:ln w="12700">
            <a:solidFill>
              <a:srgbClr val="3A4A85"/>
            </a:solidFill>
            <a:prstDash val="solid"/>
          </a:ln>
        </p:spPr>
      </p:sp>
      <p:sp>
        <p:nvSpPr>
          <p:cNvPr id="8" name="Text 6"/>
          <p:cNvSpPr/>
          <p:nvPr/>
        </p:nvSpPr>
        <p:spPr>
          <a:xfrm>
            <a:off x="548640" y="3826484"/>
            <a:ext cx="3383280" cy="640080"/>
          </a:xfrm>
          <a:prstGeom prst="rect">
            <a:avLst/>
          </a:prstGeom>
          <a:noFill/>
          <a:ln/>
        </p:spPr>
        <p:txBody>
          <a:bodyPr wrap="square" rtlCol="0" anchor="ctr"/>
          <a:lstStyle/>
          <a:p>
            <a:pPr marL="0" indent="0" algn="ctr">
              <a:buNone/>
            </a:pPr>
            <a:endParaRPr lang="en-US" sz="3200" dirty="0"/>
          </a:p>
        </p:txBody>
      </p:sp>
      <p:sp>
        <p:nvSpPr>
          <p:cNvPr id="9" name="Text 7"/>
          <p:cNvSpPr/>
          <p:nvPr/>
        </p:nvSpPr>
        <p:spPr>
          <a:xfrm>
            <a:off x="548640" y="4480560"/>
            <a:ext cx="3383280" cy="365760"/>
          </a:xfrm>
          <a:prstGeom prst="rect">
            <a:avLst/>
          </a:prstGeom>
          <a:noFill/>
          <a:ln/>
        </p:spPr>
        <p:txBody>
          <a:bodyPr wrap="square" rtlCol="0" anchor="ctr"/>
          <a:lstStyle/>
          <a:p>
            <a:pPr marL="0" indent="0" algn="ctr">
              <a:buNone/>
            </a:pPr>
            <a:endParaRPr lang="en-US" sz="1300" dirty="0">
              <a:latin typeface="Times New Roman" panose="02020603050405020304" pitchFamily="18" charset="0"/>
              <a:cs typeface="Times New Roman" panose="02020603050405020304" pitchFamily="18" charset="0"/>
            </a:endParaRPr>
          </a:p>
        </p:txBody>
      </p:sp>
      <p:sp>
        <p:nvSpPr>
          <p:cNvPr id="11" name="Text 9"/>
          <p:cNvSpPr/>
          <p:nvPr/>
        </p:nvSpPr>
        <p:spPr>
          <a:xfrm>
            <a:off x="548640" y="4846320"/>
            <a:ext cx="3383280" cy="548640"/>
          </a:xfrm>
          <a:prstGeom prst="rect">
            <a:avLst/>
          </a:prstGeom>
          <a:noFill/>
          <a:ln/>
        </p:spPr>
        <p:txBody>
          <a:bodyPr wrap="square" rtlCol="0" anchor="ctr"/>
          <a:lstStyle/>
          <a:p>
            <a:pPr marL="0" indent="0" algn="ctr">
              <a:buNone/>
            </a:pPr>
            <a:endParaRPr lang="en-US" sz="2800" dirty="0"/>
          </a:p>
        </p:txBody>
      </p:sp>
      <p:sp>
        <p:nvSpPr>
          <p:cNvPr id="12" name="Text 10"/>
          <p:cNvSpPr/>
          <p:nvPr/>
        </p:nvSpPr>
        <p:spPr>
          <a:xfrm>
            <a:off x="548640" y="5349240"/>
            <a:ext cx="3383280" cy="365760"/>
          </a:xfrm>
          <a:prstGeom prst="rect">
            <a:avLst/>
          </a:prstGeom>
          <a:noFill/>
          <a:ln/>
        </p:spPr>
        <p:txBody>
          <a:bodyPr wrap="square" rtlCol="0" anchor="ctr"/>
          <a:lstStyle/>
          <a:p>
            <a:pPr marL="0" indent="0" algn="ctr">
              <a:buNone/>
            </a:pPr>
            <a:endParaRPr lang="en-US" sz="1300" dirty="0">
              <a:latin typeface="Times New Roman" panose="02020603050405020304" pitchFamily="18" charset="0"/>
              <a:cs typeface="Times New Roman" panose="02020603050405020304" pitchFamily="18" charset="0"/>
            </a:endParaRPr>
          </a:p>
        </p:txBody>
      </p:sp>
      <p:sp>
        <p:nvSpPr>
          <p:cNvPr id="13" name="Text 11"/>
          <p:cNvSpPr/>
          <p:nvPr/>
        </p:nvSpPr>
        <p:spPr>
          <a:xfrm>
            <a:off x="4251960" y="1783080"/>
            <a:ext cx="7315200" cy="365760"/>
          </a:xfrm>
          <a:prstGeom prst="rect">
            <a:avLst/>
          </a:prstGeom>
          <a:noFill/>
          <a:ln/>
        </p:spPr>
        <p:txBody>
          <a:bodyPr wrap="square" rtlCol="0" anchor="ctr"/>
          <a:lstStyle/>
          <a:p>
            <a:pPr marL="0" indent="0">
              <a:buNone/>
            </a:pPr>
            <a:endParaRPr lang="en-US" sz="1800" dirty="0"/>
          </a:p>
        </p:txBody>
      </p:sp>
      <p:sp>
        <p:nvSpPr>
          <p:cNvPr id="14" name="Text 12"/>
          <p:cNvSpPr/>
          <p:nvPr/>
        </p:nvSpPr>
        <p:spPr>
          <a:xfrm>
            <a:off x="4251960" y="2240280"/>
            <a:ext cx="7406640" cy="1645920"/>
          </a:xfrm>
          <a:prstGeom prst="rect">
            <a:avLst/>
          </a:prstGeom>
          <a:noFill/>
          <a:ln/>
        </p:spPr>
        <p:txBody>
          <a:bodyPr wrap="square" rtlCol="0" anchor="ctr"/>
          <a:lstStyle/>
          <a:p>
            <a:pPr>
              <a:lnSpc>
                <a:spcPct val="120000"/>
              </a:lnSpc>
              <a:spcAft>
                <a:spcPts val="1000"/>
              </a:spcAft>
              <a:buSzPct val="100000"/>
            </a:pPr>
            <a:endParaRPr lang="en-US" sz="1450" dirty="0">
              <a:latin typeface="Times New Roman" panose="02020603050405020304" pitchFamily="18" charset="0"/>
              <a:cs typeface="Times New Roman" panose="02020603050405020304" pitchFamily="18" charset="0"/>
            </a:endParaRPr>
          </a:p>
        </p:txBody>
      </p:sp>
      <p:sp>
        <p:nvSpPr>
          <p:cNvPr id="16" name="Text 14"/>
          <p:cNvSpPr/>
          <p:nvPr/>
        </p:nvSpPr>
        <p:spPr>
          <a:xfrm>
            <a:off x="4251960" y="4251960"/>
            <a:ext cx="3520440" cy="685800"/>
          </a:xfrm>
          <a:prstGeom prst="rect">
            <a:avLst/>
          </a:prstGeom>
          <a:noFill/>
          <a:ln/>
        </p:spPr>
        <p:txBody>
          <a:bodyPr wrap="square" rtlCol="0" anchor="ctr"/>
          <a:lstStyle/>
          <a:p>
            <a:pPr marL="0" indent="0" algn="ctr">
              <a:buNone/>
            </a:pPr>
            <a:endParaRPr lang="en-US" sz="3800" dirty="0"/>
          </a:p>
        </p:txBody>
      </p:sp>
      <p:sp>
        <p:nvSpPr>
          <p:cNvPr id="17" name="Text 15"/>
          <p:cNvSpPr/>
          <p:nvPr/>
        </p:nvSpPr>
        <p:spPr>
          <a:xfrm>
            <a:off x="4251960" y="4983480"/>
            <a:ext cx="3520440" cy="822960"/>
          </a:xfrm>
          <a:prstGeom prst="rect">
            <a:avLst/>
          </a:prstGeom>
          <a:noFill/>
          <a:ln/>
        </p:spPr>
        <p:txBody>
          <a:bodyPr wrap="square" rtlCol="0" anchor="ctr"/>
          <a:lstStyle/>
          <a:p>
            <a:pPr marL="0" indent="0" algn="ctr">
              <a:buNone/>
            </a:pPr>
            <a:endParaRPr lang="en-US" sz="1300" dirty="0">
              <a:latin typeface="Times New Roman" panose="02020603050405020304" pitchFamily="18" charset="0"/>
              <a:cs typeface="Times New Roman" panose="02020603050405020304" pitchFamily="18" charset="0"/>
            </a:endParaRPr>
          </a:p>
        </p:txBody>
      </p:sp>
      <p:sp>
        <p:nvSpPr>
          <p:cNvPr id="19" name="Text 17"/>
          <p:cNvSpPr/>
          <p:nvPr/>
        </p:nvSpPr>
        <p:spPr>
          <a:xfrm>
            <a:off x="8046720" y="4251960"/>
            <a:ext cx="3520440" cy="685800"/>
          </a:xfrm>
          <a:prstGeom prst="rect">
            <a:avLst/>
          </a:prstGeom>
          <a:noFill/>
          <a:ln/>
        </p:spPr>
        <p:txBody>
          <a:bodyPr wrap="square" rtlCol="0" anchor="ctr"/>
          <a:lstStyle/>
          <a:p>
            <a:pPr marL="0" indent="0" algn="ctr">
              <a:buNone/>
            </a:pPr>
            <a:endParaRPr lang="en-US" sz="3800" dirty="0"/>
          </a:p>
        </p:txBody>
      </p:sp>
      <p:sp>
        <p:nvSpPr>
          <p:cNvPr id="20" name="Text 18"/>
          <p:cNvSpPr/>
          <p:nvPr/>
        </p:nvSpPr>
        <p:spPr>
          <a:xfrm>
            <a:off x="8046720" y="4983480"/>
            <a:ext cx="3520440" cy="822960"/>
          </a:xfrm>
          <a:prstGeom prst="rect">
            <a:avLst/>
          </a:prstGeom>
          <a:noFill/>
          <a:ln/>
        </p:spPr>
        <p:txBody>
          <a:bodyPr wrap="square" rtlCol="0" anchor="ctr"/>
          <a:lstStyle/>
          <a:p>
            <a:pPr marL="0" indent="0" algn="ctr">
              <a:buNone/>
            </a:pPr>
            <a:endParaRPr lang="en-US" sz="1300" dirty="0">
              <a:latin typeface="Times New Roman" panose="02020603050405020304" pitchFamily="18" charset="0"/>
              <a:cs typeface="Times New Roman" panose="02020603050405020304" pitchFamily="18" charset="0"/>
            </a:endParaRPr>
          </a:p>
        </p:txBody>
      </p:sp>
      <p:sp>
        <p:nvSpPr>
          <p:cNvPr id="21"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3</a:t>
            </a:r>
            <a:endParaRPr lang="en-US" sz="1000" dirty="0"/>
          </a:p>
        </p:txBody>
      </p:sp>
      <p:sp>
        <p:nvSpPr>
          <p:cNvPr id="22" name="Shape 2">
            <a:extLst>
              <a:ext uri="{FF2B5EF4-FFF2-40B4-BE49-F238E27FC236}">
                <a16:creationId xmlns:a16="http://schemas.microsoft.com/office/drawing/2014/main" id="{8B38DC95-C176-4E58-0CF7-72D0DF1E72AF}"/>
              </a:ext>
            </a:extLst>
          </p:cNvPr>
          <p:cNvSpPr/>
          <p:nvPr/>
        </p:nvSpPr>
        <p:spPr>
          <a:xfrm>
            <a:off x="6491307" y="1945433"/>
            <a:ext cx="4984413" cy="3403807"/>
          </a:xfrm>
          <a:prstGeom prst="roundRect">
            <a:avLst>
              <a:gd name="adj" fmla="val 2162"/>
            </a:avLst>
          </a:prstGeom>
          <a:solidFill>
            <a:srgbClr val="21295C"/>
          </a:solidFill>
          <a:ln/>
        </p:spPr>
        <p:txBody>
          <a:bodyPr/>
          <a:lstStyle/>
          <a:p>
            <a:endParaRPr lang="id-ID" dirty="0"/>
          </a:p>
        </p:txBody>
      </p:sp>
      <p:sp>
        <p:nvSpPr>
          <p:cNvPr id="25" name="TextBox 24">
            <a:extLst>
              <a:ext uri="{FF2B5EF4-FFF2-40B4-BE49-F238E27FC236}">
                <a16:creationId xmlns:a16="http://schemas.microsoft.com/office/drawing/2014/main" id="{DBDEA90F-D51B-31BC-CB03-6CECA571C935}"/>
              </a:ext>
            </a:extLst>
          </p:cNvPr>
          <p:cNvSpPr txBox="1"/>
          <p:nvPr/>
        </p:nvSpPr>
        <p:spPr>
          <a:xfrm>
            <a:off x="7224384" y="1900387"/>
            <a:ext cx="3901130" cy="954107"/>
          </a:xfrm>
          <a:prstGeom prst="rect">
            <a:avLst/>
          </a:prstGeom>
          <a:noFill/>
        </p:spPr>
        <p:txBody>
          <a:bodyPr wrap="square">
            <a:spAutoFit/>
          </a:bodyPr>
          <a:lstStyle/>
          <a:p>
            <a:pPr marL="0" indent="0" algn="ctr">
              <a:buNone/>
            </a:pPr>
            <a:r>
              <a:rPr lang="en-US" sz="5600" b="1" dirty="0">
                <a:solidFill>
                  <a:srgbClr val="F2A359"/>
                </a:solidFill>
                <a:latin typeface="Cambria" pitchFamily="34" charset="0"/>
                <a:ea typeface="Cambria" pitchFamily="34" charset="-122"/>
              </a:rPr>
              <a:t>Non-Defect</a:t>
            </a:r>
            <a:r>
              <a:rPr lang="en-US" sz="1800" b="1" dirty="0">
                <a:solidFill>
                  <a:srgbClr val="F2A359"/>
                </a:solidFill>
                <a:latin typeface="Cambria" pitchFamily="34" charset="0"/>
                <a:ea typeface="Cambria" pitchFamily="34" charset="-122"/>
              </a:rPr>
              <a:t> </a:t>
            </a:r>
            <a:endParaRPr lang="en-US" sz="1800" dirty="0"/>
          </a:p>
        </p:txBody>
      </p:sp>
      <p:sp>
        <p:nvSpPr>
          <p:cNvPr id="26" name="Shape 5">
            <a:extLst>
              <a:ext uri="{FF2B5EF4-FFF2-40B4-BE49-F238E27FC236}">
                <a16:creationId xmlns:a16="http://schemas.microsoft.com/office/drawing/2014/main" id="{86EF93D9-5222-C823-DE6E-A8953BF160B4}"/>
              </a:ext>
            </a:extLst>
          </p:cNvPr>
          <p:cNvSpPr/>
          <p:nvPr/>
        </p:nvSpPr>
        <p:spPr>
          <a:xfrm>
            <a:off x="7333861" y="2732003"/>
            <a:ext cx="3676261" cy="0"/>
          </a:xfrm>
          <a:prstGeom prst="line">
            <a:avLst/>
          </a:prstGeom>
          <a:noFill/>
          <a:ln w="12700">
            <a:solidFill>
              <a:srgbClr val="3A4A85"/>
            </a:solidFill>
            <a:prstDash val="solid"/>
          </a:ln>
        </p:spPr>
      </p:sp>
      <p:pic>
        <p:nvPicPr>
          <p:cNvPr id="28" name="Picture 27">
            <a:extLst>
              <a:ext uri="{FF2B5EF4-FFF2-40B4-BE49-F238E27FC236}">
                <a16:creationId xmlns:a16="http://schemas.microsoft.com/office/drawing/2014/main" id="{FDB75D71-33AD-D906-CB76-255AD470FF2D}"/>
              </a:ext>
            </a:extLst>
          </p:cNvPr>
          <p:cNvPicPr>
            <a:picLocks noChangeAspect="1"/>
          </p:cNvPicPr>
          <p:nvPr/>
        </p:nvPicPr>
        <p:blipFill>
          <a:blip r:embed="rId3"/>
          <a:stretch>
            <a:fillRect/>
          </a:stretch>
        </p:blipFill>
        <p:spPr>
          <a:xfrm>
            <a:off x="1785413" y="2929411"/>
            <a:ext cx="3148615" cy="2170702"/>
          </a:xfrm>
          <a:prstGeom prst="rect">
            <a:avLst/>
          </a:prstGeom>
        </p:spPr>
      </p:pic>
      <p:pic>
        <p:nvPicPr>
          <p:cNvPr id="30" name="Picture 29">
            <a:extLst>
              <a:ext uri="{FF2B5EF4-FFF2-40B4-BE49-F238E27FC236}">
                <a16:creationId xmlns:a16="http://schemas.microsoft.com/office/drawing/2014/main" id="{DA4A4258-ADD3-109C-4C8C-5F80F6043998}"/>
              </a:ext>
            </a:extLst>
          </p:cNvPr>
          <p:cNvPicPr>
            <a:picLocks noChangeAspect="1"/>
          </p:cNvPicPr>
          <p:nvPr/>
        </p:nvPicPr>
        <p:blipFill>
          <a:blip r:embed="rId4"/>
          <a:stretch>
            <a:fillRect/>
          </a:stretch>
        </p:blipFill>
        <p:spPr>
          <a:xfrm>
            <a:off x="7422810" y="2971802"/>
            <a:ext cx="3599441" cy="20758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FAA1D-A7C4-471E-D7E8-BA8EA810F0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301E1D-2450-BB97-AEE7-77271DBDCE2C}"/>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UNDERSTANDING</a:t>
            </a:r>
            <a:endParaRPr lang="en-US" sz="1200" dirty="0"/>
          </a:p>
        </p:txBody>
      </p:sp>
      <p:sp>
        <p:nvSpPr>
          <p:cNvPr id="3" name="Text 1">
            <a:extLst>
              <a:ext uri="{FF2B5EF4-FFF2-40B4-BE49-F238E27FC236}">
                <a16:creationId xmlns:a16="http://schemas.microsoft.com/office/drawing/2014/main" id="{BCDCE928-CED3-3E70-5E5B-B74C26C9B359}"/>
              </a:ext>
            </a:extLst>
          </p:cNvPr>
          <p:cNvSpPr/>
          <p:nvPr/>
        </p:nvSpPr>
        <p:spPr>
          <a:xfrm>
            <a:off x="548640" y="777240"/>
            <a:ext cx="73152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Dataset Citra Kain</a:t>
            </a:r>
            <a:endParaRPr lang="en-US" sz="3000" dirty="0"/>
          </a:p>
        </p:txBody>
      </p:sp>
      <p:sp>
        <p:nvSpPr>
          <p:cNvPr id="4" name="Shape 2">
            <a:extLst>
              <a:ext uri="{FF2B5EF4-FFF2-40B4-BE49-F238E27FC236}">
                <a16:creationId xmlns:a16="http://schemas.microsoft.com/office/drawing/2014/main" id="{2C739B1E-288E-16C9-1CB9-219B1736CEF0}"/>
              </a:ext>
            </a:extLst>
          </p:cNvPr>
          <p:cNvSpPr/>
          <p:nvPr/>
        </p:nvSpPr>
        <p:spPr>
          <a:xfrm>
            <a:off x="548640" y="1991153"/>
            <a:ext cx="3383280" cy="3403807"/>
          </a:xfrm>
          <a:prstGeom prst="roundRect">
            <a:avLst>
              <a:gd name="adj" fmla="val 2162"/>
            </a:avLst>
          </a:prstGeom>
          <a:solidFill>
            <a:srgbClr val="21295C"/>
          </a:solidFill>
          <a:ln/>
        </p:spPr>
        <p:txBody>
          <a:bodyPr/>
          <a:lstStyle/>
          <a:p>
            <a:endParaRPr lang="id-ID" dirty="0"/>
          </a:p>
        </p:txBody>
      </p:sp>
      <p:sp>
        <p:nvSpPr>
          <p:cNvPr id="5" name="Text 3">
            <a:extLst>
              <a:ext uri="{FF2B5EF4-FFF2-40B4-BE49-F238E27FC236}">
                <a16:creationId xmlns:a16="http://schemas.microsoft.com/office/drawing/2014/main" id="{2864BBE2-CABC-AD7A-F8B3-C79853C96B2D}"/>
              </a:ext>
            </a:extLst>
          </p:cNvPr>
          <p:cNvSpPr/>
          <p:nvPr/>
        </p:nvSpPr>
        <p:spPr>
          <a:xfrm>
            <a:off x="548640" y="2230483"/>
            <a:ext cx="3383280" cy="914400"/>
          </a:xfrm>
          <a:prstGeom prst="rect">
            <a:avLst/>
          </a:prstGeom>
          <a:noFill/>
          <a:ln/>
        </p:spPr>
        <p:txBody>
          <a:bodyPr wrap="square" rtlCol="0" anchor="ctr"/>
          <a:lstStyle/>
          <a:p>
            <a:pPr marL="0" indent="0" algn="ctr">
              <a:buNone/>
            </a:pPr>
            <a:r>
              <a:rPr lang="en-US" sz="5600" b="1" dirty="0">
                <a:solidFill>
                  <a:srgbClr val="F2A359"/>
                </a:solidFill>
                <a:latin typeface="Cambria" pitchFamily="34" charset="0"/>
                <a:ea typeface="Cambria" pitchFamily="34" charset="-122"/>
                <a:cs typeface="Cambria" pitchFamily="34" charset="-120"/>
              </a:rPr>
              <a:t>170</a:t>
            </a:r>
            <a:endParaRPr lang="en-US" sz="5600" dirty="0"/>
          </a:p>
        </p:txBody>
      </p:sp>
      <p:sp>
        <p:nvSpPr>
          <p:cNvPr id="6" name="Text 4">
            <a:extLst>
              <a:ext uri="{FF2B5EF4-FFF2-40B4-BE49-F238E27FC236}">
                <a16:creationId xmlns:a16="http://schemas.microsoft.com/office/drawing/2014/main" id="{4BB109E7-4F47-5FBA-7AF3-A5B02A973EF2}"/>
              </a:ext>
            </a:extLst>
          </p:cNvPr>
          <p:cNvSpPr/>
          <p:nvPr/>
        </p:nvSpPr>
        <p:spPr>
          <a:xfrm>
            <a:off x="548640" y="3168209"/>
            <a:ext cx="3383280" cy="365760"/>
          </a:xfrm>
          <a:prstGeom prst="rect">
            <a:avLst/>
          </a:prstGeom>
          <a:noFill/>
          <a:ln/>
        </p:spPr>
        <p:txBody>
          <a:bodyPr wrap="square" rtlCol="0" anchor="ctr"/>
          <a:lstStyle/>
          <a:p>
            <a:pPr marL="0" indent="0" algn="ctr">
              <a:buNone/>
            </a:pPr>
            <a:r>
              <a:rPr lang="en-US" sz="1400" dirty="0">
                <a:solidFill>
                  <a:srgbClr val="C9D6E8"/>
                </a:solidFill>
                <a:latin typeface="Times New Roman" panose="02020603050405020304" pitchFamily="18" charset="0"/>
                <a:ea typeface="Calibri" pitchFamily="34" charset="-122"/>
                <a:cs typeface="Times New Roman" panose="02020603050405020304" pitchFamily="18" charset="0"/>
              </a:rPr>
              <a:t>Total Citra Kain</a:t>
            </a:r>
            <a:endParaRPr lang="en-US" sz="1400" dirty="0">
              <a:latin typeface="Times New Roman" panose="02020603050405020304" pitchFamily="18" charset="0"/>
              <a:cs typeface="Times New Roman" panose="02020603050405020304" pitchFamily="18" charset="0"/>
            </a:endParaRPr>
          </a:p>
        </p:txBody>
      </p:sp>
      <p:sp>
        <p:nvSpPr>
          <p:cNvPr id="7" name="Shape 5">
            <a:extLst>
              <a:ext uri="{FF2B5EF4-FFF2-40B4-BE49-F238E27FC236}">
                <a16:creationId xmlns:a16="http://schemas.microsoft.com/office/drawing/2014/main" id="{AA57A0C0-0A93-B55B-C06D-98114854D7AA}"/>
              </a:ext>
            </a:extLst>
          </p:cNvPr>
          <p:cNvSpPr/>
          <p:nvPr/>
        </p:nvSpPr>
        <p:spPr>
          <a:xfrm>
            <a:off x="1097280" y="3693056"/>
            <a:ext cx="2286000" cy="0"/>
          </a:xfrm>
          <a:prstGeom prst="line">
            <a:avLst/>
          </a:prstGeom>
          <a:noFill/>
          <a:ln w="12700">
            <a:solidFill>
              <a:srgbClr val="3A4A85"/>
            </a:solidFill>
            <a:prstDash val="solid"/>
          </a:ln>
        </p:spPr>
      </p:sp>
      <p:sp>
        <p:nvSpPr>
          <p:cNvPr id="8" name="Text 6">
            <a:extLst>
              <a:ext uri="{FF2B5EF4-FFF2-40B4-BE49-F238E27FC236}">
                <a16:creationId xmlns:a16="http://schemas.microsoft.com/office/drawing/2014/main" id="{ACCE02ED-5551-60BD-EF92-E25AB1906972}"/>
              </a:ext>
            </a:extLst>
          </p:cNvPr>
          <p:cNvSpPr/>
          <p:nvPr/>
        </p:nvSpPr>
        <p:spPr>
          <a:xfrm>
            <a:off x="548640" y="3826484"/>
            <a:ext cx="3383280" cy="64008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85 / 85</a:t>
            </a:r>
            <a:endParaRPr lang="en-US" sz="3200" dirty="0"/>
          </a:p>
        </p:txBody>
      </p:sp>
      <p:sp>
        <p:nvSpPr>
          <p:cNvPr id="9" name="Text 7">
            <a:extLst>
              <a:ext uri="{FF2B5EF4-FFF2-40B4-BE49-F238E27FC236}">
                <a16:creationId xmlns:a16="http://schemas.microsoft.com/office/drawing/2014/main" id="{91AE31F1-2926-3B44-3BB5-B294A3C55D48}"/>
              </a:ext>
            </a:extLst>
          </p:cNvPr>
          <p:cNvSpPr/>
          <p:nvPr/>
        </p:nvSpPr>
        <p:spPr>
          <a:xfrm>
            <a:off x="548640" y="4480560"/>
            <a:ext cx="3383280" cy="365760"/>
          </a:xfrm>
          <a:prstGeom prst="rect">
            <a:avLst/>
          </a:prstGeom>
          <a:noFill/>
          <a:ln/>
        </p:spPr>
        <p:txBody>
          <a:bodyPr wrap="square" rtlCol="0" anchor="ctr"/>
          <a:lstStyle/>
          <a:p>
            <a:pPr marL="0" indent="0" algn="ctr">
              <a:buNone/>
            </a:pPr>
            <a:r>
              <a:rPr lang="en-US" sz="1300" dirty="0">
                <a:solidFill>
                  <a:srgbClr val="C9D6E8"/>
                </a:solidFill>
                <a:latin typeface="Times New Roman" panose="02020603050405020304" pitchFamily="18" charset="0"/>
                <a:ea typeface="Calibri" pitchFamily="34" charset="-122"/>
                <a:cs typeface="Times New Roman" panose="02020603050405020304" pitchFamily="18" charset="0"/>
              </a:rPr>
              <a:t>Defect : Non-Defect (seimbang)</a:t>
            </a:r>
            <a:endParaRPr lang="en-US" sz="1300" dirty="0">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85746915-E754-A7E6-B899-ADD1B2019498}"/>
              </a:ext>
            </a:extLst>
          </p:cNvPr>
          <p:cNvSpPr/>
          <p:nvPr/>
        </p:nvSpPr>
        <p:spPr>
          <a:xfrm>
            <a:off x="1097280" y="4983480"/>
            <a:ext cx="2286000" cy="0"/>
          </a:xfrm>
          <a:prstGeom prst="line">
            <a:avLst/>
          </a:prstGeom>
          <a:noFill/>
          <a:ln w="12700">
            <a:solidFill>
              <a:srgbClr val="3A4A85"/>
            </a:solidFill>
            <a:prstDash val="solid"/>
          </a:ln>
        </p:spPr>
      </p:sp>
      <p:sp>
        <p:nvSpPr>
          <p:cNvPr id="11" name="Text 9">
            <a:extLst>
              <a:ext uri="{FF2B5EF4-FFF2-40B4-BE49-F238E27FC236}">
                <a16:creationId xmlns:a16="http://schemas.microsoft.com/office/drawing/2014/main" id="{D8A6A224-E778-876D-4ABE-CC15CC8C40A7}"/>
              </a:ext>
            </a:extLst>
          </p:cNvPr>
          <p:cNvSpPr/>
          <p:nvPr/>
        </p:nvSpPr>
        <p:spPr>
          <a:xfrm>
            <a:off x="548640" y="4846320"/>
            <a:ext cx="3383280" cy="548640"/>
          </a:xfrm>
          <a:prstGeom prst="rect">
            <a:avLst/>
          </a:prstGeom>
          <a:noFill/>
          <a:ln/>
        </p:spPr>
        <p:txBody>
          <a:bodyPr wrap="square" rtlCol="0" anchor="ctr"/>
          <a:lstStyle/>
          <a:p>
            <a:pPr marL="0" indent="0" algn="ctr">
              <a:buNone/>
            </a:pPr>
            <a:endParaRPr lang="en-US" sz="2800" dirty="0"/>
          </a:p>
        </p:txBody>
      </p:sp>
      <p:sp>
        <p:nvSpPr>
          <p:cNvPr id="12" name="Text 10">
            <a:extLst>
              <a:ext uri="{FF2B5EF4-FFF2-40B4-BE49-F238E27FC236}">
                <a16:creationId xmlns:a16="http://schemas.microsoft.com/office/drawing/2014/main" id="{3A0AD4ED-C764-76D1-F28E-E1F9F4014EDD}"/>
              </a:ext>
            </a:extLst>
          </p:cNvPr>
          <p:cNvSpPr/>
          <p:nvPr/>
        </p:nvSpPr>
        <p:spPr>
          <a:xfrm>
            <a:off x="548640" y="5349240"/>
            <a:ext cx="3383280" cy="365760"/>
          </a:xfrm>
          <a:prstGeom prst="rect">
            <a:avLst/>
          </a:prstGeom>
          <a:noFill/>
          <a:ln/>
        </p:spPr>
        <p:txBody>
          <a:bodyPr wrap="square" rtlCol="0" anchor="ctr"/>
          <a:lstStyle/>
          <a:p>
            <a:pPr marL="0" indent="0" algn="ctr">
              <a:buNone/>
            </a:pPr>
            <a:endParaRPr lang="en-US" sz="130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E6EB0FBA-E26E-F4C8-8129-13C2947C5A2F}"/>
              </a:ext>
            </a:extLst>
          </p:cNvPr>
          <p:cNvSpPr/>
          <p:nvPr/>
        </p:nvSpPr>
        <p:spPr>
          <a:xfrm>
            <a:off x="4251960" y="1783080"/>
            <a:ext cx="73152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Observasi Data</a:t>
            </a:r>
            <a:endParaRPr lang="en-US" sz="1800" dirty="0"/>
          </a:p>
        </p:txBody>
      </p:sp>
      <p:sp>
        <p:nvSpPr>
          <p:cNvPr id="14" name="Text 12">
            <a:extLst>
              <a:ext uri="{FF2B5EF4-FFF2-40B4-BE49-F238E27FC236}">
                <a16:creationId xmlns:a16="http://schemas.microsoft.com/office/drawing/2014/main" id="{2499D41D-6A79-4071-B484-DACA777398AC}"/>
              </a:ext>
            </a:extLst>
          </p:cNvPr>
          <p:cNvSpPr/>
          <p:nvPr/>
        </p:nvSpPr>
        <p:spPr>
          <a:xfrm>
            <a:off x="4251960" y="2240280"/>
            <a:ext cx="7406640" cy="1645920"/>
          </a:xfrm>
          <a:prstGeom prst="rect">
            <a:avLst/>
          </a:prstGeom>
          <a:noFill/>
          <a:ln/>
        </p:spPr>
        <p:txBody>
          <a:bodyPr wrap="square" rtlCol="0" anchor="ctr"/>
          <a:lstStyle/>
          <a:p>
            <a:pPr marL="342900" indent="-342900">
              <a:lnSpc>
                <a:spcPct val="120000"/>
              </a:lnSpc>
              <a:spcAft>
                <a:spcPts val="1000"/>
              </a:spcAft>
              <a:buSzPct val="100000"/>
              <a:buChar char="•"/>
            </a:pPr>
            <a:r>
              <a:rPr lang="en-US" sz="1450" dirty="0">
                <a:solidFill>
                  <a:srgbClr val="5A6B85"/>
                </a:solidFill>
                <a:latin typeface="Times New Roman" panose="02020603050405020304" pitchFamily="18" charset="0"/>
                <a:ea typeface="Calibri" pitchFamily="34" charset="-122"/>
                <a:cs typeface="Times New Roman" panose="02020603050405020304" pitchFamily="18" charset="0"/>
              </a:rPr>
              <a:t>Kelas defect memiliki area cacat berupa bintik / bercak gelap yang kontras dengan tekstur kain di sekitarnya.</a:t>
            </a:r>
            <a:endParaRPr lang="en-US" sz="1450" dirty="0">
              <a:latin typeface="Times New Roman" panose="02020603050405020304" pitchFamily="18" charset="0"/>
              <a:cs typeface="Times New Roman" panose="02020603050405020304" pitchFamily="18" charset="0"/>
            </a:endParaRPr>
          </a:p>
          <a:p>
            <a:pPr marL="342900" indent="-342900">
              <a:lnSpc>
                <a:spcPct val="120000"/>
              </a:lnSpc>
              <a:spcAft>
                <a:spcPts val="1000"/>
              </a:spcAft>
              <a:buSzPct val="100000"/>
              <a:buChar char="•"/>
            </a:pPr>
            <a:r>
              <a:rPr lang="en-US" sz="1450" dirty="0">
                <a:solidFill>
                  <a:srgbClr val="5A6B85"/>
                </a:solidFill>
                <a:latin typeface="Times New Roman" panose="02020603050405020304" pitchFamily="18" charset="0"/>
                <a:ea typeface="Calibri" pitchFamily="34" charset="-122"/>
                <a:cs typeface="Times New Roman" panose="02020603050405020304" pitchFamily="18" charset="0"/>
              </a:rPr>
              <a:t>Distribusi kelas seimbang (1:1), sehingga augmentasi data tidak diperlukan.</a:t>
            </a:r>
            <a:endParaRPr lang="en-US" sz="1450" dirty="0">
              <a:latin typeface="Times New Roman" panose="02020603050405020304" pitchFamily="18" charset="0"/>
              <a:cs typeface="Times New Roman" panose="02020603050405020304" pitchFamily="18" charset="0"/>
            </a:endParaRPr>
          </a:p>
          <a:p>
            <a:pPr marL="342900" indent="-342900">
              <a:lnSpc>
                <a:spcPct val="120000"/>
              </a:lnSpc>
              <a:spcAft>
                <a:spcPts val="1000"/>
              </a:spcAft>
              <a:buSzPct val="100000"/>
              <a:buChar char="•"/>
            </a:pPr>
            <a:r>
              <a:rPr lang="en-US" sz="1450" dirty="0">
                <a:solidFill>
                  <a:srgbClr val="5A6B85"/>
                </a:solidFill>
                <a:latin typeface="Times New Roman" panose="02020603050405020304" pitchFamily="18" charset="0"/>
                <a:ea typeface="Calibri" pitchFamily="34" charset="-122"/>
                <a:cs typeface="Times New Roman" panose="02020603050405020304" pitchFamily="18" charset="0"/>
              </a:rPr>
              <a:t>Dataset dibagi menjadi 80% data latih dan 20% data uji.</a:t>
            </a:r>
            <a:endParaRPr lang="en-US" sz="1450" dirty="0">
              <a:latin typeface="Times New Roman" panose="02020603050405020304" pitchFamily="18" charset="0"/>
              <a:cs typeface="Times New Roman" panose="02020603050405020304" pitchFamily="18" charset="0"/>
            </a:endParaRPr>
          </a:p>
        </p:txBody>
      </p:sp>
      <p:sp>
        <p:nvSpPr>
          <p:cNvPr id="15" name="Shape 13">
            <a:extLst>
              <a:ext uri="{FF2B5EF4-FFF2-40B4-BE49-F238E27FC236}">
                <a16:creationId xmlns:a16="http://schemas.microsoft.com/office/drawing/2014/main" id="{F5B6A035-2ECE-642C-EF1B-B93C05C19D6B}"/>
              </a:ext>
            </a:extLst>
          </p:cNvPr>
          <p:cNvSpPr/>
          <p:nvPr/>
        </p:nvSpPr>
        <p:spPr>
          <a:xfrm>
            <a:off x="4251960" y="4069080"/>
            <a:ext cx="3520440" cy="1874520"/>
          </a:xfrm>
          <a:prstGeom prst="roundRect">
            <a:avLst>
              <a:gd name="adj" fmla="val 3902"/>
            </a:avLst>
          </a:prstGeom>
          <a:solidFill>
            <a:srgbClr val="EAF4F7"/>
          </a:solidFill>
          <a:ln/>
        </p:spPr>
      </p:sp>
      <p:sp>
        <p:nvSpPr>
          <p:cNvPr id="16" name="Text 14">
            <a:extLst>
              <a:ext uri="{FF2B5EF4-FFF2-40B4-BE49-F238E27FC236}">
                <a16:creationId xmlns:a16="http://schemas.microsoft.com/office/drawing/2014/main" id="{14B8EF6A-6819-38FC-9394-FB1C90F75616}"/>
              </a:ext>
            </a:extLst>
          </p:cNvPr>
          <p:cNvSpPr/>
          <p:nvPr/>
        </p:nvSpPr>
        <p:spPr>
          <a:xfrm>
            <a:off x="4251960" y="4251960"/>
            <a:ext cx="3520440" cy="685800"/>
          </a:xfrm>
          <a:prstGeom prst="rect">
            <a:avLst/>
          </a:prstGeom>
          <a:noFill/>
          <a:ln/>
        </p:spPr>
        <p:txBody>
          <a:bodyPr wrap="square" rtlCol="0" anchor="ctr"/>
          <a:lstStyle/>
          <a:p>
            <a:pPr marL="0" indent="0" algn="ctr">
              <a:buNone/>
            </a:pPr>
            <a:r>
              <a:rPr lang="en-US" sz="3800" b="1" dirty="0">
                <a:solidFill>
                  <a:srgbClr val="1C7293"/>
                </a:solidFill>
                <a:latin typeface="Cambria" pitchFamily="34" charset="0"/>
                <a:ea typeface="Cambria" pitchFamily="34" charset="-122"/>
                <a:cs typeface="Cambria" pitchFamily="34" charset="-120"/>
              </a:rPr>
              <a:t>136</a:t>
            </a:r>
            <a:endParaRPr lang="en-US" sz="3800" dirty="0"/>
          </a:p>
        </p:txBody>
      </p:sp>
      <p:sp>
        <p:nvSpPr>
          <p:cNvPr id="17" name="Text 15">
            <a:extLst>
              <a:ext uri="{FF2B5EF4-FFF2-40B4-BE49-F238E27FC236}">
                <a16:creationId xmlns:a16="http://schemas.microsoft.com/office/drawing/2014/main" id="{D061D679-2B49-CD0B-B213-F681F7E9CCC1}"/>
              </a:ext>
            </a:extLst>
          </p:cNvPr>
          <p:cNvSpPr/>
          <p:nvPr/>
        </p:nvSpPr>
        <p:spPr>
          <a:xfrm>
            <a:off x="4251960" y="4983480"/>
            <a:ext cx="3520440" cy="822960"/>
          </a:xfrm>
          <a:prstGeom prst="rect">
            <a:avLst/>
          </a:prstGeom>
          <a:noFill/>
          <a:ln/>
        </p:spPr>
        <p:txBody>
          <a:bodyPr wrap="square" rtlCol="0" anchor="ctr"/>
          <a:lstStyle/>
          <a:p>
            <a:pPr marL="0" indent="0" algn="ctr">
              <a:buNone/>
            </a:pPr>
            <a:r>
              <a:rPr lang="en-US" sz="1300" dirty="0">
                <a:solidFill>
                  <a:srgbClr val="5A6B85"/>
                </a:solidFill>
                <a:latin typeface="Times New Roman" panose="02020603050405020304" pitchFamily="18" charset="0"/>
                <a:ea typeface="Calibri" pitchFamily="34" charset="-122"/>
                <a:cs typeface="Times New Roman" panose="02020603050405020304" pitchFamily="18" charset="0"/>
              </a:rPr>
              <a:t>Data Training (80%)</a:t>
            </a:r>
            <a:endParaRPr lang="en-US" sz="1300" dirty="0">
              <a:latin typeface="Times New Roman" panose="02020603050405020304" pitchFamily="18" charset="0"/>
              <a:cs typeface="Times New Roman" panose="02020603050405020304" pitchFamily="18" charset="0"/>
            </a:endParaRPr>
          </a:p>
        </p:txBody>
      </p:sp>
      <p:sp>
        <p:nvSpPr>
          <p:cNvPr id="18" name="Shape 16">
            <a:extLst>
              <a:ext uri="{FF2B5EF4-FFF2-40B4-BE49-F238E27FC236}">
                <a16:creationId xmlns:a16="http://schemas.microsoft.com/office/drawing/2014/main" id="{E4C1CFC5-F371-FE3D-FF9D-1EF2DC2B85FB}"/>
              </a:ext>
            </a:extLst>
          </p:cNvPr>
          <p:cNvSpPr/>
          <p:nvPr/>
        </p:nvSpPr>
        <p:spPr>
          <a:xfrm>
            <a:off x="8046720" y="4069080"/>
            <a:ext cx="3520440" cy="1874520"/>
          </a:xfrm>
          <a:prstGeom prst="roundRect">
            <a:avLst>
              <a:gd name="adj" fmla="val 3902"/>
            </a:avLst>
          </a:prstGeom>
          <a:solidFill>
            <a:srgbClr val="EAF4F7"/>
          </a:solidFill>
          <a:ln/>
        </p:spPr>
      </p:sp>
      <p:sp>
        <p:nvSpPr>
          <p:cNvPr id="19" name="Text 17">
            <a:extLst>
              <a:ext uri="{FF2B5EF4-FFF2-40B4-BE49-F238E27FC236}">
                <a16:creationId xmlns:a16="http://schemas.microsoft.com/office/drawing/2014/main" id="{0C52FE01-7F1B-5712-7611-88EEC108A105}"/>
              </a:ext>
            </a:extLst>
          </p:cNvPr>
          <p:cNvSpPr/>
          <p:nvPr/>
        </p:nvSpPr>
        <p:spPr>
          <a:xfrm>
            <a:off x="8046720" y="4251960"/>
            <a:ext cx="3520440" cy="685800"/>
          </a:xfrm>
          <a:prstGeom prst="rect">
            <a:avLst/>
          </a:prstGeom>
          <a:noFill/>
          <a:ln/>
        </p:spPr>
        <p:txBody>
          <a:bodyPr wrap="square" rtlCol="0" anchor="ctr"/>
          <a:lstStyle/>
          <a:p>
            <a:pPr marL="0" indent="0" algn="ctr">
              <a:buNone/>
            </a:pPr>
            <a:r>
              <a:rPr lang="en-US" sz="3800" b="1" dirty="0">
                <a:solidFill>
                  <a:srgbClr val="1C7293"/>
                </a:solidFill>
                <a:latin typeface="Cambria" pitchFamily="34" charset="0"/>
                <a:ea typeface="Cambria" pitchFamily="34" charset="-122"/>
                <a:cs typeface="Cambria" pitchFamily="34" charset="-120"/>
              </a:rPr>
              <a:t>34</a:t>
            </a:r>
            <a:endParaRPr lang="en-US" sz="3800" dirty="0"/>
          </a:p>
        </p:txBody>
      </p:sp>
      <p:sp>
        <p:nvSpPr>
          <p:cNvPr id="20" name="Text 18">
            <a:extLst>
              <a:ext uri="{FF2B5EF4-FFF2-40B4-BE49-F238E27FC236}">
                <a16:creationId xmlns:a16="http://schemas.microsoft.com/office/drawing/2014/main" id="{E7D26226-FC26-CF6D-2A8F-6B78135169C5}"/>
              </a:ext>
            </a:extLst>
          </p:cNvPr>
          <p:cNvSpPr/>
          <p:nvPr/>
        </p:nvSpPr>
        <p:spPr>
          <a:xfrm>
            <a:off x="8046720" y="4983480"/>
            <a:ext cx="3520440" cy="822960"/>
          </a:xfrm>
          <a:prstGeom prst="rect">
            <a:avLst/>
          </a:prstGeom>
          <a:noFill/>
          <a:ln/>
        </p:spPr>
        <p:txBody>
          <a:bodyPr wrap="square" rtlCol="0" anchor="ctr"/>
          <a:lstStyle/>
          <a:p>
            <a:pPr marL="0" indent="0" algn="ctr">
              <a:buNone/>
            </a:pPr>
            <a:r>
              <a:rPr lang="en-US" sz="1300" dirty="0">
                <a:solidFill>
                  <a:srgbClr val="5A6B85"/>
                </a:solidFill>
                <a:latin typeface="Times New Roman" panose="02020603050405020304" pitchFamily="18" charset="0"/>
                <a:ea typeface="Calibri" pitchFamily="34" charset="-122"/>
                <a:cs typeface="Times New Roman" panose="02020603050405020304" pitchFamily="18" charset="0"/>
              </a:rPr>
              <a:t>Data Testing (20%)</a:t>
            </a:r>
            <a:endParaRPr lang="en-US" sz="1300" dirty="0">
              <a:latin typeface="Times New Roman" panose="02020603050405020304" pitchFamily="18" charset="0"/>
              <a:cs typeface="Times New Roman" panose="02020603050405020304" pitchFamily="18" charset="0"/>
            </a:endParaRPr>
          </a:p>
        </p:txBody>
      </p:sp>
      <p:sp>
        <p:nvSpPr>
          <p:cNvPr id="21" name="Text 19">
            <a:extLst>
              <a:ext uri="{FF2B5EF4-FFF2-40B4-BE49-F238E27FC236}">
                <a16:creationId xmlns:a16="http://schemas.microsoft.com/office/drawing/2014/main" id="{B4CB19D0-C142-431F-7701-506F92CB86E2}"/>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3</a:t>
            </a:r>
            <a:endParaRPr lang="en-US" sz="1000" dirty="0"/>
          </a:p>
        </p:txBody>
      </p:sp>
    </p:spTree>
    <p:extLst>
      <p:ext uri="{BB962C8B-B14F-4D97-AF65-F5344CB8AC3E}">
        <p14:creationId xmlns:p14="http://schemas.microsoft.com/office/powerpoint/2010/main" val="1994941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endParaRPr lang="en-US" sz="1200" dirty="0"/>
          </a:p>
        </p:txBody>
      </p:sp>
      <p:sp>
        <p:nvSpPr>
          <p:cNvPr id="3" name="Text 1"/>
          <p:cNvSpPr/>
          <p:nvPr/>
        </p:nvSpPr>
        <p:spPr>
          <a:xfrm>
            <a:off x="548640" y="777240"/>
            <a:ext cx="73152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Alur Eksperimen</a:t>
            </a:r>
            <a:endParaRPr lang="en-US" sz="3000" dirty="0"/>
          </a:p>
        </p:txBody>
      </p:sp>
      <p:sp>
        <p:nvSpPr>
          <p:cNvPr id="4" name="Shape 2"/>
          <p:cNvSpPr/>
          <p:nvPr/>
        </p:nvSpPr>
        <p:spPr>
          <a:xfrm>
            <a:off x="173736" y="2377440"/>
            <a:ext cx="1417320" cy="1051560"/>
          </a:xfrm>
          <a:prstGeom prst="roundRect">
            <a:avLst>
              <a:gd name="adj" fmla="val 8696"/>
            </a:avLst>
          </a:prstGeom>
          <a:solidFill>
            <a:srgbClr val="21295C"/>
          </a:solidFill>
          <a:ln/>
          <a:effectLst>
            <a:outerShdw blurRad="76200" dist="25400" dir="5400000" algn="bl" rotWithShape="0">
              <a:srgbClr val="000000">
                <a:alpha val="12000"/>
              </a:srgbClr>
            </a:outerShdw>
          </a:effectLst>
        </p:spPr>
      </p:sp>
      <p:sp>
        <p:nvSpPr>
          <p:cNvPr id="5" name="Text 3"/>
          <p:cNvSpPr/>
          <p:nvPr/>
        </p:nvSpPr>
        <p:spPr>
          <a:xfrm>
            <a:off x="21945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Data</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Loading</a:t>
            </a:r>
            <a:endParaRPr lang="en-US" sz="1150" dirty="0">
              <a:latin typeface="Times New Roman" panose="02020603050405020304" pitchFamily="18" charset="0"/>
              <a:cs typeface="Times New Roman" panose="02020603050405020304" pitchFamily="18" charset="0"/>
            </a:endParaRPr>
          </a:p>
        </p:txBody>
      </p:sp>
      <p:sp>
        <p:nvSpPr>
          <p:cNvPr id="6" name="Text 4"/>
          <p:cNvSpPr/>
          <p:nvPr/>
        </p:nvSpPr>
        <p:spPr>
          <a:xfrm>
            <a:off x="1591056" y="2377440"/>
            <a:ext cx="320040" cy="1051560"/>
          </a:xfrm>
          <a:prstGeom prst="rect">
            <a:avLst/>
          </a:prstGeom>
          <a:noFill/>
          <a:ln/>
        </p:spPr>
        <p:txBody>
          <a:bodyPr wrap="square" rtlCol="0" anchor="ctr"/>
          <a:lstStyle/>
          <a:p>
            <a:pPr marL="0" indent="0" algn="ctr">
              <a:buNone/>
            </a:pPr>
            <a:r>
              <a:rPr lang="en-US" sz="2000" b="1" dirty="0">
                <a:solidFill>
                  <a:srgbClr val="5A6B85"/>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1911096" y="2377440"/>
            <a:ext cx="1417320" cy="1051560"/>
          </a:xfrm>
          <a:prstGeom prst="roundRect">
            <a:avLst>
              <a:gd name="adj" fmla="val 8696"/>
            </a:avLst>
          </a:prstGeom>
          <a:solidFill>
            <a:srgbClr val="1C7293"/>
          </a:solidFill>
          <a:ln/>
          <a:effectLst>
            <a:outerShdw blurRad="76200" dist="25400" dir="5400000" algn="bl" rotWithShape="0">
              <a:srgbClr val="000000">
                <a:alpha val="12000"/>
              </a:srgbClr>
            </a:outerShdw>
          </a:effectLst>
        </p:spPr>
      </p:sp>
      <p:sp>
        <p:nvSpPr>
          <p:cNvPr id="8" name="Text 6"/>
          <p:cNvSpPr/>
          <p:nvPr/>
        </p:nvSpPr>
        <p:spPr>
          <a:xfrm>
            <a:off x="195681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Preprocessing</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(P1 / P2 / P3)</a:t>
            </a:r>
            <a:endParaRPr lang="en-US" sz="1150" dirty="0">
              <a:latin typeface="Times New Roman" panose="02020603050405020304" pitchFamily="18" charset="0"/>
              <a:cs typeface="Times New Roman" panose="02020603050405020304" pitchFamily="18" charset="0"/>
            </a:endParaRPr>
          </a:p>
        </p:txBody>
      </p:sp>
      <p:sp>
        <p:nvSpPr>
          <p:cNvPr id="9" name="Text 7"/>
          <p:cNvSpPr/>
          <p:nvPr/>
        </p:nvSpPr>
        <p:spPr>
          <a:xfrm>
            <a:off x="3328416" y="2377440"/>
            <a:ext cx="320040" cy="1051560"/>
          </a:xfrm>
          <a:prstGeom prst="rect">
            <a:avLst/>
          </a:prstGeom>
          <a:noFill/>
          <a:ln/>
        </p:spPr>
        <p:txBody>
          <a:bodyPr wrap="square" rtlCol="0" anchor="ctr"/>
          <a:lstStyle/>
          <a:p>
            <a:pPr marL="0" indent="0" algn="ctr">
              <a:buNone/>
            </a:pPr>
            <a:r>
              <a:rPr lang="en-US" sz="2000" b="1" dirty="0">
                <a:solidFill>
                  <a:srgbClr val="5A6B85"/>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648456" y="2377440"/>
            <a:ext cx="1417320" cy="1051560"/>
          </a:xfrm>
          <a:prstGeom prst="roundRect">
            <a:avLst>
              <a:gd name="adj" fmla="val 8696"/>
            </a:avLst>
          </a:prstGeom>
          <a:solidFill>
            <a:srgbClr val="21295C"/>
          </a:solidFill>
          <a:ln/>
          <a:effectLst>
            <a:outerShdw blurRad="76200" dist="25400" dir="5400000" algn="bl" rotWithShape="0">
              <a:srgbClr val="000000">
                <a:alpha val="12000"/>
              </a:srgbClr>
            </a:outerShdw>
          </a:effectLst>
        </p:spPr>
      </p:sp>
      <p:sp>
        <p:nvSpPr>
          <p:cNvPr id="11" name="Text 9"/>
          <p:cNvSpPr/>
          <p:nvPr/>
        </p:nvSpPr>
        <p:spPr>
          <a:xfrm>
            <a:off x="369417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Ekstraksi Fitur</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GLCM</a:t>
            </a:r>
            <a:endParaRPr lang="en-US" sz="1150" dirty="0">
              <a:latin typeface="Times New Roman" panose="02020603050405020304" pitchFamily="18" charset="0"/>
              <a:cs typeface="Times New Roman" panose="02020603050405020304" pitchFamily="18" charset="0"/>
            </a:endParaRPr>
          </a:p>
        </p:txBody>
      </p:sp>
      <p:sp>
        <p:nvSpPr>
          <p:cNvPr id="12" name="Text 10"/>
          <p:cNvSpPr/>
          <p:nvPr/>
        </p:nvSpPr>
        <p:spPr>
          <a:xfrm>
            <a:off x="5065776" y="2377440"/>
            <a:ext cx="320040" cy="1051560"/>
          </a:xfrm>
          <a:prstGeom prst="rect">
            <a:avLst/>
          </a:prstGeom>
          <a:noFill/>
          <a:ln/>
        </p:spPr>
        <p:txBody>
          <a:bodyPr wrap="square" rtlCol="0" anchor="ctr"/>
          <a:lstStyle/>
          <a:p>
            <a:pPr marL="0" indent="0" algn="ctr">
              <a:buNone/>
            </a:pPr>
            <a:r>
              <a:rPr lang="en-US" sz="2000" b="1" dirty="0">
                <a:solidFill>
                  <a:srgbClr val="5A6B85"/>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5385816" y="2377440"/>
            <a:ext cx="1417320" cy="1051560"/>
          </a:xfrm>
          <a:prstGeom prst="roundRect">
            <a:avLst>
              <a:gd name="adj" fmla="val 8696"/>
            </a:avLst>
          </a:prstGeom>
          <a:solidFill>
            <a:srgbClr val="21295C"/>
          </a:solidFill>
          <a:ln/>
          <a:effectLst>
            <a:outerShdw blurRad="76200" dist="25400" dir="5400000" algn="bl" rotWithShape="0">
              <a:srgbClr val="000000">
                <a:alpha val="12000"/>
              </a:srgbClr>
            </a:outerShdw>
          </a:effectLst>
        </p:spPr>
      </p:sp>
      <p:sp>
        <p:nvSpPr>
          <p:cNvPr id="14" name="Text 12"/>
          <p:cNvSpPr/>
          <p:nvPr/>
        </p:nvSpPr>
        <p:spPr>
          <a:xfrm>
            <a:off x="543153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Feature</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Selection</a:t>
            </a:r>
            <a:endParaRPr lang="en-US" sz="1150" dirty="0">
              <a:latin typeface="Times New Roman" panose="02020603050405020304" pitchFamily="18" charset="0"/>
              <a:cs typeface="Times New Roman" panose="02020603050405020304" pitchFamily="18" charset="0"/>
            </a:endParaRPr>
          </a:p>
        </p:txBody>
      </p:sp>
      <p:sp>
        <p:nvSpPr>
          <p:cNvPr id="15" name="Text 13"/>
          <p:cNvSpPr/>
          <p:nvPr/>
        </p:nvSpPr>
        <p:spPr>
          <a:xfrm>
            <a:off x="6803136" y="2377440"/>
            <a:ext cx="320040" cy="1051560"/>
          </a:xfrm>
          <a:prstGeom prst="rect">
            <a:avLst/>
          </a:prstGeom>
          <a:noFill/>
          <a:ln/>
        </p:spPr>
        <p:txBody>
          <a:bodyPr wrap="square" rtlCol="0" anchor="ctr"/>
          <a:lstStyle/>
          <a:p>
            <a:pPr marL="0" indent="0" algn="ctr">
              <a:buNone/>
            </a:pPr>
            <a:r>
              <a:rPr lang="en-US" sz="2000" b="1" dirty="0">
                <a:solidFill>
                  <a:srgbClr val="5A6B8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123176" y="2377440"/>
            <a:ext cx="1417320" cy="1051560"/>
          </a:xfrm>
          <a:prstGeom prst="roundRect">
            <a:avLst>
              <a:gd name="adj" fmla="val 8696"/>
            </a:avLst>
          </a:prstGeom>
          <a:solidFill>
            <a:srgbClr val="21295C"/>
          </a:solidFill>
          <a:ln/>
          <a:effectLst>
            <a:outerShdw blurRad="76200" dist="25400" dir="5400000" algn="bl" rotWithShape="0">
              <a:srgbClr val="000000">
                <a:alpha val="12000"/>
              </a:srgbClr>
            </a:outerShdw>
          </a:effectLst>
        </p:spPr>
      </p:sp>
      <p:sp>
        <p:nvSpPr>
          <p:cNvPr id="17" name="Text 15"/>
          <p:cNvSpPr/>
          <p:nvPr/>
        </p:nvSpPr>
        <p:spPr>
          <a:xfrm>
            <a:off x="716889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Normalisasi</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&amp; Split</a:t>
            </a:r>
            <a:endParaRPr lang="en-US" sz="1150" dirty="0">
              <a:latin typeface="Times New Roman" panose="02020603050405020304" pitchFamily="18" charset="0"/>
              <a:cs typeface="Times New Roman" panose="02020603050405020304" pitchFamily="18" charset="0"/>
            </a:endParaRPr>
          </a:p>
        </p:txBody>
      </p:sp>
      <p:sp>
        <p:nvSpPr>
          <p:cNvPr id="18" name="Text 16"/>
          <p:cNvSpPr/>
          <p:nvPr/>
        </p:nvSpPr>
        <p:spPr>
          <a:xfrm>
            <a:off x="8540496" y="2377440"/>
            <a:ext cx="320040" cy="1051560"/>
          </a:xfrm>
          <a:prstGeom prst="rect">
            <a:avLst/>
          </a:prstGeom>
          <a:noFill/>
          <a:ln/>
        </p:spPr>
        <p:txBody>
          <a:bodyPr wrap="square" rtlCol="0" anchor="ctr"/>
          <a:lstStyle/>
          <a:p>
            <a:pPr marL="0" indent="0" algn="ctr">
              <a:buNone/>
            </a:pPr>
            <a:r>
              <a:rPr lang="en-US" sz="2000" b="1" dirty="0">
                <a:solidFill>
                  <a:srgbClr val="5A6B85"/>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8860536" y="2377440"/>
            <a:ext cx="1417320" cy="1051560"/>
          </a:xfrm>
          <a:prstGeom prst="roundRect">
            <a:avLst>
              <a:gd name="adj" fmla="val 8696"/>
            </a:avLst>
          </a:prstGeom>
          <a:solidFill>
            <a:srgbClr val="21295C"/>
          </a:solidFill>
          <a:ln/>
          <a:effectLst>
            <a:outerShdw blurRad="76200" dist="25400" dir="5400000" algn="bl" rotWithShape="0">
              <a:srgbClr val="000000">
                <a:alpha val="12000"/>
              </a:srgbClr>
            </a:outerShdw>
          </a:effectLst>
        </p:spPr>
      </p:sp>
      <p:sp>
        <p:nvSpPr>
          <p:cNvPr id="20" name="Text 18"/>
          <p:cNvSpPr/>
          <p:nvPr/>
        </p:nvSpPr>
        <p:spPr>
          <a:xfrm>
            <a:off x="890625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Modeling</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(RF, SVM, KNN)</a:t>
            </a:r>
            <a:endParaRPr lang="en-US" sz="1150" dirty="0">
              <a:latin typeface="Times New Roman" panose="02020603050405020304" pitchFamily="18" charset="0"/>
              <a:cs typeface="Times New Roman" panose="02020603050405020304" pitchFamily="18" charset="0"/>
            </a:endParaRPr>
          </a:p>
        </p:txBody>
      </p:sp>
      <p:sp>
        <p:nvSpPr>
          <p:cNvPr id="21" name="Text 19"/>
          <p:cNvSpPr/>
          <p:nvPr/>
        </p:nvSpPr>
        <p:spPr>
          <a:xfrm>
            <a:off x="10277856" y="2377440"/>
            <a:ext cx="320040" cy="1051560"/>
          </a:xfrm>
          <a:prstGeom prst="rect">
            <a:avLst/>
          </a:prstGeom>
          <a:noFill/>
          <a:ln/>
        </p:spPr>
        <p:txBody>
          <a:bodyPr wrap="square" rtlCol="0" anchor="ctr"/>
          <a:lstStyle/>
          <a:p>
            <a:pPr marL="0" indent="0" algn="ctr">
              <a:buNone/>
            </a:pPr>
            <a:r>
              <a:rPr lang="en-US" sz="2000" b="1" dirty="0">
                <a:solidFill>
                  <a:srgbClr val="5A6B85"/>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10597896" y="2377440"/>
            <a:ext cx="1417320" cy="1051560"/>
          </a:xfrm>
          <a:prstGeom prst="roundRect">
            <a:avLst>
              <a:gd name="adj" fmla="val 8696"/>
            </a:avLst>
          </a:prstGeom>
          <a:solidFill>
            <a:srgbClr val="21295C"/>
          </a:solidFill>
          <a:ln/>
          <a:effectLst>
            <a:outerShdw blurRad="76200" dist="25400" dir="5400000" algn="bl" rotWithShape="0">
              <a:srgbClr val="000000">
                <a:alpha val="12000"/>
              </a:srgbClr>
            </a:outerShdw>
          </a:effectLst>
        </p:spPr>
      </p:sp>
      <p:sp>
        <p:nvSpPr>
          <p:cNvPr id="23" name="Text 21"/>
          <p:cNvSpPr/>
          <p:nvPr/>
        </p:nvSpPr>
        <p:spPr>
          <a:xfrm>
            <a:off x="10643616" y="2377440"/>
            <a:ext cx="1325880" cy="1051560"/>
          </a:xfrm>
          <a:prstGeom prst="rect">
            <a:avLst/>
          </a:prstGeom>
          <a:noFill/>
          <a:ln/>
        </p:spPr>
        <p:txBody>
          <a:bodyPr wrap="square" rtlCol="0" anchor="ctr"/>
          <a:lstStyle/>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Evaluasi</a:t>
            </a:r>
            <a:endParaRPr lang="en-US" sz="1150" dirty="0">
              <a:latin typeface="Times New Roman" panose="02020603050405020304" pitchFamily="18" charset="0"/>
              <a:cs typeface="Times New Roman" panose="02020603050405020304" pitchFamily="18" charset="0"/>
            </a:endParaRPr>
          </a:p>
          <a:p>
            <a:pPr marL="0" indent="0" algn="ctr">
              <a:lnSpc>
                <a:spcPct val="105000"/>
              </a:lnSpc>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&amp; Confusion Matrix</a:t>
            </a:r>
            <a:endParaRPr lang="en-US" sz="1150" dirty="0">
              <a:latin typeface="Times New Roman" panose="02020603050405020304" pitchFamily="18" charset="0"/>
              <a:cs typeface="Times New Roman" panose="02020603050405020304" pitchFamily="18" charset="0"/>
            </a:endParaRPr>
          </a:p>
        </p:txBody>
      </p:sp>
      <p:sp>
        <p:nvSpPr>
          <p:cNvPr id="24" name="Text 22"/>
          <p:cNvSpPr/>
          <p:nvPr/>
        </p:nvSpPr>
        <p:spPr>
          <a:xfrm>
            <a:off x="548640" y="3886200"/>
            <a:ext cx="54864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Fokus Perbandingan</a:t>
            </a:r>
            <a:endParaRPr lang="en-US" sz="1800" dirty="0"/>
          </a:p>
        </p:txBody>
      </p:sp>
      <p:sp>
        <p:nvSpPr>
          <p:cNvPr id="25" name="Text 23"/>
          <p:cNvSpPr/>
          <p:nvPr/>
        </p:nvSpPr>
        <p:spPr>
          <a:xfrm>
            <a:off x="548640" y="4343400"/>
            <a:ext cx="6400800" cy="1280160"/>
          </a:xfrm>
          <a:prstGeom prst="rect">
            <a:avLst/>
          </a:prstGeom>
          <a:noFill/>
          <a:ln/>
        </p:spPr>
        <p:txBody>
          <a:bodyPr wrap="square" rtlCol="0" anchor="ctr"/>
          <a:lstStyle/>
          <a:p>
            <a:pPr marL="0" indent="0">
              <a:lnSpc>
                <a:spcPct val="125000"/>
              </a:lnSpc>
              <a:buNone/>
            </a:pPr>
            <a:r>
              <a:rPr lang="en-US" sz="1400" dirty="0">
                <a:solidFill>
                  <a:srgbClr val="5A6B85"/>
                </a:solidFill>
                <a:latin typeface="Times New Roman" panose="02020603050405020304" pitchFamily="18" charset="0"/>
                <a:ea typeface="Calibri" pitchFamily="34" charset="-122"/>
                <a:cs typeface="Times New Roman" panose="02020603050405020304" pitchFamily="18" charset="0"/>
              </a:rPr>
              <a:t>Ketiga percobaan (P1, P2, P3) menggunakan pipeline ekstraksi fitur dan model klasifikasi yang identik. Perbedaan hanya pada tahap preprocessing citra, sehingga pengaruh setiap teknik preprocessing terhadap akurasi klasifikasi dapat diisolasi dan dibandingkan secara adil.</a:t>
            </a:r>
            <a:endParaRPr lang="en-US" sz="1400" dirty="0">
              <a:latin typeface="Times New Roman" panose="02020603050405020304" pitchFamily="18" charset="0"/>
              <a:cs typeface="Times New Roman" panose="02020603050405020304" pitchFamily="18" charset="0"/>
            </a:endParaRPr>
          </a:p>
        </p:txBody>
      </p:sp>
      <p:sp>
        <p:nvSpPr>
          <p:cNvPr id="26" name="Shape 24"/>
          <p:cNvSpPr/>
          <p:nvPr/>
        </p:nvSpPr>
        <p:spPr>
          <a:xfrm>
            <a:off x="7223760" y="3886200"/>
            <a:ext cx="4389120" cy="1874520"/>
          </a:xfrm>
          <a:prstGeom prst="roundRect">
            <a:avLst>
              <a:gd name="adj" fmla="val 3902"/>
            </a:avLst>
          </a:prstGeom>
          <a:solidFill>
            <a:srgbClr val="EAF4F7"/>
          </a:solidFill>
          <a:ln/>
        </p:spPr>
      </p:sp>
      <p:sp>
        <p:nvSpPr>
          <p:cNvPr id="27" name="Text 25"/>
          <p:cNvSpPr/>
          <p:nvPr/>
        </p:nvSpPr>
        <p:spPr>
          <a:xfrm>
            <a:off x="7498080" y="4069080"/>
            <a:ext cx="3931920" cy="320040"/>
          </a:xfrm>
          <a:prstGeom prst="rect">
            <a:avLst/>
          </a:prstGeom>
          <a:noFill/>
          <a:ln/>
        </p:spPr>
        <p:txBody>
          <a:bodyPr wrap="square" rtlCol="0" anchor="ctr"/>
          <a:lstStyle/>
          <a:p>
            <a:pPr marL="0" indent="0">
              <a:buNone/>
            </a:pPr>
            <a:r>
              <a:rPr lang="en-US" sz="1100" b="1" kern="0" spc="100" dirty="0">
                <a:solidFill>
                  <a:srgbClr val="1C7293"/>
                </a:solidFill>
                <a:latin typeface="Times New Roman" panose="02020603050405020304" pitchFamily="18" charset="0"/>
                <a:ea typeface="Calibri" pitchFamily="34" charset="-122"/>
                <a:cs typeface="Times New Roman" panose="02020603050405020304" pitchFamily="18" charset="0"/>
              </a:rPr>
              <a:t>FITUR GLCM YANG DIEKSTRAKSI</a:t>
            </a:r>
            <a:endParaRPr lang="en-US" sz="1100" dirty="0">
              <a:latin typeface="Times New Roman" panose="02020603050405020304" pitchFamily="18" charset="0"/>
              <a:cs typeface="Times New Roman" panose="02020603050405020304" pitchFamily="18" charset="0"/>
            </a:endParaRPr>
          </a:p>
        </p:txBody>
      </p:sp>
      <p:sp>
        <p:nvSpPr>
          <p:cNvPr id="28" name="Text 26"/>
          <p:cNvSpPr/>
          <p:nvPr/>
        </p:nvSpPr>
        <p:spPr>
          <a:xfrm>
            <a:off x="7498080" y="4389120"/>
            <a:ext cx="3931920" cy="640080"/>
          </a:xfrm>
          <a:prstGeom prst="rect">
            <a:avLst/>
          </a:prstGeom>
          <a:noFill/>
          <a:ln/>
        </p:spPr>
        <p:txBody>
          <a:bodyPr wrap="square" rtlCol="0" anchor="ctr"/>
          <a:lstStyle/>
          <a:p>
            <a:pPr marL="0" indent="0">
              <a:lnSpc>
                <a:spcPct val="130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Contrast • Dissimilarity • Homogeneity</a:t>
            </a:r>
            <a:endParaRPr lang="en-US" sz="1300" dirty="0">
              <a:latin typeface="Times New Roman" panose="02020603050405020304" pitchFamily="18" charset="0"/>
              <a:cs typeface="Times New Roman" panose="02020603050405020304" pitchFamily="18" charset="0"/>
            </a:endParaRPr>
          </a:p>
          <a:p>
            <a:pPr marL="0" indent="0">
              <a:lnSpc>
                <a:spcPct val="130000"/>
              </a:lnSpc>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Energy • Correlation • ASM • Entropy</a:t>
            </a:r>
            <a:endParaRPr lang="en-US" sz="1300" dirty="0">
              <a:latin typeface="Times New Roman" panose="02020603050405020304" pitchFamily="18" charset="0"/>
              <a:cs typeface="Times New Roman" panose="02020603050405020304" pitchFamily="18" charset="0"/>
            </a:endParaRPr>
          </a:p>
        </p:txBody>
      </p:sp>
      <p:sp>
        <p:nvSpPr>
          <p:cNvPr id="29" name="Text 27"/>
          <p:cNvSpPr/>
          <p:nvPr/>
        </p:nvSpPr>
        <p:spPr>
          <a:xfrm>
            <a:off x="7498080" y="5074920"/>
            <a:ext cx="3931920" cy="548640"/>
          </a:xfrm>
          <a:prstGeom prst="rect">
            <a:avLst/>
          </a:prstGeom>
          <a:noFill/>
          <a:ln/>
        </p:spPr>
        <p:txBody>
          <a:bodyPr wrap="square" rtlCol="0" anchor="ctr"/>
          <a:lstStyle/>
          <a:p>
            <a:pPr marL="0" indent="0">
              <a:buNone/>
            </a:pPr>
            <a:r>
              <a:rPr lang="en-US" sz="1150" i="1" dirty="0">
                <a:solidFill>
                  <a:srgbClr val="5A6B85"/>
                </a:solidFill>
                <a:latin typeface="Times New Roman" panose="02020603050405020304" pitchFamily="18" charset="0"/>
                <a:ea typeface="Calibri" pitchFamily="34" charset="-122"/>
                <a:cs typeface="Times New Roman" panose="02020603050405020304" pitchFamily="18" charset="0"/>
              </a:rPr>
              <a:t>Pada 5 jarak (d=1..5) × 4 sudut (0°, 45°, 90°, 135°) = 140 fitur per citra</a:t>
            </a:r>
            <a:endParaRPr lang="en-US" sz="1150" dirty="0">
              <a:latin typeface="Times New Roman" panose="02020603050405020304" pitchFamily="18" charset="0"/>
              <a:cs typeface="Times New Roman" panose="02020603050405020304" pitchFamily="18" charset="0"/>
            </a:endParaRPr>
          </a:p>
        </p:txBody>
      </p:sp>
      <p:sp>
        <p:nvSpPr>
          <p:cNvPr id="30" name="Text 28"/>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77724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Tiga Skema Preprocessing</a:t>
            </a:r>
            <a:endParaRPr lang="en-US" sz="3000" dirty="0"/>
          </a:p>
        </p:txBody>
      </p:sp>
      <p:sp>
        <p:nvSpPr>
          <p:cNvPr id="4" name="Shape 2"/>
          <p:cNvSpPr/>
          <p:nvPr/>
        </p:nvSpPr>
        <p:spPr>
          <a:xfrm>
            <a:off x="548640" y="1783080"/>
            <a:ext cx="3520440" cy="4297680"/>
          </a:xfrm>
          <a:prstGeom prst="roundRect">
            <a:avLst>
              <a:gd name="adj" fmla="val 2597"/>
            </a:avLst>
          </a:prstGeom>
          <a:solidFill>
            <a:srgbClr val="EAF4F7"/>
          </a:solidFill>
          <a:ln/>
          <a:effectLst>
            <a:outerShdw blurRad="101600" dist="38100" dir="5400000" algn="bl" rotWithShape="0">
              <a:srgbClr val="000000">
                <a:alpha val="10000"/>
              </a:srgbClr>
            </a:outerShdw>
          </a:effectLst>
        </p:spPr>
      </p:sp>
      <p:sp>
        <p:nvSpPr>
          <p:cNvPr id="5" name="Shape 3"/>
          <p:cNvSpPr/>
          <p:nvPr/>
        </p:nvSpPr>
        <p:spPr>
          <a:xfrm>
            <a:off x="822960" y="2057400"/>
            <a:ext cx="640080" cy="640080"/>
          </a:xfrm>
          <a:prstGeom prst="ellipse">
            <a:avLst/>
          </a:prstGeom>
          <a:solidFill>
            <a:srgbClr val="1C7293"/>
          </a:solidFill>
          <a:ln/>
        </p:spPr>
      </p:sp>
      <p:sp>
        <p:nvSpPr>
          <p:cNvPr id="6" name="Text 4"/>
          <p:cNvSpPr/>
          <p:nvPr/>
        </p:nvSpPr>
        <p:spPr>
          <a:xfrm>
            <a:off x="822960" y="2057400"/>
            <a:ext cx="640080" cy="6400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P1</a:t>
            </a:r>
            <a:endParaRPr lang="en-US" sz="1800" dirty="0"/>
          </a:p>
        </p:txBody>
      </p:sp>
      <p:sp>
        <p:nvSpPr>
          <p:cNvPr id="7" name="Text 5"/>
          <p:cNvSpPr/>
          <p:nvPr/>
        </p:nvSpPr>
        <p:spPr>
          <a:xfrm>
            <a:off x="1600200" y="2093976"/>
            <a:ext cx="2240280" cy="54864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Baseline</a:t>
            </a:r>
            <a:endParaRPr lang="en-US" sz="1550" dirty="0"/>
          </a:p>
        </p:txBody>
      </p:sp>
      <p:sp>
        <p:nvSpPr>
          <p:cNvPr id="8" name="Text 6"/>
          <p:cNvSpPr/>
          <p:nvPr/>
        </p:nvSpPr>
        <p:spPr>
          <a:xfrm>
            <a:off x="878840" y="3552882"/>
            <a:ext cx="2880360" cy="777240"/>
          </a:xfrm>
          <a:prstGeom prst="rect">
            <a:avLst/>
          </a:prstGeom>
          <a:noFill/>
          <a:ln/>
        </p:spPr>
        <p:txBody>
          <a:bodyPr wrap="square" rtlCol="0" anchor="ctr"/>
          <a:lstStyle/>
          <a:p>
            <a:pPr marL="342900" indent="-342900">
              <a:lnSpc>
                <a:spcPct val="110000"/>
              </a:lnSpc>
              <a:spcAft>
                <a:spcPts val="600"/>
              </a:spcAft>
              <a:buSzPct val="100000"/>
              <a:buChar char="→"/>
            </a:pPr>
            <a:r>
              <a:rPr lang="en-US" sz="1250" dirty="0">
                <a:solidFill>
                  <a:srgbClr val="1E2761"/>
                </a:solidFill>
                <a:latin typeface="Times New Roman" panose="02020603050405020304" pitchFamily="18" charset="0"/>
                <a:ea typeface="Calibri" pitchFamily="34" charset="-122"/>
                <a:cs typeface="Times New Roman" panose="02020603050405020304" pitchFamily="18" charset="0"/>
              </a:rPr>
              <a:t>Resize</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1E2761"/>
                </a:solidFill>
                <a:latin typeface="Times New Roman" panose="02020603050405020304" pitchFamily="18" charset="0"/>
                <a:ea typeface="Calibri" pitchFamily="34" charset="-122"/>
                <a:cs typeface="Times New Roman" panose="02020603050405020304" pitchFamily="18" charset="0"/>
              </a:rPr>
              <a:t>Grayscale</a:t>
            </a:r>
            <a:endParaRPr lang="en-US" sz="1250" dirty="0">
              <a:latin typeface="Times New Roman" panose="02020603050405020304" pitchFamily="18" charset="0"/>
              <a:cs typeface="Times New Roman" panose="02020603050405020304" pitchFamily="18" charset="0"/>
            </a:endParaRPr>
          </a:p>
        </p:txBody>
      </p:sp>
      <p:sp>
        <p:nvSpPr>
          <p:cNvPr id="9" name="Text 7"/>
          <p:cNvSpPr/>
          <p:nvPr/>
        </p:nvSpPr>
        <p:spPr>
          <a:xfrm>
            <a:off x="614680" y="4901622"/>
            <a:ext cx="3408680" cy="1120429"/>
          </a:xfrm>
          <a:prstGeom prst="rect">
            <a:avLst/>
          </a:prstGeom>
          <a:noFill/>
          <a:ln/>
        </p:spPr>
        <p:txBody>
          <a:bodyPr wrap="square" rtlCol="0" anchor="ctr"/>
          <a:lstStyle/>
          <a:p>
            <a:pPr>
              <a:lnSpc>
                <a:spcPct val="120000"/>
              </a:lnSpc>
            </a:pPr>
            <a:r>
              <a:rPr lang="en-US" sz="1100" i="1" dirty="0">
                <a:solidFill>
                  <a:srgbClr val="5A6B85"/>
                </a:solidFill>
                <a:latin typeface="Calibri" pitchFamily="34" charset="0"/>
                <a:ea typeface="Calibri" pitchFamily="34" charset="-122"/>
                <a:cs typeface="Calibri" pitchFamily="34" charset="-120"/>
              </a:rPr>
              <a:t>Resize: </a:t>
            </a:r>
            <a:r>
              <a:rPr lang="en-US" sz="1100" i="1" dirty="0" err="1">
                <a:solidFill>
                  <a:srgbClr val="5A6B85"/>
                </a:solidFill>
                <a:latin typeface="Calibri" pitchFamily="34" charset="0"/>
                <a:ea typeface="Calibri" pitchFamily="34" charset="-122"/>
                <a:cs typeface="Calibri" pitchFamily="34" charset="-120"/>
              </a:rPr>
              <a:t>Menyeragamkan</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ukuran</a:t>
            </a:r>
            <a:r>
              <a:rPr lang="en-US" sz="1100" i="1" dirty="0">
                <a:solidFill>
                  <a:srgbClr val="5A6B85"/>
                </a:solidFill>
                <a:latin typeface="Calibri" pitchFamily="34" charset="0"/>
                <a:ea typeface="Calibri" pitchFamily="34" charset="-122"/>
                <a:cs typeface="Calibri" pitchFamily="34" charset="-120"/>
              </a:rPr>
              <a:t> (128x128) </a:t>
            </a:r>
            <a:r>
              <a:rPr lang="en-US" sz="1100" i="1" dirty="0" err="1">
                <a:solidFill>
                  <a:srgbClr val="5A6B85"/>
                </a:solidFill>
                <a:latin typeface="Calibri" pitchFamily="34" charset="0"/>
                <a:ea typeface="Calibri" pitchFamily="34" charset="-122"/>
                <a:cs typeface="Calibri" pitchFamily="34" charset="-120"/>
              </a:rPr>
              <a:t>sehingga</a:t>
            </a:r>
            <a:r>
              <a:rPr lang="en-US" sz="1100" i="1" dirty="0">
                <a:solidFill>
                  <a:srgbClr val="5A6B85"/>
                </a:solidFill>
                <a:latin typeface="Calibri" pitchFamily="34" charset="0"/>
                <a:ea typeface="Calibri" pitchFamily="34" charset="-122"/>
                <a:cs typeface="Calibri" pitchFamily="34" charset="-120"/>
              </a:rPr>
              <a:t> proses </a:t>
            </a:r>
            <a:r>
              <a:rPr lang="en-US" sz="1100" i="1" dirty="0" err="1">
                <a:solidFill>
                  <a:srgbClr val="5A6B85"/>
                </a:solidFill>
                <a:latin typeface="Calibri" pitchFamily="34" charset="0"/>
                <a:ea typeface="Calibri" pitchFamily="34" charset="-122"/>
                <a:cs typeface="Calibri" pitchFamily="34" charset="-120"/>
              </a:rPr>
              <a:t>ekstraksi</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fitur</a:t>
            </a:r>
            <a:r>
              <a:rPr lang="en-US" sz="1100" i="1" dirty="0">
                <a:solidFill>
                  <a:srgbClr val="5A6B85"/>
                </a:solidFill>
                <a:latin typeface="Calibri" pitchFamily="34" charset="0"/>
                <a:ea typeface="Calibri" pitchFamily="34" charset="-122"/>
                <a:cs typeface="Calibri" pitchFamily="34" charset="-120"/>
              </a:rPr>
              <a:t> GLCM </a:t>
            </a:r>
            <a:r>
              <a:rPr lang="en-US" sz="1100" i="1" dirty="0" err="1">
                <a:solidFill>
                  <a:srgbClr val="5A6B85"/>
                </a:solidFill>
                <a:latin typeface="Calibri" pitchFamily="34" charset="0"/>
                <a:ea typeface="Calibri" pitchFamily="34" charset="-122"/>
                <a:cs typeface="Calibri" pitchFamily="34" charset="-120"/>
              </a:rPr>
              <a:t>konsisten</a:t>
            </a:r>
            <a:endParaRPr lang="en-ID" sz="1100" i="1" dirty="0">
              <a:solidFill>
                <a:srgbClr val="5A6B85"/>
              </a:solidFill>
              <a:latin typeface="Calibri" pitchFamily="34" charset="0"/>
              <a:ea typeface="Calibri" pitchFamily="34" charset="-122"/>
              <a:cs typeface="Calibri" pitchFamily="34" charset="-120"/>
            </a:endParaRPr>
          </a:p>
          <a:p>
            <a:pPr>
              <a:lnSpc>
                <a:spcPct val="120000"/>
              </a:lnSpc>
            </a:pPr>
            <a:r>
              <a:rPr lang="en-ID" sz="1100" i="1" dirty="0">
                <a:solidFill>
                  <a:srgbClr val="5A6B85"/>
                </a:solidFill>
                <a:latin typeface="Calibri" pitchFamily="34" charset="0"/>
                <a:ea typeface="Calibri" pitchFamily="34" charset="-122"/>
                <a:cs typeface="Calibri" pitchFamily="34" charset="-120"/>
              </a:rPr>
              <a:t>Grayscale: </a:t>
            </a:r>
            <a:r>
              <a:rPr lang="en-ID" sz="1100" i="1" dirty="0" err="1">
                <a:solidFill>
                  <a:srgbClr val="5A6B85"/>
                </a:solidFill>
                <a:latin typeface="Calibri" pitchFamily="34" charset="0"/>
                <a:ea typeface="Calibri" pitchFamily="34" charset="-122"/>
                <a:cs typeface="Calibri" pitchFamily="34" charset="-120"/>
              </a:rPr>
              <a:t>Mengubah</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citra</a:t>
            </a:r>
            <a:r>
              <a:rPr lang="en-ID" sz="1100" i="1" dirty="0">
                <a:solidFill>
                  <a:srgbClr val="5A6B85"/>
                </a:solidFill>
                <a:latin typeface="Calibri" pitchFamily="34" charset="0"/>
                <a:ea typeface="Calibri" pitchFamily="34" charset="-122"/>
                <a:cs typeface="Calibri" pitchFamily="34" charset="-120"/>
              </a:rPr>
              <a:t> RGB </a:t>
            </a:r>
            <a:r>
              <a:rPr lang="en-ID" sz="1100" i="1" dirty="0" err="1">
                <a:solidFill>
                  <a:srgbClr val="5A6B85"/>
                </a:solidFill>
                <a:latin typeface="Calibri" pitchFamily="34" charset="0"/>
                <a:ea typeface="Calibri" pitchFamily="34" charset="-122"/>
                <a:cs typeface="Calibri" pitchFamily="34" charset="-120"/>
              </a:rPr>
              <a:t>menjadi</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keabuan</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sehingga</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informasi</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tekstur</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dapat</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direpresentasikan</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melalui</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nilai</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intensitas</a:t>
            </a:r>
            <a:r>
              <a:rPr lang="en-ID" sz="1100" i="1" dirty="0">
                <a:solidFill>
                  <a:srgbClr val="5A6B85"/>
                </a:solidFill>
                <a:latin typeface="Calibri" pitchFamily="34" charset="0"/>
                <a:ea typeface="Calibri" pitchFamily="34" charset="-122"/>
                <a:cs typeface="Calibri" pitchFamily="34" charset="-120"/>
              </a:rPr>
              <a:t> </a:t>
            </a:r>
            <a:r>
              <a:rPr lang="en-ID" sz="1100" i="1" dirty="0" err="1">
                <a:solidFill>
                  <a:srgbClr val="5A6B85"/>
                </a:solidFill>
                <a:latin typeface="Calibri" pitchFamily="34" charset="0"/>
                <a:ea typeface="Calibri" pitchFamily="34" charset="-122"/>
                <a:cs typeface="Calibri" pitchFamily="34" charset="-120"/>
              </a:rPr>
              <a:t>piksel</a:t>
            </a:r>
            <a:endParaRPr lang="en-US" sz="1100" dirty="0"/>
          </a:p>
        </p:txBody>
      </p:sp>
      <p:sp>
        <p:nvSpPr>
          <p:cNvPr id="10" name="Shape 8"/>
          <p:cNvSpPr/>
          <p:nvPr/>
        </p:nvSpPr>
        <p:spPr>
          <a:xfrm>
            <a:off x="4343400" y="1783080"/>
            <a:ext cx="3520440" cy="4297680"/>
          </a:xfrm>
          <a:prstGeom prst="roundRect">
            <a:avLst>
              <a:gd name="adj" fmla="val 2597"/>
            </a:avLst>
          </a:prstGeom>
          <a:solidFill>
            <a:srgbClr val="EAF4F7"/>
          </a:solidFill>
          <a:ln/>
          <a:effectLst>
            <a:outerShdw blurRad="101600" dist="38100" dir="5400000" algn="bl" rotWithShape="0">
              <a:srgbClr val="000000">
                <a:alpha val="10000"/>
              </a:srgbClr>
            </a:outerShdw>
          </a:effectLst>
        </p:spPr>
      </p:sp>
      <p:sp>
        <p:nvSpPr>
          <p:cNvPr id="11" name="Shape 9"/>
          <p:cNvSpPr/>
          <p:nvPr/>
        </p:nvSpPr>
        <p:spPr>
          <a:xfrm>
            <a:off x="4617720" y="2057400"/>
            <a:ext cx="640080" cy="640080"/>
          </a:xfrm>
          <a:prstGeom prst="ellipse">
            <a:avLst/>
          </a:prstGeom>
          <a:solidFill>
            <a:srgbClr val="1C7293"/>
          </a:solidFill>
          <a:ln/>
        </p:spPr>
      </p:sp>
      <p:sp>
        <p:nvSpPr>
          <p:cNvPr id="12" name="Text 10"/>
          <p:cNvSpPr/>
          <p:nvPr/>
        </p:nvSpPr>
        <p:spPr>
          <a:xfrm>
            <a:off x="4617720" y="2057400"/>
            <a:ext cx="640080" cy="6400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P2</a:t>
            </a:r>
            <a:endParaRPr lang="en-US" sz="1800" dirty="0"/>
          </a:p>
        </p:txBody>
      </p:sp>
      <p:sp>
        <p:nvSpPr>
          <p:cNvPr id="13" name="Text 11"/>
          <p:cNvSpPr/>
          <p:nvPr/>
        </p:nvSpPr>
        <p:spPr>
          <a:xfrm>
            <a:off x="5394960" y="2093976"/>
            <a:ext cx="2240280" cy="54864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Noise Reduction + Kontras</a:t>
            </a:r>
            <a:endParaRPr lang="en-US" sz="1550" dirty="0"/>
          </a:p>
        </p:txBody>
      </p:sp>
      <p:sp>
        <p:nvSpPr>
          <p:cNvPr id="14" name="Text 12"/>
          <p:cNvSpPr/>
          <p:nvPr/>
        </p:nvSpPr>
        <p:spPr>
          <a:xfrm>
            <a:off x="4663440" y="2880360"/>
            <a:ext cx="2880360" cy="2286000"/>
          </a:xfrm>
          <a:prstGeom prst="rect">
            <a:avLst/>
          </a:prstGeom>
          <a:noFill/>
          <a:ln/>
        </p:spPr>
        <p:txBody>
          <a:bodyPr wrap="square" rtlCol="0" anchor="ctr"/>
          <a:lstStyle/>
          <a:p>
            <a:pPr marL="342900" indent="-342900">
              <a:lnSpc>
                <a:spcPct val="110000"/>
              </a:lnSpc>
              <a:spcAft>
                <a:spcPts val="600"/>
              </a:spcAft>
              <a:buSzPct val="100000"/>
              <a:buChar char="→"/>
            </a:pPr>
            <a:r>
              <a:rPr lang="en-US" sz="1250" dirty="0">
                <a:solidFill>
                  <a:srgbClr val="1E2761"/>
                </a:solidFill>
                <a:latin typeface="Times New Roman" panose="02020603050405020304" pitchFamily="18" charset="0"/>
                <a:ea typeface="Calibri" pitchFamily="34" charset="-122"/>
                <a:cs typeface="Times New Roman" panose="02020603050405020304" pitchFamily="18" charset="0"/>
              </a:rPr>
              <a:t>Resize</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1E2761"/>
                </a:solidFill>
                <a:latin typeface="Times New Roman" panose="02020603050405020304" pitchFamily="18" charset="0"/>
                <a:ea typeface="Calibri" pitchFamily="34" charset="-122"/>
                <a:cs typeface="Times New Roman" panose="02020603050405020304" pitchFamily="18" charset="0"/>
              </a:rPr>
              <a:t>Grayscale</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1E2761"/>
                </a:solidFill>
                <a:latin typeface="Times New Roman" panose="02020603050405020304" pitchFamily="18" charset="0"/>
                <a:ea typeface="Calibri" pitchFamily="34" charset="-122"/>
                <a:cs typeface="Times New Roman" panose="02020603050405020304" pitchFamily="18" charset="0"/>
              </a:rPr>
              <a:t>Median Filter</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1E2761"/>
                </a:solidFill>
                <a:latin typeface="Times New Roman" panose="02020603050405020304" pitchFamily="18" charset="0"/>
                <a:ea typeface="Calibri" pitchFamily="34" charset="-122"/>
                <a:cs typeface="Times New Roman" panose="02020603050405020304" pitchFamily="18" charset="0"/>
              </a:rPr>
              <a:t>Histogram Equalization</a:t>
            </a:r>
            <a:endParaRPr lang="en-US" sz="1250" dirty="0">
              <a:latin typeface="Times New Roman" panose="02020603050405020304" pitchFamily="18" charset="0"/>
              <a:cs typeface="Times New Roman" panose="02020603050405020304" pitchFamily="18" charset="0"/>
            </a:endParaRPr>
          </a:p>
        </p:txBody>
      </p:sp>
      <p:sp>
        <p:nvSpPr>
          <p:cNvPr id="15" name="Text 13"/>
          <p:cNvSpPr/>
          <p:nvPr/>
        </p:nvSpPr>
        <p:spPr>
          <a:xfrm>
            <a:off x="4389120" y="5073216"/>
            <a:ext cx="3474720" cy="847524"/>
          </a:xfrm>
          <a:prstGeom prst="rect">
            <a:avLst/>
          </a:prstGeom>
          <a:noFill/>
          <a:ln/>
        </p:spPr>
        <p:txBody>
          <a:bodyPr wrap="square" rtlCol="0" anchor="ctr"/>
          <a:lstStyle/>
          <a:p>
            <a:pPr marL="0" indent="0">
              <a:lnSpc>
                <a:spcPct val="120000"/>
              </a:lnSpc>
              <a:buNone/>
            </a:pPr>
            <a:r>
              <a:rPr lang="en-US" sz="1100" i="1" dirty="0">
                <a:solidFill>
                  <a:srgbClr val="5A6B85"/>
                </a:solidFill>
                <a:latin typeface="Calibri" pitchFamily="34" charset="0"/>
                <a:ea typeface="Calibri" pitchFamily="34" charset="-122"/>
                <a:cs typeface="Calibri" pitchFamily="34" charset="-120"/>
              </a:rPr>
              <a:t>Median Filter: </a:t>
            </a:r>
            <a:r>
              <a:rPr lang="en-US" sz="1100" i="1" dirty="0" err="1">
                <a:solidFill>
                  <a:srgbClr val="5A6B85"/>
                </a:solidFill>
                <a:latin typeface="Calibri" pitchFamily="34" charset="0"/>
                <a:ea typeface="Calibri" pitchFamily="34" charset="-122"/>
                <a:cs typeface="Calibri" pitchFamily="34" charset="-120"/>
              </a:rPr>
              <a:t>Mengurangi</a:t>
            </a:r>
            <a:r>
              <a:rPr lang="en-US" sz="1100" i="1" dirty="0">
                <a:solidFill>
                  <a:srgbClr val="5A6B85"/>
                </a:solidFill>
                <a:latin typeface="Calibri" pitchFamily="34" charset="0"/>
                <a:ea typeface="Calibri" pitchFamily="34" charset="-122"/>
                <a:cs typeface="Calibri" pitchFamily="34" charset="-120"/>
              </a:rPr>
              <a:t> noise </a:t>
            </a:r>
            <a:r>
              <a:rPr lang="en-US" sz="1100" i="1" dirty="0" err="1">
                <a:solidFill>
                  <a:srgbClr val="5A6B85"/>
                </a:solidFill>
                <a:latin typeface="Calibri" pitchFamily="34" charset="0"/>
                <a:ea typeface="Calibri" pitchFamily="34" charset="-122"/>
                <a:cs typeface="Calibri" pitchFamily="34" charset="-120"/>
              </a:rPr>
              <a:t>tanpa</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menghilangkan</a:t>
            </a:r>
            <a:r>
              <a:rPr lang="en-US" sz="1100" i="1" dirty="0">
                <a:solidFill>
                  <a:srgbClr val="5A6B85"/>
                </a:solidFill>
                <a:latin typeface="Calibri" pitchFamily="34" charset="0"/>
                <a:ea typeface="Calibri" pitchFamily="34" charset="-122"/>
                <a:cs typeface="Calibri" pitchFamily="34" charset="-120"/>
              </a:rPr>
              <a:t> detail </a:t>
            </a:r>
            <a:r>
              <a:rPr lang="en-US" sz="1100" i="1" dirty="0" err="1">
                <a:solidFill>
                  <a:srgbClr val="5A6B85"/>
                </a:solidFill>
                <a:latin typeface="Calibri" pitchFamily="34" charset="0"/>
                <a:ea typeface="Calibri" pitchFamily="34" charset="-122"/>
                <a:cs typeface="Calibri" pitchFamily="34" charset="-120"/>
              </a:rPr>
              <a:t>tepi</a:t>
            </a:r>
            <a:r>
              <a:rPr lang="en-US" sz="1100" i="1" dirty="0">
                <a:solidFill>
                  <a:srgbClr val="5A6B85"/>
                </a:solidFill>
                <a:latin typeface="Calibri" pitchFamily="34" charset="0"/>
                <a:ea typeface="Calibri" pitchFamily="34" charset="-122"/>
                <a:cs typeface="Calibri" pitchFamily="34" charset="-120"/>
              </a:rPr>
              <a:t> &amp; </a:t>
            </a:r>
            <a:r>
              <a:rPr lang="en-US" sz="1100" i="1" dirty="0" err="1">
                <a:solidFill>
                  <a:srgbClr val="5A6B85"/>
                </a:solidFill>
                <a:latin typeface="Calibri" pitchFamily="34" charset="0"/>
                <a:ea typeface="Calibri" pitchFamily="34" charset="-122"/>
                <a:cs typeface="Calibri" pitchFamily="34" charset="-120"/>
              </a:rPr>
              <a:t>pola</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tekstur</a:t>
            </a:r>
            <a:endParaRPr lang="en-US" sz="1100" i="1" dirty="0">
              <a:solidFill>
                <a:srgbClr val="5A6B85"/>
              </a:solidFill>
              <a:latin typeface="Calibri" pitchFamily="34" charset="0"/>
              <a:ea typeface="Calibri" pitchFamily="34" charset="-122"/>
              <a:cs typeface="Calibri" pitchFamily="34" charset="-120"/>
            </a:endParaRPr>
          </a:p>
          <a:p>
            <a:pPr marL="0" indent="0">
              <a:lnSpc>
                <a:spcPct val="120000"/>
              </a:lnSpc>
              <a:buNone/>
            </a:pPr>
            <a:r>
              <a:rPr lang="en-US" sz="1100" i="1" dirty="0">
                <a:solidFill>
                  <a:srgbClr val="5A6B85"/>
                </a:solidFill>
                <a:latin typeface="Calibri" pitchFamily="34" charset="0"/>
                <a:ea typeface="Calibri" pitchFamily="34" charset="-122"/>
                <a:cs typeface="Calibri" pitchFamily="34" charset="-120"/>
              </a:rPr>
              <a:t>Histogram Equalization: </a:t>
            </a:r>
            <a:r>
              <a:rPr lang="en-US" sz="1100" i="1" dirty="0" err="1">
                <a:solidFill>
                  <a:srgbClr val="5A6B85"/>
                </a:solidFill>
                <a:latin typeface="Calibri" pitchFamily="34" charset="0"/>
                <a:ea typeface="Calibri" pitchFamily="34" charset="-122"/>
                <a:cs typeface="Calibri" pitchFamily="34" charset="-120"/>
              </a:rPr>
              <a:t>Meningkatkan</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kontras</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sehingga</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perbedaan</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kain</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terlihat</a:t>
            </a:r>
            <a:r>
              <a:rPr lang="en-US" sz="1100" i="1" dirty="0">
                <a:solidFill>
                  <a:srgbClr val="5A6B85"/>
                </a:solidFill>
                <a:latin typeface="Calibri" pitchFamily="34" charset="0"/>
                <a:ea typeface="Calibri" pitchFamily="34" charset="-122"/>
                <a:cs typeface="Calibri" pitchFamily="34" charset="-120"/>
              </a:rPr>
              <a:t> </a:t>
            </a:r>
            <a:r>
              <a:rPr lang="en-US" sz="1100" i="1" dirty="0" err="1">
                <a:solidFill>
                  <a:srgbClr val="5A6B85"/>
                </a:solidFill>
                <a:latin typeface="Calibri" pitchFamily="34" charset="0"/>
                <a:ea typeface="Calibri" pitchFamily="34" charset="-122"/>
                <a:cs typeface="Calibri" pitchFamily="34" charset="-120"/>
              </a:rPr>
              <a:t>jelas</a:t>
            </a:r>
            <a:endParaRPr lang="en-US" sz="1100" dirty="0"/>
          </a:p>
        </p:txBody>
      </p:sp>
      <p:sp>
        <p:nvSpPr>
          <p:cNvPr id="16" name="Shape 14"/>
          <p:cNvSpPr/>
          <p:nvPr/>
        </p:nvSpPr>
        <p:spPr>
          <a:xfrm>
            <a:off x="8138160" y="1783080"/>
            <a:ext cx="3520440" cy="4297680"/>
          </a:xfrm>
          <a:prstGeom prst="roundRect">
            <a:avLst>
              <a:gd name="adj" fmla="val 2597"/>
            </a:avLst>
          </a:prstGeom>
          <a:solidFill>
            <a:srgbClr val="21295C"/>
          </a:solidFill>
          <a:ln/>
          <a:effectLst>
            <a:outerShdw blurRad="101600" dist="38100" dir="5400000" algn="bl" rotWithShape="0">
              <a:srgbClr val="000000">
                <a:alpha val="10000"/>
              </a:srgbClr>
            </a:outerShdw>
          </a:effectLst>
        </p:spPr>
      </p:sp>
      <p:sp>
        <p:nvSpPr>
          <p:cNvPr id="17" name="Shape 15"/>
          <p:cNvSpPr/>
          <p:nvPr/>
        </p:nvSpPr>
        <p:spPr>
          <a:xfrm>
            <a:off x="8412480" y="2057400"/>
            <a:ext cx="640080" cy="640080"/>
          </a:xfrm>
          <a:prstGeom prst="ellipse">
            <a:avLst/>
          </a:prstGeom>
          <a:solidFill>
            <a:srgbClr val="F2A359"/>
          </a:solidFill>
          <a:ln/>
        </p:spPr>
      </p:sp>
      <p:sp>
        <p:nvSpPr>
          <p:cNvPr id="18" name="Text 16"/>
          <p:cNvSpPr/>
          <p:nvPr/>
        </p:nvSpPr>
        <p:spPr>
          <a:xfrm>
            <a:off x="8412480" y="2057400"/>
            <a:ext cx="640080" cy="6400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P3</a:t>
            </a:r>
            <a:endParaRPr lang="en-US" sz="1800" dirty="0"/>
          </a:p>
        </p:txBody>
      </p:sp>
      <p:sp>
        <p:nvSpPr>
          <p:cNvPr id="19" name="Text 17"/>
          <p:cNvSpPr/>
          <p:nvPr/>
        </p:nvSpPr>
        <p:spPr>
          <a:xfrm>
            <a:off x="9189720" y="2093976"/>
            <a:ext cx="2240280" cy="54864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Penajaman Fitur</a:t>
            </a:r>
            <a:endParaRPr lang="en-US" sz="1550" dirty="0"/>
          </a:p>
        </p:txBody>
      </p:sp>
      <p:sp>
        <p:nvSpPr>
          <p:cNvPr id="20" name="Text 18"/>
          <p:cNvSpPr/>
          <p:nvPr/>
        </p:nvSpPr>
        <p:spPr>
          <a:xfrm>
            <a:off x="8458200" y="2880360"/>
            <a:ext cx="2880360" cy="2286000"/>
          </a:xfrm>
          <a:prstGeom prst="rect">
            <a:avLst/>
          </a:prstGeom>
          <a:noFill/>
          <a:ln/>
        </p:spPr>
        <p:txBody>
          <a:bodyPr wrap="square" rtlCol="0" anchor="ctr"/>
          <a:lstStyle/>
          <a:p>
            <a:pPr marL="342900" indent="-342900">
              <a:lnSpc>
                <a:spcPct val="110000"/>
              </a:lnSpc>
              <a:spcAft>
                <a:spcPts val="600"/>
              </a:spcAft>
              <a:buSzPct val="100000"/>
              <a:buChar char="→"/>
            </a:pPr>
            <a:r>
              <a:rPr lang="en-US" sz="1250" dirty="0">
                <a:solidFill>
                  <a:srgbClr val="FFFFFF"/>
                </a:solidFill>
                <a:latin typeface="Times New Roman" panose="02020603050405020304" pitchFamily="18" charset="0"/>
                <a:ea typeface="Calibri" pitchFamily="34" charset="-122"/>
                <a:cs typeface="Times New Roman" panose="02020603050405020304" pitchFamily="18" charset="0"/>
              </a:rPr>
              <a:t>Resize</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FFFFFF"/>
                </a:solidFill>
                <a:latin typeface="Times New Roman" panose="02020603050405020304" pitchFamily="18" charset="0"/>
                <a:ea typeface="Calibri" pitchFamily="34" charset="-122"/>
                <a:cs typeface="Times New Roman" panose="02020603050405020304" pitchFamily="18" charset="0"/>
              </a:rPr>
              <a:t>Grayscale</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FFFFFF"/>
                </a:solidFill>
                <a:latin typeface="Times New Roman" panose="02020603050405020304" pitchFamily="18" charset="0"/>
                <a:ea typeface="Calibri" pitchFamily="34" charset="-122"/>
                <a:cs typeface="Times New Roman" panose="02020603050405020304" pitchFamily="18" charset="0"/>
              </a:rPr>
              <a:t>Median Filter</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FFFFFF"/>
                </a:solidFill>
                <a:latin typeface="Times New Roman" panose="02020603050405020304" pitchFamily="18" charset="0"/>
                <a:ea typeface="Calibri" pitchFamily="34" charset="-122"/>
                <a:cs typeface="Times New Roman" panose="02020603050405020304" pitchFamily="18" charset="0"/>
              </a:rPr>
              <a:t>Histogram Equalization</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FFFFFF"/>
                </a:solidFill>
                <a:latin typeface="Times New Roman" panose="02020603050405020304" pitchFamily="18" charset="0"/>
                <a:ea typeface="Calibri" pitchFamily="34" charset="-122"/>
                <a:cs typeface="Times New Roman" panose="02020603050405020304" pitchFamily="18" charset="0"/>
              </a:rPr>
              <a:t>Sharpening</a:t>
            </a:r>
            <a:endParaRPr lang="en-US" sz="1250" dirty="0">
              <a:latin typeface="Times New Roman" panose="02020603050405020304" pitchFamily="18" charset="0"/>
              <a:cs typeface="Times New Roman" panose="02020603050405020304" pitchFamily="18" charset="0"/>
            </a:endParaRPr>
          </a:p>
          <a:p>
            <a:pPr marL="342900" indent="-342900">
              <a:lnSpc>
                <a:spcPct val="110000"/>
              </a:lnSpc>
              <a:spcAft>
                <a:spcPts val="600"/>
              </a:spcAft>
              <a:buSzPct val="100000"/>
              <a:buChar char="→"/>
            </a:pPr>
            <a:r>
              <a:rPr lang="en-US" sz="1250" dirty="0">
                <a:solidFill>
                  <a:srgbClr val="FFFFFF"/>
                </a:solidFill>
                <a:latin typeface="Times New Roman" panose="02020603050405020304" pitchFamily="18" charset="0"/>
                <a:ea typeface="Calibri" pitchFamily="34" charset="-122"/>
                <a:cs typeface="Times New Roman" panose="02020603050405020304" pitchFamily="18" charset="0"/>
              </a:rPr>
              <a:t>Dilasi</a:t>
            </a:r>
            <a:endParaRPr lang="en-US" sz="1250" dirty="0">
              <a:latin typeface="Times New Roman" panose="02020603050405020304" pitchFamily="18" charset="0"/>
              <a:cs typeface="Times New Roman" panose="02020603050405020304" pitchFamily="18" charset="0"/>
            </a:endParaRPr>
          </a:p>
        </p:txBody>
      </p:sp>
      <p:sp>
        <p:nvSpPr>
          <p:cNvPr id="21" name="Text 19"/>
          <p:cNvSpPr/>
          <p:nvPr/>
        </p:nvSpPr>
        <p:spPr>
          <a:xfrm>
            <a:off x="8183880" y="5143500"/>
            <a:ext cx="3459480" cy="777240"/>
          </a:xfrm>
          <a:prstGeom prst="rect">
            <a:avLst/>
          </a:prstGeom>
          <a:noFill/>
          <a:ln/>
        </p:spPr>
        <p:txBody>
          <a:bodyPr wrap="square" rtlCol="0" anchor="ctr"/>
          <a:lstStyle/>
          <a:p>
            <a:pPr>
              <a:lnSpc>
                <a:spcPct val="120000"/>
              </a:lnSpc>
            </a:pPr>
            <a:r>
              <a:rPr lang="en-US" sz="1100" i="1" dirty="0">
                <a:solidFill>
                  <a:srgbClr val="C9D6E8"/>
                </a:solidFill>
                <a:latin typeface="Calibri" pitchFamily="34" charset="0"/>
                <a:ea typeface="Calibri" pitchFamily="34" charset="-122"/>
                <a:cs typeface="Calibri" pitchFamily="34" charset="-120"/>
              </a:rPr>
              <a:t>Sharpening: </a:t>
            </a:r>
            <a:r>
              <a:rPr lang="en-US" sz="1100" i="1" dirty="0" err="1">
                <a:solidFill>
                  <a:srgbClr val="C9D6E8"/>
                </a:solidFill>
                <a:latin typeface="Calibri" pitchFamily="34" charset="0"/>
                <a:ea typeface="Calibri" pitchFamily="34" charset="-122"/>
                <a:cs typeface="Calibri" pitchFamily="34" charset="-120"/>
              </a:rPr>
              <a:t>Menonjolkan</a:t>
            </a:r>
            <a:r>
              <a:rPr lang="en-US" sz="1100" i="1" dirty="0">
                <a:solidFill>
                  <a:srgbClr val="C9D6E8"/>
                </a:solidFill>
                <a:latin typeface="Calibri" pitchFamily="34" charset="0"/>
                <a:ea typeface="Calibri" pitchFamily="34" charset="-122"/>
                <a:cs typeface="Calibri" pitchFamily="34" charset="-120"/>
              </a:rPr>
              <a:t> detail </a:t>
            </a:r>
            <a:r>
              <a:rPr lang="en-US" sz="1100" i="1" dirty="0" err="1">
                <a:solidFill>
                  <a:srgbClr val="C9D6E8"/>
                </a:solidFill>
                <a:latin typeface="Calibri" pitchFamily="34" charset="0"/>
                <a:ea typeface="Calibri" pitchFamily="34" charset="-122"/>
                <a:cs typeface="Calibri" pitchFamily="34" charset="-120"/>
              </a:rPr>
              <a:t>tekstur</a:t>
            </a:r>
            <a:r>
              <a:rPr lang="en-US" sz="1100" i="1" dirty="0">
                <a:solidFill>
                  <a:srgbClr val="C9D6E8"/>
                </a:solidFill>
                <a:latin typeface="Calibri" pitchFamily="34" charset="0"/>
                <a:ea typeface="Calibri" pitchFamily="34" charset="-122"/>
                <a:cs typeface="Calibri" pitchFamily="34" charset="-120"/>
              </a:rPr>
              <a:t> dan </a:t>
            </a:r>
            <a:r>
              <a:rPr lang="en-US" sz="1100" i="1" dirty="0" err="1">
                <a:solidFill>
                  <a:srgbClr val="C9D6E8"/>
                </a:solidFill>
                <a:latin typeface="Calibri" pitchFamily="34" charset="0"/>
                <a:ea typeface="Calibri" pitchFamily="34" charset="-122"/>
                <a:cs typeface="Calibri" pitchFamily="34" charset="-120"/>
              </a:rPr>
              <a:t>memperjelas</a:t>
            </a:r>
            <a:r>
              <a:rPr lang="en-US" sz="1100" i="1" dirty="0">
                <a:solidFill>
                  <a:srgbClr val="C9D6E8"/>
                </a:solidFill>
                <a:latin typeface="Calibri" pitchFamily="34" charset="0"/>
                <a:ea typeface="Calibri" pitchFamily="34" charset="-122"/>
                <a:cs typeface="Calibri" pitchFamily="34" charset="-120"/>
              </a:rPr>
              <a:t> batas </a:t>
            </a:r>
            <a:r>
              <a:rPr lang="en-US" sz="1100" i="1" dirty="0" err="1">
                <a:solidFill>
                  <a:srgbClr val="C9D6E8"/>
                </a:solidFill>
                <a:latin typeface="Calibri" pitchFamily="34" charset="0"/>
                <a:ea typeface="Calibri" pitchFamily="34" charset="-122"/>
                <a:cs typeface="Calibri" pitchFamily="34" charset="-120"/>
              </a:rPr>
              <a:t>objek</a:t>
            </a:r>
            <a:endParaRPr lang="en-US" sz="1100" i="1" dirty="0">
              <a:solidFill>
                <a:srgbClr val="C9D6E8"/>
              </a:solidFill>
              <a:latin typeface="Calibri" pitchFamily="34" charset="0"/>
              <a:ea typeface="Calibri" pitchFamily="34" charset="-122"/>
              <a:cs typeface="Calibri" pitchFamily="34" charset="-120"/>
            </a:endParaRPr>
          </a:p>
          <a:p>
            <a:pPr>
              <a:lnSpc>
                <a:spcPct val="120000"/>
              </a:lnSpc>
            </a:pPr>
            <a:r>
              <a:rPr lang="en-US" sz="1100" i="1" dirty="0" err="1">
                <a:solidFill>
                  <a:srgbClr val="C9D6E8"/>
                </a:solidFill>
                <a:latin typeface="Calibri" pitchFamily="34" charset="0"/>
                <a:ea typeface="Calibri" pitchFamily="34" charset="-122"/>
                <a:cs typeface="Calibri" pitchFamily="34" charset="-120"/>
              </a:rPr>
              <a:t>Dilasi</a:t>
            </a:r>
            <a:r>
              <a:rPr lang="en-US" sz="1100" i="1" dirty="0">
                <a:solidFill>
                  <a:srgbClr val="C9D6E8"/>
                </a:solidFill>
                <a:latin typeface="Calibri" pitchFamily="34" charset="0"/>
                <a:ea typeface="Calibri" pitchFamily="34" charset="-122"/>
                <a:cs typeface="Calibri" pitchFamily="34" charset="-120"/>
              </a:rPr>
              <a:t>: </a:t>
            </a:r>
            <a:r>
              <a:rPr lang="en-US" sz="1100" i="1" dirty="0" err="1">
                <a:solidFill>
                  <a:srgbClr val="C9D6E8"/>
                </a:solidFill>
                <a:latin typeface="Calibri" pitchFamily="34" charset="0"/>
                <a:ea typeface="Calibri" pitchFamily="34" charset="-122"/>
                <a:cs typeface="Calibri" pitchFamily="34" charset="-120"/>
              </a:rPr>
              <a:t>Mempertegas</a:t>
            </a:r>
            <a:r>
              <a:rPr lang="en-US" sz="1100" i="1" dirty="0">
                <a:solidFill>
                  <a:srgbClr val="C9D6E8"/>
                </a:solidFill>
                <a:latin typeface="Calibri" pitchFamily="34" charset="0"/>
                <a:ea typeface="Calibri" pitchFamily="34" charset="-122"/>
                <a:cs typeface="Calibri" pitchFamily="34" charset="-120"/>
              </a:rPr>
              <a:t> area </a:t>
            </a:r>
            <a:r>
              <a:rPr lang="en-US" sz="1100" i="1" dirty="0" err="1">
                <a:solidFill>
                  <a:srgbClr val="C9D6E8"/>
                </a:solidFill>
                <a:latin typeface="Calibri" pitchFamily="34" charset="0"/>
                <a:ea typeface="Calibri" pitchFamily="34" charset="-122"/>
                <a:cs typeface="Calibri" pitchFamily="34" charset="-120"/>
              </a:rPr>
              <a:t>objek</a:t>
            </a:r>
            <a:r>
              <a:rPr lang="en-US" sz="1100" i="1" dirty="0">
                <a:solidFill>
                  <a:srgbClr val="C9D6E8"/>
                </a:solidFill>
                <a:latin typeface="Calibri" pitchFamily="34" charset="0"/>
                <a:ea typeface="Calibri" pitchFamily="34" charset="-122"/>
                <a:cs typeface="Calibri" pitchFamily="34" charset="-120"/>
              </a:rPr>
              <a:t> </a:t>
            </a:r>
            <a:r>
              <a:rPr lang="en-US" sz="1100" i="1" dirty="0" err="1">
                <a:solidFill>
                  <a:srgbClr val="C9D6E8"/>
                </a:solidFill>
                <a:latin typeface="Calibri" pitchFamily="34" charset="0"/>
                <a:ea typeface="Calibri" pitchFamily="34" charset="-122"/>
                <a:cs typeface="Calibri" pitchFamily="34" charset="-120"/>
              </a:rPr>
              <a:t>dengan</a:t>
            </a:r>
            <a:r>
              <a:rPr lang="en-US" sz="1100" i="1" dirty="0">
                <a:solidFill>
                  <a:srgbClr val="C9D6E8"/>
                </a:solidFill>
                <a:latin typeface="Calibri" pitchFamily="34" charset="0"/>
                <a:ea typeface="Calibri" pitchFamily="34" charset="-122"/>
                <a:cs typeface="Calibri" pitchFamily="34" charset="-120"/>
              </a:rPr>
              <a:t> </a:t>
            </a:r>
            <a:r>
              <a:rPr lang="en-US" sz="1100" i="1" dirty="0" err="1">
                <a:solidFill>
                  <a:srgbClr val="C9D6E8"/>
                </a:solidFill>
                <a:latin typeface="Calibri" pitchFamily="34" charset="0"/>
                <a:ea typeface="Calibri" pitchFamily="34" charset="-122"/>
                <a:cs typeface="Calibri" pitchFamily="34" charset="-120"/>
              </a:rPr>
              <a:t>memperbesar</a:t>
            </a:r>
            <a:r>
              <a:rPr lang="en-US" sz="1100" i="1" dirty="0">
                <a:solidFill>
                  <a:srgbClr val="C9D6E8"/>
                </a:solidFill>
                <a:latin typeface="Calibri" pitchFamily="34" charset="0"/>
                <a:ea typeface="Calibri" pitchFamily="34" charset="-122"/>
                <a:cs typeface="Calibri" pitchFamily="34" charset="-120"/>
              </a:rPr>
              <a:t> area </a:t>
            </a:r>
            <a:r>
              <a:rPr lang="en-US" sz="1100" i="1" dirty="0" err="1">
                <a:solidFill>
                  <a:srgbClr val="C9D6E8"/>
                </a:solidFill>
                <a:latin typeface="Calibri" pitchFamily="34" charset="0"/>
                <a:ea typeface="Calibri" pitchFamily="34" charset="-122"/>
                <a:cs typeface="Calibri" pitchFamily="34" charset="-120"/>
              </a:rPr>
              <a:t>piksel</a:t>
            </a:r>
            <a:endParaRPr lang="en-US" sz="1100" dirty="0"/>
          </a:p>
        </p:txBody>
      </p:sp>
      <p:sp>
        <p:nvSpPr>
          <p:cNvPr id="22" name="Text 2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P1: Resize + Grayscale </a:t>
            </a:r>
            <a:endParaRPr lang="en-US" sz="2700" dirty="0"/>
          </a:p>
        </p:txBody>
      </p:sp>
      <p:sp>
        <p:nvSpPr>
          <p:cNvPr id="5" name="Shape 3"/>
          <p:cNvSpPr/>
          <p:nvPr/>
        </p:nvSpPr>
        <p:spPr>
          <a:xfrm>
            <a:off x="634481" y="1579206"/>
            <a:ext cx="11066107" cy="3487316"/>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6" name="Text 4"/>
          <p:cNvSpPr/>
          <p:nvPr/>
        </p:nvSpPr>
        <p:spPr>
          <a:xfrm>
            <a:off x="822960" y="2240280"/>
            <a:ext cx="2971800" cy="411480"/>
          </a:xfrm>
          <a:prstGeom prst="rect">
            <a:avLst/>
          </a:prstGeom>
          <a:noFill/>
          <a:ln/>
        </p:spPr>
        <p:txBody>
          <a:bodyPr wrap="square" rtlCol="0" anchor="ctr"/>
          <a:lstStyle/>
          <a:p>
            <a:pPr marL="0" indent="0">
              <a:buNone/>
            </a:pPr>
            <a:endParaRPr lang="en-US" sz="1700" dirty="0"/>
          </a:p>
        </p:txBody>
      </p:sp>
      <p:sp>
        <p:nvSpPr>
          <p:cNvPr id="7" name="Text 5"/>
          <p:cNvSpPr/>
          <p:nvPr/>
        </p:nvSpPr>
        <p:spPr>
          <a:xfrm>
            <a:off x="822960" y="2697480"/>
            <a:ext cx="2971800" cy="914400"/>
          </a:xfrm>
          <a:prstGeom prst="rect">
            <a:avLst/>
          </a:prstGeom>
          <a:noFill/>
          <a:ln/>
        </p:spPr>
        <p:txBody>
          <a:bodyPr wrap="square" rtlCol="0" anchor="ctr"/>
          <a:lstStyle/>
          <a:p>
            <a:pPr marL="0" indent="0">
              <a:buNone/>
            </a:pPr>
            <a:endParaRPr lang="en-US" sz="4400" dirty="0"/>
          </a:p>
        </p:txBody>
      </p:sp>
      <p:sp>
        <p:nvSpPr>
          <p:cNvPr id="8" name="Text 6"/>
          <p:cNvSpPr/>
          <p:nvPr/>
        </p:nvSpPr>
        <p:spPr>
          <a:xfrm>
            <a:off x="822960" y="3657600"/>
            <a:ext cx="2971800" cy="320040"/>
          </a:xfrm>
          <a:prstGeom prst="rect">
            <a:avLst/>
          </a:prstGeom>
          <a:noFill/>
          <a:ln/>
        </p:spPr>
        <p:txBody>
          <a:bodyPr wrap="square" rtlCol="0" anchor="ctr"/>
          <a:lstStyle/>
          <a:p>
            <a:pPr marL="0" indent="0">
              <a:buNone/>
            </a:pPr>
            <a:endParaRPr lang="en-US" sz="1150" dirty="0"/>
          </a:p>
        </p:txBody>
      </p:sp>
      <p:sp>
        <p:nvSpPr>
          <p:cNvPr id="10" name="Text 8"/>
          <p:cNvSpPr/>
          <p:nvPr/>
        </p:nvSpPr>
        <p:spPr>
          <a:xfrm>
            <a:off x="82296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1" name="Shape 9"/>
          <p:cNvSpPr/>
          <p:nvPr/>
        </p:nvSpPr>
        <p:spPr>
          <a:xfrm>
            <a:off x="634481" y="5215812"/>
            <a:ext cx="11066108" cy="1127138"/>
          </a:xfrm>
          <a:prstGeom prst="roundRect">
            <a:avLst>
              <a:gd name="adj" fmla="val 3030"/>
            </a:avLst>
          </a:prstGeom>
          <a:solidFill>
            <a:srgbClr val="065A82"/>
          </a:solidFill>
          <a:ln/>
          <a:effectLst>
            <a:outerShdw blurRad="101600" dist="38100" dir="5400000" algn="bl" rotWithShape="0">
              <a:srgbClr val="000000">
                <a:alpha val="10000"/>
              </a:srgbClr>
            </a:outerShdw>
          </a:effectLst>
        </p:spPr>
      </p:sp>
      <p:sp>
        <p:nvSpPr>
          <p:cNvPr id="12" name="Text 10"/>
          <p:cNvSpPr/>
          <p:nvPr/>
        </p:nvSpPr>
        <p:spPr>
          <a:xfrm>
            <a:off x="4617720" y="2240280"/>
            <a:ext cx="2971800" cy="411480"/>
          </a:xfrm>
          <a:prstGeom prst="rect">
            <a:avLst/>
          </a:prstGeom>
          <a:noFill/>
          <a:ln/>
        </p:spPr>
        <p:txBody>
          <a:bodyPr wrap="square" rtlCol="0" anchor="ctr"/>
          <a:lstStyle/>
          <a:p>
            <a:pPr marL="0" indent="0">
              <a:buNone/>
            </a:pPr>
            <a:endParaRPr lang="en-US" sz="1700" dirty="0"/>
          </a:p>
        </p:txBody>
      </p:sp>
      <p:sp>
        <p:nvSpPr>
          <p:cNvPr id="13" name="Text 11"/>
          <p:cNvSpPr/>
          <p:nvPr/>
        </p:nvSpPr>
        <p:spPr>
          <a:xfrm>
            <a:off x="4617720" y="2697480"/>
            <a:ext cx="2971800" cy="914400"/>
          </a:xfrm>
          <a:prstGeom prst="rect">
            <a:avLst/>
          </a:prstGeom>
          <a:noFill/>
          <a:ln/>
        </p:spPr>
        <p:txBody>
          <a:bodyPr wrap="square" rtlCol="0" anchor="ctr"/>
          <a:lstStyle/>
          <a:p>
            <a:pPr marL="0" indent="0">
              <a:buNone/>
            </a:pPr>
            <a:endParaRPr lang="en-US" sz="4400" dirty="0"/>
          </a:p>
        </p:txBody>
      </p:sp>
      <p:sp>
        <p:nvSpPr>
          <p:cNvPr id="14" name="Text 12"/>
          <p:cNvSpPr/>
          <p:nvPr/>
        </p:nvSpPr>
        <p:spPr>
          <a:xfrm>
            <a:off x="4617720" y="3657600"/>
            <a:ext cx="2971800" cy="320040"/>
          </a:xfrm>
          <a:prstGeom prst="rect">
            <a:avLst/>
          </a:prstGeom>
          <a:noFill/>
          <a:ln/>
        </p:spPr>
        <p:txBody>
          <a:bodyPr wrap="square" rtlCol="0" anchor="ctr"/>
          <a:lstStyle/>
          <a:p>
            <a:pPr marL="0" indent="0">
              <a:buNone/>
            </a:pPr>
            <a:endParaRPr lang="en-US" sz="1150" dirty="0"/>
          </a:p>
        </p:txBody>
      </p:sp>
      <p:sp>
        <p:nvSpPr>
          <p:cNvPr id="16" name="Text 14"/>
          <p:cNvSpPr/>
          <p:nvPr/>
        </p:nvSpPr>
        <p:spPr>
          <a:xfrm>
            <a:off x="822959" y="5295122"/>
            <a:ext cx="10877629" cy="978030"/>
          </a:xfrm>
          <a:prstGeom prst="rect">
            <a:avLst/>
          </a:prstGeom>
          <a:noFill/>
          <a:ln/>
        </p:spPr>
        <p:txBody>
          <a:bodyPr wrap="square" rtlCol="0" anchor="ctr"/>
          <a:lstStyle/>
          <a:p>
            <a:pPr>
              <a:spcAft>
                <a:spcPts val="300"/>
              </a:spcAft>
            </a:pPr>
            <a:r>
              <a:rPr lang="en-ID" sz="1200" dirty="0">
                <a:solidFill>
                  <a:schemeClr val="bg1"/>
                </a:solidFill>
                <a:latin typeface="Times New Roman" panose="02020603050405020304" pitchFamily="18" charset="0"/>
                <a:cs typeface="Times New Roman" panose="02020603050405020304" pitchFamily="18" charset="0"/>
              </a:rPr>
              <a:t>ANALISIS</a:t>
            </a:r>
          </a:p>
          <a:p>
            <a:pPr>
              <a:spcAft>
                <a:spcPts val="300"/>
              </a:spcAft>
            </a:pPr>
            <a:r>
              <a:rPr lang="en-ID" sz="1200" dirty="0">
                <a:solidFill>
                  <a:schemeClr val="bg1"/>
                </a:solidFill>
                <a:latin typeface="Times New Roman" panose="02020603050405020304" pitchFamily="18" charset="0"/>
                <a:cs typeface="Times New Roman" panose="02020603050405020304" pitchFamily="18" charset="0"/>
              </a:rPr>
              <a:t>Grayscale </a:t>
            </a:r>
            <a:r>
              <a:rPr lang="en-ID" sz="1200" dirty="0" err="1">
                <a:solidFill>
                  <a:schemeClr val="bg1"/>
                </a:solidFill>
                <a:latin typeface="Times New Roman" panose="02020603050405020304" pitchFamily="18" charset="0"/>
                <a:cs typeface="Times New Roman" panose="02020603050405020304" pitchFamily="18" charset="0"/>
              </a:rPr>
              <a:t>digunakan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untuk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mengubah</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citra</a:t>
            </a:r>
            <a:r>
              <a:rPr lang="en-ID" sz="1200" dirty="0">
                <a:solidFill>
                  <a:schemeClr val="bg1"/>
                </a:solidFill>
                <a:latin typeface="Times New Roman" panose="02020603050405020304" pitchFamily="18" charset="0"/>
                <a:cs typeface="Times New Roman" panose="02020603050405020304" pitchFamily="18" charset="0"/>
              </a:rPr>
              <a:t> RGB </a:t>
            </a:r>
            <a:r>
              <a:rPr lang="en-ID" sz="1200" dirty="0" err="1">
                <a:solidFill>
                  <a:schemeClr val="bg1"/>
                </a:solidFill>
                <a:latin typeface="Times New Roman" panose="02020603050405020304" pitchFamily="18" charset="0"/>
                <a:cs typeface="Times New Roman" panose="02020603050405020304" pitchFamily="18" charset="0"/>
              </a:rPr>
              <a:t>menjadi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citra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keabuan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sehingga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informasi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tekstur</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dapat</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direpresentasikan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berdasarkan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intensitas</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piksel</a:t>
            </a:r>
            <a:r>
              <a:rPr lang="en-ID" sz="1200" dirty="0">
                <a:solidFill>
                  <a:schemeClr val="bg1"/>
                </a:solidFill>
                <a:latin typeface="Times New Roman" panose="02020603050405020304" pitchFamily="18" charset="0"/>
                <a:cs typeface="Times New Roman" panose="02020603050405020304" pitchFamily="18" charset="0"/>
              </a:rPr>
              <a:t> dan </a:t>
            </a:r>
            <a:r>
              <a:rPr lang="en-ID" sz="1200" dirty="0" err="1">
                <a:solidFill>
                  <a:schemeClr val="bg1"/>
                </a:solidFill>
                <a:latin typeface="Times New Roman" panose="02020603050405020304" pitchFamily="18" charset="0"/>
                <a:cs typeface="Times New Roman" panose="02020603050405020304" pitchFamily="18" charset="0"/>
              </a:rPr>
              <a:t>sesuai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untuk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analisis</a:t>
            </a:r>
            <a:r>
              <a:rPr lang="en-ID" sz="1200" dirty="0">
                <a:solidFill>
                  <a:schemeClr val="bg1"/>
                </a:solidFill>
                <a:latin typeface="Times New Roman" panose="02020603050405020304" pitchFamily="18" charset="0"/>
                <a:cs typeface="Times New Roman" panose="02020603050405020304" pitchFamily="18" charset="0"/>
              </a:rPr>
              <a:t> GLCM. </a:t>
            </a:r>
            <a:r>
              <a:rPr lang="en-ID" sz="1200" dirty="0" err="1">
                <a:solidFill>
                  <a:schemeClr val="bg1"/>
                </a:solidFill>
                <a:latin typeface="Times New Roman" panose="02020603050405020304" pitchFamily="18" charset="0"/>
                <a:cs typeface="Times New Roman" panose="02020603050405020304" pitchFamily="18" charset="0"/>
              </a:rPr>
              <a:t>Sementara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itu</a:t>
            </a:r>
            <a:r>
              <a:rPr lang="en-ID" sz="1200" dirty="0">
                <a:solidFill>
                  <a:schemeClr val="bg1"/>
                </a:solidFill>
                <a:latin typeface="Times New Roman" panose="02020603050405020304" pitchFamily="18" charset="0"/>
                <a:cs typeface="Times New Roman" panose="02020603050405020304" pitchFamily="18" charset="0"/>
              </a:rPr>
              <a:t>, resize </a:t>
            </a:r>
            <a:r>
              <a:rPr lang="en-ID" sz="1200" dirty="0" err="1">
                <a:solidFill>
                  <a:schemeClr val="bg1"/>
                </a:solidFill>
                <a:latin typeface="Times New Roman" panose="02020603050405020304" pitchFamily="18" charset="0"/>
                <a:cs typeface="Times New Roman" panose="02020603050405020304" pitchFamily="18" charset="0"/>
              </a:rPr>
              <a:t>dilakukan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dengan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mengubah</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ukuran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citra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menjadi</a:t>
            </a:r>
            <a:r>
              <a:rPr lang="en-ID" sz="1200" dirty="0">
                <a:solidFill>
                  <a:schemeClr val="bg1"/>
                </a:solidFill>
                <a:latin typeface="Times New Roman" panose="02020603050405020304" pitchFamily="18" charset="0"/>
                <a:cs typeface="Times New Roman" panose="02020603050405020304" pitchFamily="18" charset="0"/>
              </a:rPr>
              <a:t> 128×128 </a:t>
            </a:r>
            <a:r>
              <a:rPr lang="en-ID" sz="1200" dirty="0" err="1">
                <a:solidFill>
                  <a:schemeClr val="bg1"/>
                </a:solidFill>
                <a:latin typeface="Times New Roman" panose="02020603050405020304" pitchFamily="18" charset="0"/>
                <a:cs typeface="Times New Roman" panose="02020603050405020304" pitchFamily="18" charset="0"/>
              </a:rPr>
              <a:t>piksel</a:t>
            </a:r>
            <a:r>
              <a:rPr lang="en-ID" sz="1200" dirty="0">
                <a:solidFill>
                  <a:schemeClr val="bg1"/>
                </a:solidFill>
                <a:latin typeface="Times New Roman" panose="02020603050405020304" pitchFamily="18" charset="0"/>
                <a:cs typeface="Times New Roman" panose="02020603050405020304" pitchFamily="18" charset="0"/>
              </a:rPr>
              <a:t> agar </a:t>
            </a:r>
            <a:r>
              <a:rPr lang="en-ID" sz="1200" dirty="0" err="1">
                <a:solidFill>
                  <a:schemeClr val="bg1"/>
                </a:solidFill>
                <a:latin typeface="Times New Roman" panose="02020603050405020304" pitchFamily="18" charset="0"/>
                <a:cs typeface="Times New Roman" panose="02020603050405020304" pitchFamily="18" charset="0"/>
              </a:rPr>
              <a:t>seluruh</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citra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memiliki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ukuran</a:t>
            </a:r>
            <a:r>
              <a:rPr lang="en-ID" sz="1200" dirty="0">
                <a:solidFill>
                  <a:schemeClr val="bg1"/>
                </a:solidFill>
                <a:latin typeface="Times New Roman" panose="02020603050405020304" pitchFamily="18" charset="0"/>
                <a:cs typeface="Times New Roman" panose="02020603050405020304" pitchFamily="18" charset="0"/>
              </a:rPr>
              <a:t> yang </a:t>
            </a:r>
            <a:r>
              <a:rPr lang="en-ID" sz="1200" dirty="0" err="1">
                <a:solidFill>
                  <a:schemeClr val="bg1"/>
                </a:solidFill>
                <a:latin typeface="Times New Roman" panose="02020603050405020304" pitchFamily="18" charset="0"/>
                <a:cs typeface="Times New Roman" panose="02020603050405020304" pitchFamily="18" charset="0"/>
              </a:rPr>
              <a:t>seragam</a:t>
            </a:r>
            <a:r>
              <a:rPr lang="en-ID" sz="1200" dirty="0">
                <a:solidFill>
                  <a:schemeClr val="bg1"/>
                </a:solidFill>
                <a:latin typeface="Times New Roman" panose="02020603050405020304" pitchFamily="18" charset="0"/>
                <a:cs typeface="Times New Roman" panose="02020603050405020304" pitchFamily="18" charset="0"/>
              </a:rPr>
              <a:t> dan proses </a:t>
            </a:r>
            <a:r>
              <a:rPr lang="en-ID" sz="1200" dirty="0" err="1">
                <a:solidFill>
                  <a:schemeClr val="bg1"/>
                </a:solidFill>
                <a:latin typeface="Times New Roman" panose="02020603050405020304" pitchFamily="18" charset="0"/>
                <a:cs typeface="Times New Roman" panose="02020603050405020304" pitchFamily="18" charset="0"/>
              </a:rPr>
              <a:t>ekstraksi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fitur</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dapat</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dilakukan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secara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konsisten</a:t>
            </a:r>
            <a:r>
              <a:rPr lang="en-ID" sz="1200"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8" name="Text 16"/>
          <p:cNvSpPr/>
          <p:nvPr/>
        </p:nvSpPr>
        <p:spPr>
          <a:xfrm>
            <a:off x="6446520" y="2221992"/>
            <a:ext cx="1143000" cy="320040"/>
          </a:xfrm>
          <a:prstGeom prst="rect">
            <a:avLst/>
          </a:prstGeom>
          <a:noFill/>
          <a:ln/>
        </p:spPr>
        <p:txBody>
          <a:bodyPr wrap="square" rtlCol="0" anchor="ctr"/>
          <a:lstStyle/>
          <a:p>
            <a:pPr marL="0" indent="0" algn="ctr">
              <a:buNone/>
            </a:pPr>
            <a:endParaRPr lang="en-US" sz="950" dirty="0"/>
          </a:p>
        </p:txBody>
      </p:sp>
      <p:sp>
        <p:nvSpPr>
          <p:cNvPr id="20" name="Text 18"/>
          <p:cNvSpPr/>
          <p:nvPr/>
        </p:nvSpPr>
        <p:spPr>
          <a:xfrm>
            <a:off x="8412480" y="2240280"/>
            <a:ext cx="2971800" cy="411480"/>
          </a:xfrm>
          <a:prstGeom prst="rect">
            <a:avLst/>
          </a:prstGeom>
          <a:noFill/>
          <a:ln/>
        </p:spPr>
        <p:txBody>
          <a:bodyPr wrap="square" rtlCol="0" anchor="ctr"/>
          <a:lstStyle/>
          <a:p>
            <a:pPr marL="0" indent="0">
              <a:buNone/>
            </a:pPr>
            <a:endParaRPr lang="en-US" sz="1700" dirty="0"/>
          </a:p>
        </p:txBody>
      </p:sp>
      <p:sp>
        <p:nvSpPr>
          <p:cNvPr id="21" name="Text 19"/>
          <p:cNvSpPr/>
          <p:nvPr/>
        </p:nvSpPr>
        <p:spPr>
          <a:xfrm>
            <a:off x="8412480" y="2697480"/>
            <a:ext cx="2971800" cy="914400"/>
          </a:xfrm>
          <a:prstGeom prst="rect">
            <a:avLst/>
          </a:prstGeom>
          <a:noFill/>
          <a:ln/>
        </p:spPr>
        <p:txBody>
          <a:bodyPr wrap="square" rtlCol="0" anchor="ctr"/>
          <a:lstStyle/>
          <a:p>
            <a:pPr marL="0" indent="0">
              <a:buNone/>
            </a:pPr>
            <a:endParaRPr lang="en-US" sz="4400" dirty="0"/>
          </a:p>
        </p:txBody>
      </p:sp>
      <p:sp>
        <p:nvSpPr>
          <p:cNvPr id="22" name="Text 20"/>
          <p:cNvSpPr/>
          <p:nvPr/>
        </p:nvSpPr>
        <p:spPr>
          <a:xfrm>
            <a:off x="8412480" y="3657600"/>
            <a:ext cx="2971800" cy="320040"/>
          </a:xfrm>
          <a:prstGeom prst="rect">
            <a:avLst/>
          </a:prstGeom>
          <a:noFill/>
          <a:ln/>
        </p:spPr>
        <p:txBody>
          <a:bodyPr wrap="square" rtlCol="0" anchor="ctr"/>
          <a:lstStyle/>
          <a:p>
            <a:pPr marL="0" indent="0">
              <a:buNone/>
            </a:pPr>
            <a:endParaRPr lang="en-US" sz="1150" dirty="0">
              <a:solidFill>
                <a:srgbClr val="5A6B85"/>
              </a:solidFill>
              <a:latin typeface="Calibri" pitchFamily="34" charset="0"/>
              <a:ea typeface="Calibri" pitchFamily="34" charset="-122"/>
              <a:cs typeface="Calibri" pitchFamily="34" charset="-120"/>
            </a:endParaRPr>
          </a:p>
        </p:txBody>
      </p:sp>
      <p:sp>
        <p:nvSpPr>
          <p:cNvPr id="24" name="Text 22"/>
          <p:cNvSpPr/>
          <p:nvPr/>
        </p:nvSpPr>
        <p:spPr>
          <a:xfrm>
            <a:off x="841248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6</a:t>
            </a:r>
            <a:endParaRPr lang="en-US" sz="1000" dirty="0"/>
          </a:p>
        </p:txBody>
      </p:sp>
      <p:pic>
        <p:nvPicPr>
          <p:cNvPr id="26" name="Picture 25">
            <a:extLst>
              <a:ext uri="{FF2B5EF4-FFF2-40B4-BE49-F238E27FC236}">
                <a16:creationId xmlns:a16="http://schemas.microsoft.com/office/drawing/2014/main" id="{FD986744-CFEE-23D1-AEF3-395B2E5799F0}"/>
              </a:ext>
            </a:extLst>
          </p:cNvPr>
          <p:cNvPicPr>
            <a:picLocks noChangeAspect="1"/>
          </p:cNvPicPr>
          <p:nvPr/>
        </p:nvPicPr>
        <p:blipFill>
          <a:blip r:embed="rId3"/>
          <a:stretch>
            <a:fillRect/>
          </a:stretch>
        </p:blipFill>
        <p:spPr>
          <a:xfrm>
            <a:off x="2071653" y="1612512"/>
            <a:ext cx="8563122" cy="3420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8BC6D-D3B8-0FD6-A41E-BF6469A4851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03CF0E-C2E4-AC9E-9EDE-B7E19CA7B730}"/>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3B9B710B-DC0F-A592-E2AA-F995D556F090}"/>
              </a:ext>
            </a:extLst>
          </p:cNvPr>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Hasil Klasifikasi — P1: Resize + Grayscale </a:t>
            </a:r>
            <a:endParaRPr lang="en-US" sz="2700" dirty="0"/>
          </a:p>
        </p:txBody>
      </p:sp>
      <p:sp>
        <p:nvSpPr>
          <p:cNvPr id="5" name="Shape 3">
            <a:extLst>
              <a:ext uri="{FF2B5EF4-FFF2-40B4-BE49-F238E27FC236}">
                <a16:creationId xmlns:a16="http://schemas.microsoft.com/office/drawing/2014/main" id="{BAA0B38F-72BB-F5C9-113E-7BFE60EFEB5F}"/>
              </a:ext>
            </a:extLst>
          </p:cNvPr>
          <p:cNvSpPr/>
          <p:nvPr/>
        </p:nvSpPr>
        <p:spPr>
          <a:xfrm>
            <a:off x="54864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6" name="Text 4">
            <a:extLst>
              <a:ext uri="{FF2B5EF4-FFF2-40B4-BE49-F238E27FC236}">
                <a16:creationId xmlns:a16="http://schemas.microsoft.com/office/drawing/2014/main" id="{5E3AE7A7-744B-1552-6085-1C768863A9C7}"/>
              </a:ext>
            </a:extLst>
          </p:cNvPr>
          <p:cNvSpPr/>
          <p:nvPr/>
        </p:nvSpPr>
        <p:spPr>
          <a:xfrm>
            <a:off x="822960" y="2240280"/>
            <a:ext cx="297180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Random Forest</a:t>
            </a:r>
            <a:endParaRPr lang="en-US" sz="1700" dirty="0"/>
          </a:p>
        </p:txBody>
      </p:sp>
      <p:sp>
        <p:nvSpPr>
          <p:cNvPr id="7" name="Text 5">
            <a:extLst>
              <a:ext uri="{FF2B5EF4-FFF2-40B4-BE49-F238E27FC236}">
                <a16:creationId xmlns:a16="http://schemas.microsoft.com/office/drawing/2014/main" id="{2765612C-42D1-4129-992A-B2AD07150D27}"/>
              </a:ext>
            </a:extLst>
          </p:cNvPr>
          <p:cNvSpPr/>
          <p:nvPr/>
        </p:nvSpPr>
        <p:spPr>
          <a:xfrm>
            <a:off x="822960" y="2697480"/>
            <a:ext cx="2971800" cy="914400"/>
          </a:xfrm>
          <a:prstGeom prst="rect">
            <a:avLst/>
          </a:prstGeom>
          <a:noFill/>
          <a:ln/>
        </p:spPr>
        <p:txBody>
          <a:bodyPr wrap="square" rtlCol="0" anchor="ctr"/>
          <a:lstStyle/>
          <a:p>
            <a:pPr marL="0" indent="0">
              <a:buNone/>
            </a:pPr>
            <a:r>
              <a:rPr lang="en-US" sz="4400" b="1" dirty="0">
                <a:solidFill>
                  <a:srgbClr val="065A82"/>
                </a:solidFill>
                <a:latin typeface="Cambria" pitchFamily="34" charset="0"/>
                <a:ea typeface="Cambria" pitchFamily="34" charset="-122"/>
                <a:cs typeface="Cambria" pitchFamily="34" charset="-120"/>
              </a:rPr>
              <a:t>91.18%</a:t>
            </a:r>
            <a:endParaRPr lang="en-US" sz="4400" dirty="0"/>
          </a:p>
        </p:txBody>
      </p:sp>
      <p:sp>
        <p:nvSpPr>
          <p:cNvPr id="8" name="Text 6">
            <a:extLst>
              <a:ext uri="{FF2B5EF4-FFF2-40B4-BE49-F238E27FC236}">
                <a16:creationId xmlns:a16="http://schemas.microsoft.com/office/drawing/2014/main" id="{C44CBDAF-EFFC-5B96-0203-6AE4AB19CB77}"/>
              </a:ext>
            </a:extLst>
          </p:cNvPr>
          <p:cNvSpPr/>
          <p:nvPr/>
        </p:nvSpPr>
        <p:spPr>
          <a:xfrm>
            <a:off x="822960" y="3657600"/>
            <a:ext cx="2971800" cy="320040"/>
          </a:xfrm>
          <a:prstGeom prst="rect">
            <a:avLst/>
          </a:prstGeom>
          <a:noFill/>
          <a:ln/>
        </p:spPr>
        <p:txBody>
          <a:bodyPr wrap="square" rtlCol="0" anchor="ctr"/>
          <a:lstStyle/>
          <a:p>
            <a:pPr marL="0" indent="0">
              <a:buNone/>
            </a:pPr>
            <a:r>
              <a:rPr lang="en-US" sz="1150" dirty="0">
                <a:solidFill>
                  <a:srgbClr val="5A6B85"/>
                </a:solidFill>
                <a:latin typeface="Calibri" pitchFamily="34" charset="0"/>
                <a:ea typeface="Calibri" pitchFamily="34" charset="-122"/>
                <a:cs typeface="Calibri" pitchFamily="34" charset="-120"/>
              </a:rPr>
              <a:t>Accuracy (Testing)</a:t>
            </a:r>
            <a:endParaRPr lang="en-US" sz="1150" dirty="0"/>
          </a:p>
        </p:txBody>
      </p:sp>
      <p:sp>
        <p:nvSpPr>
          <p:cNvPr id="9" name="Shape 7">
            <a:extLst>
              <a:ext uri="{FF2B5EF4-FFF2-40B4-BE49-F238E27FC236}">
                <a16:creationId xmlns:a16="http://schemas.microsoft.com/office/drawing/2014/main" id="{BC615C14-D3BA-3A22-DD71-0A2C88FFABF2}"/>
              </a:ext>
            </a:extLst>
          </p:cNvPr>
          <p:cNvSpPr/>
          <p:nvPr/>
        </p:nvSpPr>
        <p:spPr>
          <a:xfrm>
            <a:off x="822960" y="4069080"/>
            <a:ext cx="2971800" cy="0"/>
          </a:xfrm>
          <a:prstGeom prst="line">
            <a:avLst/>
          </a:prstGeom>
          <a:noFill/>
          <a:ln w="12700">
            <a:solidFill>
              <a:srgbClr val="D5DEEC"/>
            </a:solidFill>
            <a:prstDash val="solid"/>
          </a:ln>
        </p:spPr>
      </p:sp>
      <p:sp>
        <p:nvSpPr>
          <p:cNvPr id="10" name="Text 8">
            <a:extLst>
              <a:ext uri="{FF2B5EF4-FFF2-40B4-BE49-F238E27FC236}">
                <a16:creationId xmlns:a16="http://schemas.microsoft.com/office/drawing/2014/main" id="{45C1868B-BCFA-BFF9-8E09-A25475734B29}"/>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Precision: 91.41%</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Recall: 91.18%</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F1-Score: 91.22%</a:t>
            </a: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325FDBFB-DBBF-260A-F370-C4162BEFCC63}"/>
              </a:ext>
            </a:extLst>
          </p:cNvPr>
          <p:cNvSpPr/>
          <p:nvPr/>
        </p:nvSpPr>
        <p:spPr>
          <a:xfrm>
            <a:off x="4343400" y="1965960"/>
            <a:ext cx="3520440" cy="3017520"/>
          </a:xfrm>
          <a:prstGeom prst="roundRect">
            <a:avLst>
              <a:gd name="adj" fmla="val 3030"/>
            </a:avLst>
          </a:prstGeom>
          <a:solidFill>
            <a:srgbClr val="065A82"/>
          </a:solidFill>
          <a:ln/>
          <a:effectLst>
            <a:outerShdw blurRad="101600" dist="38100" dir="5400000" algn="bl" rotWithShape="0">
              <a:srgbClr val="000000">
                <a:alpha val="10000"/>
              </a:srgbClr>
            </a:outerShdw>
          </a:effectLst>
        </p:spPr>
      </p:sp>
      <p:sp>
        <p:nvSpPr>
          <p:cNvPr id="12" name="Text 10">
            <a:extLst>
              <a:ext uri="{FF2B5EF4-FFF2-40B4-BE49-F238E27FC236}">
                <a16:creationId xmlns:a16="http://schemas.microsoft.com/office/drawing/2014/main" id="{106B5DD1-CF36-D2B2-20DD-DD15A27096A4}"/>
              </a:ext>
            </a:extLst>
          </p:cNvPr>
          <p:cNvSpPr/>
          <p:nvPr/>
        </p:nvSpPr>
        <p:spPr>
          <a:xfrm>
            <a:off x="4617720" y="2240280"/>
            <a:ext cx="2971800" cy="41148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SVM</a:t>
            </a:r>
            <a:endParaRPr lang="en-US" sz="1700" dirty="0"/>
          </a:p>
        </p:txBody>
      </p:sp>
      <p:sp>
        <p:nvSpPr>
          <p:cNvPr id="13" name="Text 11">
            <a:extLst>
              <a:ext uri="{FF2B5EF4-FFF2-40B4-BE49-F238E27FC236}">
                <a16:creationId xmlns:a16="http://schemas.microsoft.com/office/drawing/2014/main" id="{79447A10-DD04-7BAE-D093-EF1A567E45E9}"/>
              </a:ext>
            </a:extLst>
          </p:cNvPr>
          <p:cNvSpPr/>
          <p:nvPr/>
        </p:nvSpPr>
        <p:spPr>
          <a:xfrm>
            <a:off x="4617720" y="2697480"/>
            <a:ext cx="2971800" cy="914400"/>
          </a:xfrm>
          <a:prstGeom prst="rect">
            <a:avLst/>
          </a:prstGeom>
          <a:noFill/>
          <a:ln/>
        </p:spPr>
        <p:txBody>
          <a:bodyPr wrap="square" rtlCol="0" anchor="ctr"/>
          <a:lstStyle/>
          <a:p>
            <a:pPr marL="0" indent="0">
              <a:buNone/>
            </a:pPr>
            <a:r>
              <a:rPr lang="en-US" sz="4400" b="1" dirty="0">
                <a:solidFill>
                  <a:srgbClr val="F2A359"/>
                </a:solidFill>
                <a:latin typeface="Cambria" pitchFamily="34" charset="0"/>
                <a:ea typeface="Cambria" pitchFamily="34" charset="-122"/>
                <a:cs typeface="Cambria" pitchFamily="34" charset="-120"/>
              </a:rPr>
              <a:t>94.12%</a:t>
            </a:r>
            <a:endParaRPr lang="en-US" sz="4400" dirty="0"/>
          </a:p>
        </p:txBody>
      </p:sp>
      <p:sp>
        <p:nvSpPr>
          <p:cNvPr id="14" name="Text 12">
            <a:extLst>
              <a:ext uri="{FF2B5EF4-FFF2-40B4-BE49-F238E27FC236}">
                <a16:creationId xmlns:a16="http://schemas.microsoft.com/office/drawing/2014/main" id="{DAF1169D-40D7-6E88-4E76-ACC3EEBD93BE}"/>
              </a:ext>
            </a:extLst>
          </p:cNvPr>
          <p:cNvSpPr/>
          <p:nvPr/>
        </p:nvSpPr>
        <p:spPr>
          <a:xfrm>
            <a:off x="4617720" y="3657600"/>
            <a:ext cx="2971800" cy="320040"/>
          </a:xfrm>
          <a:prstGeom prst="rect">
            <a:avLst/>
          </a:prstGeom>
          <a:noFill/>
          <a:ln/>
        </p:spPr>
        <p:txBody>
          <a:bodyPr wrap="square" rtlCol="0" anchor="ctr"/>
          <a:lstStyle/>
          <a:p>
            <a:pPr marL="0" indent="0">
              <a:buNone/>
            </a:pPr>
            <a:r>
              <a:rPr lang="en-US" sz="1150" dirty="0">
                <a:solidFill>
                  <a:srgbClr val="EFF3FB"/>
                </a:solidFill>
                <a:latin typeface="Calibri" pitchFamily="34" charset="0"/>
                <a:ea typeface="Calibri" pitchFamily="34" charset="-122"/>
                <a:cs typeface="Calibri" pitchFamily="34" charset="-120"/>
              </a:rPr>
              <a:t>Accuracy (Testing)</a:t>
            </a:r>
            <a:endParaRPr lang="en-US" sz="1150" dirty="0"/>
          </a:p>
        </p:txBody>
      </p:sp>
      <p:sp>
        <p:nvSpPr>
          <p:cNvPr id="15" name="Shape 13">
            <a:extLst>
              <a:ext uri="{FF2B5EF4-FFF2-40B4-BE49-F238E27FC236}">
                <a16:creationId xmlns:a16="http://schemas.microsoft.com/office/drawing/2014/main" id="{79577F33-A7B1-B431-67B0-E072CE1BC4D9}"/>
              </a:ext>
            </a:extLst>
          </p:cNvPr>
          <p:cNvSpPr/>
          <p:nvPr/>
        </p:nvSpPr>
        <p:spPr>
          <a:xfrm>
            <a:off x="4617720" y="4069080"/>
            <a:ext cx="2971800" cy="0"/>
          </a:xfrm>
          <a:prstGeom prst="line">
            <a:avLst/>
          </a:prstGeom>
          <a:noFill/>
          <a:ln w="12700">
            <a:solidFill>
              <a:srgbClr val="3A4A85"/>
            </a:solidFill>
            <a:prstDash val="solid"/>
          </a:ln>
        </p:spPr>
      </p:sp>
      <p:sp>
        <p:nvSpPr>
          <p:cNvPr id="16" name="Text 14">
            <a:extLst>
              <a:ext uri="{FF2B5EF4-FFF2-40B4-BE49-F238E27FC236}">
                <a16:creationId xmlns:a16="http://schemas.microsoft.com/office/drawing/2014/main" id="{229510B0-1557-A61B-9F8F-74AA4FA1F1CD}"/>
              </a:ext>
            </a:extLst>
          </p:cNvPr>
          <p:cNvSpPr/>
          <p:nvPr/>
        </p:nvSpPr>
        <p:spPr>
          <a:xfrm>
            <a:off x="4617720" y="4206240"/>
            <a:ext cx="2971800" cy="731520"/>
          </a:xfrm>
          <a:prstGeom prst="rect">
            <a:avLst/>
          </a:prstGeom>
          <a:noFill/>
          <a:ln/>
        </p:spPr>
        <p:txBody>
          <a:bodyPr wrap="square" rtlCol="0" anchor="ctr"/>
          <a:lstStyle/>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Precision: 94.85%</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Recall: 94.12%</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F1-Score: 94.16%</a:t>
            </a:r>
            <a:endParaRPr lang="en-US" sz="1200" dirty="0">
              <a:latin typeface="Times New Roman" panose="02020603050405020304" pitchFamily="18" charset="0"/>
              <a:cs typeface="Times New Roman" panose="02020603050405020304" pitchFamily="18" charset="0"/>
            </a:endParaRPr>
          </a:p>
        </p:txBody>
      </p:sp>
      <p:sp>
        <p:nvSpPr>
          <p:cNvPr id="17" name="Shape 15">
            <a:extLst>
              <a:ext uri="{FF2B5EF4-FFF2-40B4-BE49-F238E27FC236}">
                <a16:creationId xmlns:a16="http://schemas.microsoft.com/office/drawing/2014/main" id="{22FA462B-309A-B1A8-65BE-88BECAC4039B}"/>
              </a:ext>
            </a:extLst>
          </p:cNvPr>
          <p:cNvSpPr/>
          <p:nvPr/>
        </p:nvSpPr>
        <p:spPr>
          <a:xfrm>
            <a:off x="6446520" y="2221992"/>
            <a:ext cx="1143000" cy="320040"/>
          </a:xfrm>
          <a:prstGeom prst="roundRect">
            <a:avLst>
              <a:gd name="adj" fmla="val 51429"/>
            </a:avLst>
          </a:prstGeom>
          <a:solidFill>
            <a:srgbClr val="F2A359"/>
          </a:solidFill>
          <a:ln/>
        </p:spPr>
      </p:sp>
      <p:sp>
        <p:nvSpPr>
          <p:cNvPr id="18" name="Text 16">
            <a:extLst>
              <a:ext uri="{FF2B5EF4-FFF2-40B4-BE49-F238E27FC236}">
                <a16:creationId xmlns:a16="http://schemas.microsoft.com/office/drawing/2014/main" id="{102D88B0-6FB8-FB31-38EA-131812ED0AF3}"/>
              </a:ext>
            </a:extLst>
          </p:cNvPr>
          <p:cNvSpPr/>
          <p:nvPr/>
        </p:nvSpPr>
        <p:spPr>
          <a:xfrm>
            <a:off x="6446520" y="2221992"/>
            <a:ext cx="1143000" cy="32004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TERBAIK</a:t>
            </a:r>
            <a:endParaRPr lang="en-US" sz="950" dirty="0"/>
          </a:p>
        </p:txBody>
      </p:sp>
      <p:sp>
        <p:nvSpPr>
          <p:cNvPr id="19" name="Shape 17">
            <a:extLst>
              <a:ext uri="{FF2B5EF4-FFF2-40B4-BE49-F238E27FC236}">
                <a16:creationId xmlns:a16="http://schemas.microsoft.com/office/drawing/2014/main" id="{51469F1F-E970-DD70-11BA-7C737244B931}"/>
              </a:ext>
            </a:extLst>
          </p:cNvPr>
          <p:cNvSpPr/>
          <p:nvPr/>
        </p:nvSpPr>
        <p:spPr>
          <a:xfrm>
            <a:off x="813816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20" name="Text 18">
            <a:extLst>
              <a:ext uri="{FF2B5EF4-FFF2-40B4-BE49-F238E27FC236}">
                <a16:creationId xmlns:a16="http://schemas.microsoft.com/office/drawing/2014/main" id="{D5695753-7B67-AFA6-CA78-F5AE979E0B5C}"/>
              </a:ext>
            </a:extLst>
          </p:cNvPr>
          <p:cNvSpPr/>
          <p:nvPr/>
        </p:nvSpPr>
        <p:spPr>
          <a:xfrm>
            <a:off x="8412480" y="2240280"/>
            <a:ext cx="297180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KNN</a:t>
            </a:r>
            <a:endParaRPr lang="en-US" sz="1700" dirty="0"/>
          </a:p>
        </p:txBody>
      </p:sp>
      <p:sp>
        <p:nvSpPr>
          <p:cNvPr id="21" name="Text 19">
            <a:extLst>
              <a:ext uri="{FF2B5EF4-FFF2-40B4-BE49-F238E27FC236}">
                <a16:creationId xmlns:a16="http://schemas.microsoft.com/office/drawing/2014/main" id="{7012C68C-BB10-5CDF-C827-F5EF9E10B315}"/>
              </a:ext>
            </a:extLst>
          </p:cNvPr>
          <p:cNvSpPr/>
          <p:nvPr/>
        </p:nvSpPr>
        <p:spPr>
          <a:xfrm>
            <a:off x="8412480" y="2697480"/>
            <a:ext cx="2971800" cy="914400"/>
          </a:xfrm>
          <a:prstGeom prst="rect">
            <a:avLst/>
          </a:prstGeom>
          <a:noFill/>
          <a:ln/>
        </p:spPr>
        <p:txBody>
          <a:bodyPr wrap="square" rtlCol="0" anchor="ctr"/>
          <a:lstStyle/>
          <a:p>
            <a:pPr marL="0" indent="0">
              <a:buNone/>
            </a:pPr>
            <a:r>
              <a:rPr lang="en-US" sz="4400" b="1" dirty="0">
                <a:solidFill>
                  <a:srgbClr val="065A82"/>
                </a:solidFill>
                <a:latin typeface="Cambria" pitchFamily="34" charset="0"/>
                <a:ea typeface="Cambria" pitchFamily="34" charset="-122"/>
                <a:cs typeface="Cambria" pitchFamily="34" charset="-120"/>
              </a:rPr>
              <a:t>91.18%</a:t>
            </a:r>
            <a:endParaRPr lang="en-US" sz="4400" dirty="0"/>
          </a:p>
        </p:txBody>
      </p:sp>
      <p:sp>
        <p:nvSpPr>
          <p:cNvPr id="22" name="Text 20">
            <a:extLst>
              <a:ext uri="{FF2B5EF4-FFF2-40B4-BE49-F238E27FC236}">
                <a16:creationId xmlns:a16="http://schemas.microsoft.com/office/drawing/2014/main" id="{AB50598B-E2CB-959D-1EA5-07E08BC346EB}"/>
              </a:ext>
            </a:extLst>
          </p:cNvPr>
          <p:cNvSpPr/>
          <p:nvPr/>
        </p:nvSpPr>
        <p:spPr>
          <a:xfrm>
            <a:off x="8412480" y="3657600"/>
            <a:ext cx="2971800" cy="320040"/>
          </a:xfrm>
          <a:prstGeom prst="rect">
            <a:avLst/>
          </a:prstGeom>
          <a:noFill/>
          <a:ln/>
        </p:spPr>
        <p:txBody>
          <a:bodyPr wrap="square" rtlCol="0" anchor="ctr"/>
          <a:lstStyle/>
          <a:p>
            <a:pPr marL="0" indent="0">
              <a:buNone/>
            </a:pPr>
            <a:r>
              <a:rPr lang="en-US" sz="1150" dirty="0">
                <a:solidFill>
                  <a:srgbClr val="5A6B85"/>
                </a:solidFill>
                <a:latin typeface="Calibri" pitchFamily="34" charset="0"/>
                <a:ea typeface="Calibri" pitchFamily="34" charset="-122"/>
                <a:cs typeface="Calibri" pitchFamily="34" charset="-120"/>
              </a:rPr>
              <a:t>Accuracy (Testing)</a:t>
            </a:r>
            <a:endParaRPr lang="en-US" sz="1150" dirty="0"/>
          </a:p>
        </p:txBody>
      </p:sp>
      <p:sp>
        <p:nvSpPr>
          <p:cNvPr id="23" name="Shape 21">
            <a:extLst>
              <a:ext uri="{FF2B5EF4-FFF2-40B4-BE49-F238E27FC236}">
                <a16:creationId xmlns:a16="http://schemas.microsoft.com/office/drawing/2014/main" id="{192C40F6-9F05-0126-8055-67DBCAD33E59}"/>
              </a:ext>
            </a:extLst>
          </p:cNvPr>
          <p:cNvSpPr/>
          <p:nvPr/>
        </p:nvSpPr>
        <p:spPr>
          <a:xfrm>
            <a:off x="8412480" y="4069080"/>
            <a:ext cx="2971800" cy="0"/>
          </a:xfrm>
          <a:prstGeom prst="line">
            <a:avLst/>
          </a:prstGeom>
          <a:noFill/>
          <a:ln w="12700">
            <a:solidFill>
              <a:srgbClr val="D5DEEC"/>
            </a:solidFill>
            <a:prstDash val="solid"/>
          </a:ln>
        </p:spPr>
      </p:sp>
      <p:sp>
        <p:nvSpPr>
          <p:cNvPr id="24" name="Text 22">
            <a:extLst>
              <a:ext uri="{FF2B5EF4-FFF2-40B4-BE49-F238E27FC236}">
                <a16:creationId xmlns:a16="http://schemas.microsoft.com/office/drawing/2014/main" id="{310EBB48-2BA8-B4D8-357F-C3BDA0279E31}"/>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Precision: 92.73%</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Recall: 91.18%</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F1-Score: 91.25%</a:t>
            </a: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41D5212A-A216-480F-BBD4-5F37DD3FB9D0}"/>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6</a:t>
            </a:r>
            <a:endParaRPr lang="en-US" sz="1000" dirty="0"/>
          </a:p>
        </p:txBody>
      </p:sp>
    </p:spTree>
    <p:extLst>
      <p:ext uri="{BB962C8B-B14F-4D97-AF65-F5344CB8AC3E}">
        <p14:creationId xmlns:p14="http://schemas.microsoft.com/office/powerpoint/2010/main" val="969009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F697F-AD32-84C0-1B8F-35BE2F9CE3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559134-B578-8D5C-AAD0-82DB72A99FC9}"/>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850C6248-BAD2-7B7C-E71F-94CBBAABF9A7}"/>
              </a:ext>
            </a:extLst>
          </p:cNvPr>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CONFUSION MATRIX — P1: Resize + Grayscale </a:t>
            </a:r>
            <a:endParaRPr lang="en-US" sz="2700" dirty="0"/>
          </a:p>
        </p:txBody>
      </p:sp>
      <p:sp>
        <p:nvSpPr>
          <p:cNvPr id="5" name="Shape 3">
            <a:extLst>
              <a:ext uri="{FF2B5EF4-FFF2-40B4-BE49-F238E27FC236}">
                <a16:creationId xmlns:a16="http://schemas.microsoft.com/office/drawing/2014/main" id="{362B2174-187E-C108-D5F0-EA33A1A993C3}"/>
              </a:ext>
            </a:extLst>
          </p:cNvPr>
          <p:cNvSpPr/>
          <p:nvPr/>
        </p:nvSpPr>
        <p:spPr>
          <a:xfrm>
            <a:off x="54864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txBody>
          <a:bodyPr/>
          <a:lstStyle/>
          <a:p>
            <a:endParaRPr lang="en-ID" dirty="0"/>
          </a:p>
        </p:txBody>
      </p:sp>
      <p:sp>
        <p:nvSpPr>
          <p:cNvPr id="6" name="Text 4">
            <a:extLst>
              <a:ext uri="{FF2B5EF4-FFF2-40B4-BE49-F238E27FC236}">
                <a16:creationId xmlns:a16="http://schemas.microsoft.com/office/drawing/2014/main" id="{973D2188-42DB-3C3C-711C-69DB6DE4C8AF}"/>
              </a:ext>
            </a:extLst>
          </p:cNvPr>
          <p:cNvSpPr/>
          <p:nvPr/>
        </p:nvSpPr>
        <p:spPr>
          <a:xfrm>
            <a:off x="822960" y="2240280"/>
            <a:ext cx="2971800" cy="411480"/>
          </a:xfrm>
          <a:prstGeom prst="rect">
            <a:avLst/>
          </a:prstGeom>
          <a:noFill/>
          <a:ln/>
        </p:spPr>
        <p:txBody>
          <a:bodyPr wrap="square" rtlCol="0" anchor="ctr"/>
          <a:lstStyle/>
          <a:p>
            <a:pPr marL="0" indent="0">
              <a:buNone/>
            </a:pPr>
            <a:endParaRPr lang="en-US" sz="1700" dirty="0"/>
          </a:p>
        </p:txBody>
      </p:sp>
      <p:sp>
        <p:nvSpPr>
          <p:cNvPr id="7" name="Text 5">
            <a:extLst>
              <a:ext uri="{FF2B5EF4-FFF2-40B4-BE49-F238E27FC236}">
                <a16:creationId xmlns:a16="http://schemas.microsoft.com/office/drawing/2014/main" id="{F572FAEC-FABF-321F-77B9-D4F6DC6B378F}"/>
              </a:ext>
            </a:extLst>
          </p:cNvPr>
          <p:cNvSpPr/>
          <p:nvPr/>
        </p:nvSpPr>
        <p:spPr>
          <a:xfrm>
            <a:off x="822960" y="2697480"/>
            <a:ext cx="2971800" cy="914400"/>
          </a:xfrm>
          <a:prstGeom prst="rect">
            <a:avLst/>
          </a:prstGeom>
          <a:noFill/>
          <a:ln/>
        </p:spPr>
        <p:txBody>
          <a:bodyPr wrap="square" rtlCol="0" anchor="ctr"/>
          <a:lstStyle/>
          <a:p>
            <a:pPr marL="0" indent="0">
              <a:buNone/>
            </a:pPr>
            <a:endParaRPr lang="en-US" sz="4400" dirty="0"/>
          </a:p>
        </p:txBody>
      </p:sp>
      <p:sp>
        <p:nvSpPr>
          <p:cNvPr id="8" name="Text 6">
            <a:extLst>
              <a:ext uri="{FF2B5EF4-FFF2-40B4-BE49-F238E27FC236}">
                <a16:creationId xmlns:a16="http://schemas.microsoft.com/office/drawing/2014/main" id="{182E7957-EBAD-BC8E-5A42-F0043BCE7539}"/>
              </a:ext>
            </a:extLst>
          </p:cNvPr>
          <p:cNvSpPr/>
          <p:nvPr/>
        </p:nvSpPr>
        <p:spPr>
          <a:xfrm>
            <a:off x="822960" y="3657600"/>
            <a:ext cx="2971800" cy="320040"/>
          </a:xfrm>
          <a:prstGeom prst="rect">
            <a:avLst/>
          </a:prstGeom>
          <a:noFill/>
          <a:ln/>
        </p:spPr>
        <p:txBody>
          <a:bodyPr wrap="square" rtlCol="0" anchor="ctr"/>
          <a:lstStyle/>
          <a:p>
            <a:pPr marL="0" indent="0">
              <a:buNone/>
            </a:pPr>
            <a:endParaRPr lang="en-US" sz="1150" dirty="0"/>
          </a:p>
        </p:txBody>
      </p:sp>
      <p:sp>
        <p:nvSpPr>
          <p:cNvPr id="10" name="Text 8">
            <a:extLst>
              <a:ext uri="{FF2B5EF4-FFF2-40B4-BE49-F238E27FC236}">
                <a16:creationId xmlns:a16="http://schemas.microsoft.com/office/drawing/2014/main" id="{7CDAFBF2-5C7C-E6BB-35DE-E62F0B0963A2}"/>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1323EE55-A9CB-0165-D301-0300AAA6C41E}"/>
              </a:ext>
            </a:extLst>
          </p:cNvPr>
          <p:cNvSpPr/>
          <p:nvPr/>
        </p:nvSpPr>
        <p:spPr>
          <a:xfrm>
            <a:off x="4343400" y="1965960"/>
            <a:ext cx="3520440" cy="3017520"/>
          </a:xfrm>
          <a:prstGeom prst="roundRect">
            <a:avLst>
              <a:gd name="adj" fmla="val 3030"/>
            </a:avLst>
          </a:prstGeom>
          <a:solidFill>
            <a:srgbClr val="065A82"/>
          </a:solidFill>
          <a:ln/>
          <a:effectLst>
            <a:outerShdw blurRad="101600" dist="38100" dir="5400000" algn="bl" rotWithShape="0">
              <a:srgbClr val="000000">
                <a:alpha val="10000"/>
              </a:srgbClr>
            </a:outerShdw>
          </a:effectLst>
        </p:spPr>
      </p:sp>
      <p:sp>
        <p:nvSpPr>
          <p:cNvPr id="12" name="Text 10">
            <a:extLst>
              <a:ext uri="{FF2B5EF4-FFF2-40B4-BE49-F238E27FC236}">
                <a16:creationId xmlns:a16="http://schemas.microsoft.com/office/drawing/2014/main" id="{0AB8F397-4A09-6CB0-3CAE-D555DC9A14C2}"/>
              </a:ext>
            </a:extLst>
          </p:cNvPr>
          <p:cNvSpPr/>
          <p:nvPr/>
        </p:nvSpPr>
        <p:spPr>
          <a:xfrm>
            <a:off x="4617720" y="2240280"/>
            <a:ext cx="2971800" cy="411480"/>
          </a:xfrm>
          <a:prstGeom prst="rect">
            <a:avLst/>
          </a:prstGeom>
          <a:noFill/>
          <a:ln/>
        </p:spPr>
        <p:txBody>
          <a:bodyPr wrap="square" rtlCol="0" anchor="ctr"/>
          <a:lstStyle/>
          <a:p>
            <a:pPr marL="0" indent="0">
              <a:buNone/>
            </a:pPr>
            <a:endParaRPr lang="en-US" sz="1700" dirty="0"/>
          </a:p>
        </p:txBody>
      </p:sp>
      <p:sp>
        <p:nvSpPr>
          <p:cNvPr id="13" name="Text 11">
            <a:extLst>
              <a:ext uri="{FF2B5EF4-FFF2-40B4-BE49-F238E27FC236}">
                <a16:creationId xmlns:a16="http://schemas.microsoft.com/office/drawing/2014/main" id="{3CF43D36-C9E1-4160-05A8-876851948A0B}"/>
              </a:ext>
            </a:extLst>
          </p:cNvPr>
          <p:cNvSpPr/>
          <p:nvPr/>
        </p:nvSpPr>
        <p:spPr>
          <a:xfrm>
            <a:off x="4617720" y="2697480"/>
            <a:ext cx="2971800" cy="914400"/>
          </a:xfrm>
          <a:prstGeom prst="rect">
            <a:avLst/>
          </a:prstGeom>
          <a:noFill/>
          <a:ln/>
        </p:spPr>
        <p:txBody>
          <a:bodyPr wrap="square" rtlCol="0" anchor="ctr"/>
          <a:lstStyle/>
          <a:p>
            <a:pPr marL="0" indent="0">
              <a:buNone/>
            </a:pPr>
            <a:endParaRPr lang="en-US" sz="4400" dirty="0"/>
          </a:p>
        </p:txBody>
      </p:sp>
      <p:sp>
        <p:nvSpPr>
          <p:cNvPr id="14" name="Text 12">
            <a:extLst>
              <a:ext uri="{FF2B5EF4-FFF2-40B4-BE49-F238E27FC236}">
                <a16:creationId xmlns:a16="http://schemas.microsoft.com/office/drawing/2014/main" id="{A711CCEE-3AF0-BA16-578F-0C3A0F112FC6}"/>
              </a:ext>
            </a:extLst>
          </p:cNvPr>
          <p:cNvSpPr/>
          <p:nvPr/>
        </p:nvSpPr>
        <p:spPr>
          <a:xfrm>
            <a:off x="4617720" y="3657600"/>
            <a:ext cx="2971800" cy="320040"/>
          </a:xfrm>
          <a:prstGeom prst="rect">
            <a:avLst/>
          </a:prstGeom>
          <a:noFill/>
          <a:ln/>
        </p:spPr>
        <p:txBody>
          <a:bodyPr wrap="square" rtlCol="0" anchor="ctr"/>
          <a:lstStyle/>
          <a:p>
            <a:pPr marL="0" indent="0">
              <a:buNone/>
            </a:pPr>
            <a:endParaRPr lang="en-US" sz="1150" dirty="0"/>
          </a:p>
        </p:txBody>
      </p:sp>
      <p:sp>
        <p:nvSpPr>
          <p:cNvPr id="16" name="Text 14">
            <a:extLst>
              <a:ext uri="{FF2B5EF4-FFF2-40B4-BE49-F238E27FC236}">
                <a16:creationId xmlns:a16="http://schemas.microsoft.com/office/drawing/2014/main" id="{388D8A30-3180-350B-EADD-3F47EE320172}"/>
              </a:ext>
            </a:extLst>
          </p:cNvPr>
          <p:cNvSpPr/>
          <p:nvPr/>
        </p:nvSpPr>
        <p:spPr>
          <a:xfrm>
            <a:off x="461772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DBA617B1-A389-81A6-5D5D-48849091A318}"/>
              </a:ext>
            </a:extLst>
          </p:cNvPr>
          <p:cNvSpPr/>
          <p:nvPr/>
        </p:nvSpPr>
        <p:spPr>
          <a:xfrm>
            <a:off x="6446520" y="2221992"/>
            <a:ext cx="1143000" cy="320040"/>
          </a:xfrm>
          <a:prstGeom prst="rect">
            <a:avLst/>
          </a:prstGeom>
          <a:noFill/>
          <a:ln/>
        </p:spPr>
        <p:txBody>
          <a:bodyPr wrap="square" rtlCol="0" anchor="ctr"/>
          <a:lstStyle/>
          <a:p>
            <a:pPr marL="0" indent="0" algn="ctr">
              <a:buNone/>
            </a:pPr>
            <a:endParaRPr lang="en-US" sz="950" b="1" dirty="0">
              <a:solidFill>
                <a:srgbClr val="21295C"/>
              </a:solidFill>
              <a:latin typeface="Calibri" pitchFamily="34" charset="0"/>
              <a:ea typeface="Calibri" pitchFamily="34" charset="-122"/>
              <a:cs typeface="Calibri" pitchFamily="34" charset="-120"/>
            </a:endParaRPr>
          </a:p>
        </p:txBody>
      </p:sp>
      <p:sp>
        <p:nvSpPr>
          <p:cNvPr id="19" name="Shape 17">
            <a:extLst>
              <a:ext uri="{FF2B5EF4-FFF2-40B4-BE49-F238E27FC236}">
                <a16:creationId xmlns:a16="http://schemas.microsoft.com/office/drawing/2014/main" id="{5EA00CB0-AB61-1F88-6016-8A347F16DE81}"/>
              </a:ext>
            </a:extLst>
          </p:cNvPr>
          <p:cNvSpPr/>
          <p:nvPr/>
        </p:nvSpPr>
        <p:spPr>
          <a:xfrm>
            <a:off x="813816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20" name="Text 18">
            <a:extLst>
              <a:ext uri="{FF2B5EF4-FFF2-40B4-BE49-F238E27FC236}">
                <a16:creationId xmlns:a16="http://schemas.microsoft.com/office/drawing/2014/main" id="{BF294FAA-9091-AA31-A32D-A64550E66D63}"/>
              </a:ext>
            </a:extLst>
          </p:cNvPr>
          <p:cNvSpPr/>
          <p:nvPr/>
        </p:nvSpPr>
        <p:spPr>
          <a:xfrm>
            <a:off x="8412480" y="2240280"/>
            <a:ext cx="2971800" cy="411480"/>
          </a:xfrm>
          <a:prstGeom prst="rect">
            <a:avLst/>
          </a:prstGeom>
          <a:noFill/>
          <a:ln/>
        </p:spPr>
        <p:txBody>
          <a:bodyPr wrap="square" rtlCol="0" anchor="ctr"/>
          <a:lstStyle/>
          <a:p>
            <a:pPr marL="0" indent="0">
              <a:buNone/>
            </a:pPr>
            <a:endParaRPr lang="en-US" sz="1700" dirty="0"/>
          </a:p>
        </p:txBody>
      </p:sp>
      <p:sp>
        <p:nvSpPr>
          <p:cNvPr id="21" name="Text 19">
            <a:extLst>
              <a:ext uri="{FF2B5EF4-FFF2-40B4-BE49-F238E27FC236}">
                <a16:creationId xmlns:a16="http://schemas.microsoft.com/office/drawing/2014/main" id="{EE585591-C12C-2514-ED05-97694DE9D0A3}"/>
              </a:ext>
            </a:extLst>
          </p:cNvPr>
          <p:cNvSpPr/>
          <p:nvPr/>
        </p:nvSpPr>
        <p:spPr>
          <a:xfrm>
            <a:off x="8412480" y="2697480"/>
            <a:ext cx="2971800" cy="914400"/>
          </a:xfrm>
          <a:prstGeom prst="rect">
            <a:avLst/>
          </a:prstGeom>
          <a:noFill/>
          <a:ln/>
        </p:spPr>
        <p:txBody>
          <a:bodyPr wrap="square" rtlCol="0" anchor="ctr"/>
          <a:lstStyle/>
          <a:p>
            <a:pPr marL="0" indent="0">
              <a:buNone/>
            </a:pPr>
            <a:endParaRPr lang="en-US" sz="4400" dirty="0"/>
          </a:p>
        </p:txBody>
      </p:sp>
      <p:sp>
        <p:nvSpPr>
          <p:cNvPr id="22" name="Text 20">
            <a:extLst>
              <a:ext uri="{FF2B5EF4-FFF2-40B4-BE49-F238E27FC236}">
                <a16:creationId xmlns:a16="http://schemas.microsoft.com/office/drawing/2014/main" id="{934E623F-2682-E70C-2883-AB1DC35A04F7}"/>
              </a:ext>
            </a:extLst>
          </p:cNvPr>
          <p:cNvSpPr/>
          <p:nvPr/>
        </p:nvSpPr>
        <p:spPr>
          <a:xfrm>
            <a:off x="8412480" y="3657600"/>
            <a:ext cx="2971800" cy="320040"/>
          </a:xfrm>
          <a:prstGeom prst="rect">
            <a:avLst/>
          </a:prstGeom>
          <a:noFill/>
          <a:ln/>
        </p:spPr>
        <p:txBody>
          <a:bodyPr wrap="square" rtlCol="0" anchor="ctr"/>
          <a:lstStyle/>
          <a:p>
            <a:pPr marL="0" indent="0">
              <a:buNone/>
            </a:pPr>
            <a:endParaRPr lang="en-US" sz="1150" dirty="0"/>
          </a:p>
        </p:txBody>
      </p:sp>
      <p:sp>
        <p:nvSpPr>
          <p:cNvPr id="24" name="Text 22">
            <a:extLst>
              <a:ext uri="{FF2B5EF4-FFF2-40B4-BE49-F238E27FC236}">
                <a16:creationId xmlns:a16="http://schemas.microsoft.com/office/drawing/2014/main" id="{937B2E17-BB7A-C9B3-CC66-B065D32063C5}"/>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9C877127-8F52-1810-35BE-7B05E66EF167}"/>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7</a:t>
            </a:r>
            <a:endParaRPr lang="en-US" sz="1000" dirty="0"/>
          </a:p>
        </p:txBody>
      </p:sp>
      <p:pic>
        <p:nvPicPr>
          <p:cNvPr id="26" name="Picture 25">
            <a:extLst>
              <a:ext uri="{FF2B5EF4-FFF2-40B4-BE49-F238E27FC236}">
                <a16:creationId xmlns:a16="http://schemas.microsoft.com/office/drawing/2014/main" id="{75ABC217-5B48-FA27-3BD1-DEE69F76DB5D}"/>
              </a:ext>
            </a:extLst>
          </p:cNvPr>
          <p:cNvPicPr>
            <a:picLocks noChangeAspect="1"/>
          </p:cNvPicPr>
          <p:nvPr/>
        </p:nvPicPr>
        <p:blipFill>
          <a:blip r:embed="rId3"/>
          <a:stretch>
            <a:fillRect/>
          </a:stretch>
        </p:blipFill>
        <p:spPr>
          <a:xfrm>
            <a:off x="650088" y="2158271"/>
            <a:ext cx="3317543" cy="2632897"/>
          </a:xfrm>
          <a:prstGeom prst="rect">
            <a:avLst/>
          </a:prstGeom>
        </p:spPr>
      </p:pic>
      <p:pic>
        <p:nvPicPr>
          <p:cNvPr id="28" name="Picture 27">
            <a:extLst>
              <a:ext uri="{FF2B5EF4-FFF2-40B4-BE49-F238E27FC236}">
                <a16:creationId xmlns:a16="http://schemas.microsoft.com/office/drawing/2014/main" id="{65F170F5-F130-E43A-2F33-72675543C2E7}"/>
              </a:ext>
            </a:extLst>
          </p:cNvPr>
          <p:cNvPicPr>
            <a:picLocks noChangeAspect="1"/>
          </p:cNvPicPr>
          <p:nvPr/>
        </p:nvPicPr>
        <p:blipFill>
          <a:blip r:embed="rId4"/>
          <a:stretch>
            <a:fillRect/>
          </a:stretch>
        </p:blipFill>
        <p:spPr>
          <a:xfrm>
            <a:off x="4441624" y="2158271"/>
            <a:ext cx="3308752" cy="2616646"/>
          </a:xfrm>
          <a:prstGeom prst="rect">
            <a:avLst/>
          </a:prstGeom>
        </p:spPr>
      </p:pic>
      <p:pic>
        <p:nvPicPr>
          <p:cNvPr id="30" name="Picture 29">
            <a:extLst>
              <a:ext uri="{FF2B5EF4-FFF2-40B4-BE49-F238E27FC236}">
                <a16:creationId xmlns:a16="http://schemas.microsoft.com/office/drawing/2014/main" id="{56C8F402-EF8F-E938-E2D5-E12B616D6B46}"/>
              </a:ext>
            </a:extLst>
          </p:cNvPr>
          <p:cNvPicPr>
            <a:picLocks noChangeAspect="1"/>
          </p:cNvPicPr>
          <p:nvPr/>
        </p:nvPicPr>
        <p:blipFill>
          <a:blip r:embed="rId5"/>
          <a:stretch>
            <a:fillRect/>
          </a:stretch>
        </p:blipFill>
        <p:spPr>
          <a:xfrm>
            <a:off x="8292864" y="2137410"/>
            <a:ext cx="3256008" cy="2583180"/>
          </a:xfrm>
          <a:prstGeom prst="rect">
            <a:avLst/>
          </a:prstGeom>
        </p:spPr>
      </p:pic>
    </p:spTree>
    <p:extLst>
      <p:ext uri="{BB962C8B-B14F-4D97-AF65-F5344CB8AC3E}">
        <p14:creationId xmlns:p14="http://schemas.microsoft.com/office/powerpoint/2010/main" val="1483199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455A0-092F-F9B2-9BA4-B7BD27E7AF9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EA0B37-9A20-500B-C03D-7BA09EE38CFD}"/>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59A535A1-545F-EC0B-6794-6E3FDD4FB57E}"/>
              </a:ext>
            </a:extLst>
          </p:cNvPr>
          <p:cNvSpPr/>
          <p:nvPr/>
        </p:nvSpPr>
        <p:spPr>
          <a:xfrm>
            <a:off x="548640" y="777240"/>
            <a:ext cx="10515600" cy="640080"/>
          </a:xfrm>
          <a:prstGeom prst="rect">
            <a:avLst/>
          </a:prstGeom>
          <a:noFill/>
          <a:ln/>
        </p:spPr>
        <p:txBody>
          <a:bodyPr wrap="square" rtlCol="0" anchor="ctr"/>
          <a:lstStyle/>
          <a:p>
            <a:r>
              <a:rPr lang="en-US" sz="2700" b="1" dirty="0">
                <a:solidFill>
                  <a:srgbClr val="1E2761"/>
                </a:solidFill>
                <a:latin typeface="Cambria" pitchFamily="34" charset="0"/>
                <a:ea typeface="Cambria" pitchFamily="34" charset="-122"/>
                <a:cs typeface="Cambria" pitchFamily="34" charset="-120"/>
              </a:rPr>
              <a:t>P2: Baseline (+ Median Filter + Histogram </a:t>
            </a:r>
            <a:r>
              <a:rPr lang="en-US" sz="2700" b="1" dirty="0" err="1">
                <a:solidFill>
                  <a:srgbClr val="1E2761"/>
                </a:solidFill>
                <a:latin typeface="Cambria" pitchFamily="34" charset="0"/>
                <a:ea typeface="Cambria" pitchFamily="34" charset="-122"/>
                <a:cs typeface="Cambria" pitchFamily="34" charset="-120"/>
              </a:rPr>
              <a:t>Ekualisasi</a:t>
            </a:r>
            <a:r>
              <a:rPr lang="en-US" sz="2700" b="1" dirty="0">
                <a:solidFill>
                  <a:srgbClr val="1E2761"/>
                </a:solidFill>
                <a:latin typeface="Cambria" pitchFamily="34" charset="0"/>
                <a:ea typeface="Cambria" pitchFamily="34" charset="-122"/>
                <a:cs typeface="Cambria" pitchFamily="34" charset="-120"/>
              </a:rPr>
              <a:t>)</a:t>
            </a:r>
            <a:endParaRPr lang="en-US" sz="2700" dirty="0"/>
          </a:p>
        </p:txBody>
      </p:sp>
      <p:sp>
        <p:nvSpPr>
          <p:cNvPr id="5" name="Shape 3">
            <a:extLst>
              <a:ext uri="{FF2B5EF4-FFF2-40B4-BE49-F238E27FC236}">
                <a16:creationId xmlns:a16="http://schemas.microsoft.com/office/drawing/2014/main" id="{26B792C9-B43A-6319-234C-1FDF60395BF2}"/>
              </a:ext>
            </a:extLst>
          </p:cNvPr>
          <p:cNvSpPr/>
          <p:nvPr/>
        </p:nvSpPr>
        <p:spPr>
          <a:xfrm>
            <a:off x="634481" y="1579206"/>
            <a:ext cx="11066107" cy="3487316"/>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6" name="Text 4">
            <a:extLst>
              <a:ext uri="{FF2B5EF4-FFF2-40B4-BE49-F238E27FC236}">
                <a16:creationId xmlns:a16="http://schemas.microsoft.com/office/drawing/2014/main" id="{D6E52B71-C4D6-6F34-D719-A33D90587DBC}"/>
              </a:ext>
            </a:extLst>
          </p:cNvPr>
          <p:cNvSpPr/>
          <p:nvPr/>
        </p:nvSpPr>
        <p:spPr>
          <a:xfrm>
            <a:off x="822960" y="2240280"/>
            <a:ext cx="2971800" cy="411480"/>
          </a:xfrm>
          <a:prstGeom prst="rect">
            <a:avLst/>
          </a:prstGeom>
          <a:noFill/>
          <a:ln/>
        </p:spPr>
        <p:txBody>
          <a:bodyPr wrap="square" rtlCol="0" anchor="ctr"/>
          <a:lstStyle/>
          <a:p>
            <a:pPr marL="0" indent="0">
              <a:buNone/>
            </a:pPr>
            <a:endParaRPr lang="en-US" sz="1700" dirty="0"/>
          </a:p>
        </p:txBody>
      </p:sp>
      <p:sp>
        <p:nvSpPr>
          <p:cNvPr id="7" name="Text 5">
            <a:extLst>
              <a:ext uri="{FF2B5EF4-FFF2-40B4-BE49-F238E27FC236}">
                <a16:creationId xmlns:a16="http://schemas.microsoft.com/office/drawing/2014/main" id="{A3E9556C-473D-12B1-64B6-CDCDC4D6B3E2}"/>
              </a:ext>
            </a:extLst>
          </p:cNvPr>
          <p:cNvSpPr/>
          <p:nvPr/>
        </p:nvSpPr>
        <p:spPr>
          <a:xfrm>
            <a:off x="822960" y="2697480"/>
            <a:ext cx="2971800" cy="914400"/>
          </a:xfrm>
          <a:prstGeom prst="rect">
            <a:avLst/>
          </a:prstGeom>
          <a:noFill/>
          <a:ln/>
        </p:spPr>
        <p:txBody>
          <a:bodyPr wrap="square" rtlCol="0" anchor="ctr"/>
          <a:lstStyle/>
          <a:p>
            <a:pPr marL="0" indent="0">
              <a:buNone/>
            </a:pPr>
            <a:endParaRPr lang="en-US" sz="4400" dirty="0"/>
          </a:p>
        </p:txBody>
      </p:sp>
      <p:sp>
        <p:nvSpPr>
          <p:cNvPr id="8" name="Text 6">
            <a:extLst>
              <a:ext uri="{FF2B5EF4-FFF2-40B4-BE49-F238E27FC236}">
                <a16:creationId xmlns:a16="http://schemas.microsoft.com/office/drawing/2014/main" id="{0769EDAA-74F2-E9E4-46C1-2DEDE5C5DE15}"/>
              </a:ext>
            </a:extLst>
          </p:cNvPr>
          <p:cNvSpPr/>
          <p:nvPr/>
        </p:nvSpPr>
        <p:spPr>
          <a:xfrm>
            <a:off x="822960" y="3657600"/>
            <a:ext cx="2971800" cy="320040"/>
          </a:xfrm>
          <a:prstGeom prst="rect">
            <a:avLst/>
          </a:prstGeom>
          <a:noFill/>
          <a:ln/>
        </p:spPr>
        <p:txBody>
          <a:bodyPr wrap="square" rtlCol="0" anchor="ctr"/>
          <a:lstStyle/>
          <a:p>
            <a:pPr marL="0" indent="0">
              <a:buNone/>
            </a:pPr>
            <a:endParaRPr lang="en-US" sz="1150" dirty="0"/>
          </a:p>
        </p:txBody>
      </p:sp>
      <p:sp>
        <p:nvSpPr>
          <p:cNvPr id="10" name="Text 8">
            <a:extLst>
              <a:ext uri="{FF2B5EF4-FFF2-40B4-BE49-F238E27FC236}">
                <a16:creationId xmlns:a16="http://schemas.microsoft.com/office/drawing/2014/main" id="{6B504C3B-3ED5-1883-3D9F-6E99EEFCA64C}"/>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7ED2EB15-5FEA-BC41-1433-8636E17F7EB0}"/>
              </a:ext>
            </a:extLst>
          </p:cNvPr>
          <p:cNvSpPr/>
          <p:nvPr/>
        </p:nvSpPr>
        <p:spPr>
          <a:xfrm>
            <a:off x="634481" y="5215812"/>
            <a:ext cx="11066108" cy="1127138"/>
          </a:xfrm>
          <a:prstGeom prst="roundRect">
            <a:avLst>
              <a:gd name="adj" fmla="val 3030"/>
            </a:avLst>
          </a:prstGeom>
          <a:solidFill>
            <a:srgbClr val="065A82"/>
          </a:solidFill>
          <a:ln/>
          <a:effectLst>
            <a:outerShdw blurRad="101600" dist="38100" dir="5400000" algn="bl" rotWithShape="0">
              <a:srgbClr val="000000">
                <a:alpha val="10000"/>
              </a:srgbClr>
            </a:outerShdw>
          </a:effectLst>
        </p:spPr>
      </p:sp>
      <p:sp>
        <p:nvSpPr>
          <p:cNvPr id="12" name="Text 10">
            <a:extLst>
              <a:ext uri="{FF2B5EF4-FFF2-40B4-BE49-F238E27FC236}">
                <a16:creationId xmlns:a16="http://schemas.microsoft.com/office/drawing/2014/main" id="{1288F07D-3362-512C-435A-C653E9BBC6EE}"/>
              </a:ext>
            </a:extLst>
          </p:cNvPr>
          <p:cNvSpPr/>
          <p:nvPr/>
        </p:nvSpPr>
        <p:spPr>
          <a:xfrm>
            <a:off x="4617720" y="2240280"/>
            <a:ext cx="2971800" cy="411480"/>
          </a:xfrm>
          <a:prstGeom prst="rect">
            <a:avLst/>
          </a:prstGeom>
          <a:noFill/>
          <a:ln/>
        </p:spPr>
        <p:txBody>
          <a:bodyPr wrap="square" rtlCol="0" anchor="ctr"/>
          <a:lstStyle/>
          <a:p>
            <a:pPr marL="0" indent="0">
              <a:buNone/>
            </a:pPr>
            <a:endParaRPr lang="en-US" sz="1700" dirty="0"/>
          </a:p>
        </p:txBody>
      </p:sp>
      <p:sp>
        <p:nvSpPr>
          <p:cNvPr id="13" name="Text 11">
            <a:extLst>
              <a:ext uri="{FF2B5EF4-FFF2-40B4-BE49-F238E27FC236}">
                <a16:creationId xmlns:a16="http://schemas.microsoft.com/office/drawing/2014/main" id="{B42882D9-3BF4-3E25-F6C5-F0364D36D501}"/>
              </a:ext>
            </a:extLst>
          </p:cNvPr>
          <p:cNvSpPr/>
          <p:nvPr/>
        </p:nvSpPr>
        <p:spPr>
          <a:xfrm>
            <a:off x="4617720" y="2697480"/>
            <a:ext cx="2971800" cy="914400"/>
          </a:xfrm>
          <a:prstGeom prst="rect">
            <a:avLst/>
          </a:prstGeom>
          <a:noFill/>
          <a:ln/>
        </p:spPr>
        <p:txBody>
          <a:bodyPr wrap="square" rtlCol="0" anchor="ctr"/>
          <a:lstStyle/>
          <a:p>
            <a:pPr marL="0" indent="0">
              <a:buNone/>
            </a:pPr>
            <a:endParaRPr lang="en-US" sz="4400" dirty="0"/>
          </a:p>
        </p:txBody>
      </p:sp>
      <p:sp>
        <p:nvSpPr>
          <p:cNvPr id="14" name="Text 12">
            <a:extLst>
              <a:ext uri="{FF2B5EF4-FFF2-40B4-BE49-F238E27FC236}">
                <a16:creationId xmlns:a16="http://schemas.microsoft.com/office/drawing/2014/main" id="{E7B5E5E8-6FF7-1FCF-C557-075758C30D4F}"/>
              </a:ext>
            </a:extLst>
          </p:cNvPr>
          <p:cNvSpPr/>
          <p:nvPr/>
        </p:nvSpPr>
        <p:spPr>
          <a:xfrm>
            <a:off x="4617720" y="3657600"/>
            <a:ext cx="2971800" cy="320040"/>
          </a:xfrm>
          <a:prstGeom prst="rect">
            <a:avLst/>
          </a:prstGeom>
          <a:noFill/>
          <a:ln/>
        </p:spPr>
        <p:txBody>
          <a:bodyPr wrap="square" rtlCol="0" anchor="ctr"/>
          <a:lstStyle/>
          <a:p>
            <a:pPr marL="0" indent="0">
              <a:buNone/>
            </a:pPr>
            <a:endParaRPr lang="en-US" sz="1150" dirty="0"/>
          </a:p>
        </p:txBody>
      </p:sp>
      <p:sp>
        <p:nvSpPr>
          <p:cNvPr id="16" name="Text 14">
            <a:extLst>
              <a:ext uri="{FF2B5EF4-FFF2-40B4-BE49-F238E27FC236}">
                <a16:creationId xmlns:a16="http://schemas.microsoft.com/office/drawing/2014/main" id="{C0705436-9B06-25D3-31EE-E39C5D58F388}"/>
              </a:ext>
            </a:extLst>
          </p:cNvPr>
          <p:cNvSpPr/>
          <p:nvPr/>
        </p:nvSpPr>
        <p:spPr>
          <a:xfrm>
            <a:off x="822959" y="5295122"/>
            <a:ext cx="10877629" cy="978030"/>
          </a:xfrm>
          <a:prstGeom prst="rect">
            <a:avLst/>
          </a:prstGeom>
          <a:noFill/>
          <a:ln/>
        </p:spPr>
        <p:txBody>
          <a:bodyPr wrap="square" rtlCol="0" anchor="ctr"/>
          <a:lstStyle/>
          <a:p>
            <a:pPr>
              <a:spcAft>
                <a:spcPts val="300"/>
              </a:spcAft>
            </a:pPr>
            <a:r>
              <a:rPr lang="en-ID" sz="1200" dirty="0">
                <a:solidFill>
                  <a:schemeClr val="bg1"/>
                </a:solidFill>
                <a:latin typeface="Times New Roman" panose="02020603050405020304" pitchFamily="18" charset="0"/>
                <a:cs typeface="Times New Roman" panose="02020603050405020304" pitchFamily="18" charset="0"/>
              </a:rPr>
              <a:t>ANALISIS</a:t>
            </a:r>
          </a:p>
          <a:p>
            <a:pPr>
              <a:spcAft>
                <a:spcPts val="300"/>
              </a:spcAft>
            </a:pPr>
            <a:r>
              <a:rPr lang="en-ID" sz="1200" dirty="0">
                <a:solidFill>
                  <a:schemeClr val="bg1"/>
                </a:solidFill>
                <a:latin typeface="Times New Roman" panose="02020603050405020304" pitchFamily="18" charset="0"/>
                <a:cs typeface="Times New Roman" panose="02020603050405020304" pitchFamily="18" charset="0"/>
              </a:rPr>
              <a:t>Median Filter </a:t>
            </a:r>
            <a:r>
              <a:rPr lang="en-ID" sz="1200" dirty="0" err="1">
                <a:solidFill>
                  <a:schemeClr val="bg1"/>
                </a:solidFill>
                <a:latin typeface="Times New Roman" panose="02020603050405020304" pitchFamily="18" charset="0"/>
                <a:cs typeface="Times New Roman" panose="02020603050405020304" pitchFamily="18" charset="0"/>
              </a:rPr>
              <a:t>digunakan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untuk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mengurangi</a:t>
            </a:r>
            <a:r>
              <a:rPr lang="en-ID" sz="1200" dirty="0">
                <a:solidFill>
                  <a:schemeClr val="bg1"/>
                </a:solidFill>
                <a:latin typeface="Times New Roman" panose="02020603050405020304" pitchFamily="18" charset="0"/>
                <a:cs typeface="Times New Roman" panose="02020603050405020304" pitchFamily="18" charset="0"/>
              </a:rPr>
              <a:t> noise </a:t>
            </a:r>
            <a:r>
              <a:rPr lang="en-ID" sz="1200" dirty="0" err="1">
                <a:solidFill>
                  <a:schemeClr val="bg1"/>
                </a:solidFill>
                <a:latin typeface="Times New Roman" panose="02020603050405020304" pitchFamily="18" charset="0"/>
                <a:cs typeface="Times New Roman" panose="02020603050405020304" pitchFamily="18" charset="0"/>
              </a:rPr>
              <a:t>tanpa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menghilangkan</a:t>
            </a:r>
            <a:r>
              <a:rPr lang="en-ID" sz="1200" dirty="0">
                <a:solidFill>
                  <a:schemeClr val="bg1"/>
                </a:solidFill>
                <a:latin typeface="Times New Roman" panose="02020603050405020304" pitchFamily="18" charset="0"/>
                <a:cs typeface="Times New Roman" panose="02020603050405020304" pitchFamily="18" charset="0"/>
              </a:rPr>
              <a:t> detail </a:t>
            </a:r>
            <a:r>
              <a:rPr lang="en-ID" sz="1200" dirty="0" err="1">
                <a:solidFill>
                  <a:schemeClr val="bg1"/>
                </a:solidFill>
                <a:latin typeface="Times New Roman" panose="02020603050405020304" pitchFamily="18" charset="0"/>
                <a:cs typeface="Times New Roman" panose="02020603050405020304" pitchFamily="18" charset="0"/>
              </a:rPr>
              <a:t>tekstur</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sedangkan</a:t>
            </a:r>
            <a:r>
              <a:rPr lang="en-ID" sz="1200" dirty="0">
                <a:solidFill>
                  <a:schemeClr val="bg1"/>
                </a:solidFill>
                <a:latin typeface="Times New Roman" panose="02020603050405020304" pitchFamily="18" charset="0"/>
                <a:cs typeface="Times New Roman" panose="02020603050405020304" pitchFamily="18" charset="0"/>
              </a:rPr>
              <a:t> Histogram Equalization </a:t>
            </a:r>
            <a:r>
              <a:rPr lang="en-ID" sz="1200" dirty="0" err="1">
                <a:solidFill>
                  <a:schemeClr val="bg1"/>
                </a:solidFill>
                <a:latin typeface="Times New Roman" panose="02020603050405020304" pitchFamily="18" charset="0"/>
                <a:cs typeface="Times New Roman" panose="02020603050405020304" pitchFamily="18" charset="0"/>
              </a:rPr>
              <a:t>meningkatkan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kontras</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citra</a:t>
            </a:r>
            <a:r>
              <a:rPr lang="en-ID" sz="1200" dirty="0">
                <a:solidFill>
                  <a:schemeClr val="bg1"/>
                </a:solidFill>
                <a:latin typeface="Times New Roman" panose="02020603050405020304" pitchFamily="18" charset="0"/>
                <a:cs typeface="Times New Roman" panose="02020603050405020304" pitchFamily="18" charset="0"/>
              </a:rPr>
              <a:t> agar </a:t>
            </a:r>
            <a:r>
              <a:rPr lang="en-ID" sz="1200" dirty="0" err="1">
                <a:solidFill>
                  <a:schemeClr val="bg1"/>
                </a:solidFill>
                <a:latin typeface="Times New Roman" panose="02020603050405020304" pitchFamily="18" charset="0"/>
                <a:cs typeface="Times New Roman" panose="02020603050405020304" pitchFamily="18" charset="0"/>
              </a:rPr>
              <a:t>pola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tekstur</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lebih</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jelas</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sehingga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fitur</a:t>
            </a:r>
            <a:r>
              <a:rPr lang="en-ID" sz="1200" dirty="0">
                <a:solidFill>
                  <a:schemeClr val="bg1"/>
                </a:solidFill>
                <a:latin typeface="Times New Roman" panose="02020603050405020304" pitchFamily="18" charset="0"/>
                <a:cs typeface="Times New Roman" panose="02020603050405020304" pitchFamily="18" charset="0"/>
              </a:rPr>
              <a:t> yang </a:t>
            </a:r>
            <a:r>
              <a:rPr lang="en-ID" sz="1200" dirty="0" err="1">
                <a:solidFill>
                  <a:schemeClr val="bg1"/>
                </a:solidFill>
                <a:latin typeface="Times New Roman" panose="02020603050405020304" pitchFamily="18" charset="0"/>
                <a:cs typeface="Times New Roman" panose="02020603050405020304" pitchFamily="18" charset="0"/>
              </a:rPr>
              <a:t>diekstraksi</a:t>
            </a:r>
            <a:r>
              <a:rPr lang="en-ID" sz="1200" dirty="0">
                <a:solidFill>
                  <a:schemeClr val="bg1"/>
                </a:solidFill>
                <a:latin typeface="Times New Roman" panose="02020603050405020304" pitchFamily="18" charset="0"/>
                <a:cs typeface="Times New Roman" panose="02020603050405020304" pitchFamily="18" charset="0"/>
              </a:rPr>
              <a:t> oleh GLCM </a:t>
            </a:r>
            <a:r>
              <a:rPr lang="en-ID" sz="1200" dirty="0" err="1">
                <a:solidFill>
                  <a:schemeClr val="bg1"/>
                </a:solidFill>
                <a:latin typeface="Times New Roman" panose="02020603050405020304" pitchFamily="18" charset="0"/>
                <a:cs typeface="Times New Roman" panose="02020603050405020304" pitchFamily="18" charset="0"/>
              </a:rPr>
              <a:t>menjadi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lebih</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informatif</a:t>
            </a:r>
            <a:r>
              <a:rPr lang="en-ID" sz="1200" dirty="0">
                <a:solidFill>
                  <a:schemeClr val="bg1"/>
                </a:solidFill>
                <a:latin typeface="Times New Roman" panose="02020603050405020304" pitchFamily="18" charset="0"/>
                <a:cs typeface="Times New Roman" panose="02020603050405020304" pitchFamily="18" charset="0"/>
              </a:rPr>
              <a:t>.</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28D6C95C-DA9E-9424-7D56-93285E3B1B3C}"/>
              </a:ext>
            </a:extLst>
          </p:cNvPr>
          <p:cNvSpPr/>
          <p:nvPr/>
        </p:nvSpPr>
        <p:spPr>
          <a:xfrm>
            <a:off x="6446520" y="2221992"/>
            <a:ext cx="1143000" cy="320040"/>
          </a:xfrm>
          <a:prstGeom prst="rect">
            <a:avLst/>
          </a:prstGeom>
          <a:noFill/>
          <a:ln/>
        </p:spPr>
        <p:txBody>
          <a:bodyPr wrap="square" rtlCol="0" anchor="ctr"/>
          <a:lstStyle/>
          <a:p>
            <a:pPr marL="0" indent="0" algn="ctr">
              <a:buNone/>
            </a:pPr>
            <a:endParaRPr lang="en-US" sz="950" dirty="0"/>
          </a:p>
        </p:txBody>
      </p:sp>
      <p:sp>
        <p:nvSpPr>
          <p:cNvPr id="20" name="Text 18">
            <a:extLst>
              <a:ext uri="{FF2B5EF4-FFF2-40B4-BE49-F238E27FC236}">
                <a16:creationId xmlns:a16="http://schemas.microsoft.com/office/drawing/2014/main" id="{FC4731AC-7C7B-F490-00A4-AA801EFC6F71}"/>
              </a:ext>
            </a:extLst>
          </p:cNvPr>
          <p:cNvSpPr/>
          <p:nvPr/>
        </p:nvSpPr>
        <p:spPr>
          <a:xfrm>
            <a:off x="8412480" y="2240280"/>
            <a:ext cx="2971800" cy="411480"/>
          </a:xfrm>
          <a:prstGeom prst="rect">
            <a:avLst/>
          </a:prstGeom>
          <a:noFill/>
          <a:ln/>
        </p:spPr>
        <p:txBody>
          <a:bodyPr wrap="square" rtlCol="0" anchor="ctr"/>
          <a:lstStyle/>
          <a:p>
            <a:pPr marL="0" indent="0">
              <a:buNone/>
            </a:pPr>
            <a:endParaRPr lang="en-US" sz="1700" dirty="0"/>
          </a:p>
        </p:txBody>
      </p:sp>
      <p:sp>
        <p:nvSpPr>
          <p:cNvPr id="21" name="Text 19">
            <a:extLst>
              <a:ext uri="{FF2B5EF4-FFF2-40B4-BE49-F238E27FC236}">
                <a16:creationId xmlns:a16="http://schemas.microsoft.com/office/drawing/2014/main" id="{8CA4E615-F5A0-8EB4-4042-1765F44C043C}"/>
              </a:ext>
            </a:extLst>
          </p:cNvPr>
          <p:cNvSpPr/>
          <p:nvPr/>
        </p:nvSpPr>
        <p:spPr>
          <a:xfrm>
            <a:off x="8412480" y="2697480"/>
            <a:ext cx="2971800" cy="914400"/>
          </a:xfrm>
          <a:prstGeom prst="rect">
            <a:avLst/>
          </a:prstGeom>
          <a:noFill/>
          <a:ln/>
        </p:spPr>
        <p:txBody>
          <a:bodyPr wrap="square" rtlCol="0" anchor="ctr"/>
          <a:lstStyle/>
          <a:p>
            <a:pPr marL="0" indent="0">
              <a:buNone/>
            </a:pPr>
            <a:endParaRPr lang="en-US" sz="4400" dirty="0"/>
          </a:p>
        </p:txBody>
      </p:sp>
      <p:sp>
        <p:nvSpPr>
          <p:cNvPr id="22" name="Text 20">
            <a:extLst>
              <a:ext uri="{FF2B5EF4-FFF2-40B4-BE49-F238E27FC236}">
                <a16:creationId xmlns:a16="http://schemas.microsoft.com/office/drawing/2014/main" id="{92D69300-48A5-B792-F336-C5D99A748B49}"/>
              </a:ext>
            </a:extLst>
          </p:cNvPr>
          <p:cNvSpPr/>
          <p:nvPr/>
        </p:nvSpPr>
        <p:spPr>
          <a:xfrm>
            <a:off x="8412480" y="3657600"/>
            <a:ext cx="2971800" cy="320040"/>
          </a:xfrm>
          <a:prstGeom prst="rect">
            <a:avLst/>
          </a:prstGeom>
          <a:noFill/>
          <a:ln/>
        </p:spPr>
        <p:txBody>
          <a:bodyPr wrap="square" rtlCol="0" anchor="ctr"/>
          <a:lstStyle/>
          <a:p>
            <a:pPr marL="0" indent="0">
              <a:buNone/>
            </a:pPr>
            <a:endParaRPr lang="en-US" sz="1150" dirty="0">
              <a:solidFill>
                <a:srgbClr val="5A6B85"/>
              </a:solidFill>
              <a:latin typeface="Calibri" pitchFamily="34" charset="0"/>
              <a:ea typeface="Calibri" pitchFamily="34" charset="-122"/>
              <a:cs typeface="Calibri" pitchFamily="34" charset="-120"/>
            </a:endParaRPr>
          </a:p>
        </p:txBody>
      </p:sp>
      <p:sp>
        <p:nvSpPr>
          <p:cNvPr id="24" name="Text 22">
            <a:extLst>
              <a:ext uri="{FF2B5EF4-FFF2-40B4-BE49-F238E27FC236}">
                <a16:creationId xmlns:a16="http://schemas.microsoft.com/office/drawing/2014/main" id="{FD368403-0D4B-12DF-6960-8E23218C9413}"/>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DE7F9769-1286-4CA4-3F62-720B73DE9DC2}"/>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6</a:t>
            </a:r>
            <a:endParaRPr lang="en-US" sz="1000" dirty="0"/>
          </a:p>
        </p:txBody>
      </p:sp>
      <p:pic>
        <p:nvPicPr>
          <p:cNvPr id="9" name="Picture 8">
            <a:extLst>
              <a:ext uri="{FF2B5EF4-FFF2-40B4-BE49-F238E27FC236}">
                <a16:creationId xmlns:a16="http://schemas.microsoft.com/office/drawing/2014/main" id="{521B989A-62EE-47B3-CD34-D7D5F619D731}"/>
              </a:ext>
            </a:extLst>
          </p:cNvPr>
          <p:cNvPicPr>
            <a:picLocks noChangeAspect="1"/>
          </p:cNvPicPr>
          <p:nvPr/>
        </p:nvPicPr>
        <p:blipFill>
          <a:blip r:embed="rId3"/>
          <a:stretch>
            <a:fillRect/>
          </a:stretch>
        </p:blipFill>
        <p:spPr>
          <a:xfrm>
            <a:off x="2127015" y="1741486"/>
            <a:ext cx="7771365" cy="3133364"/>
          </a:xfrm>
          <a:prstGeom prst="rect">
            <a:avLst/>
          </a:prstGeom>
        </p:spPr>
      </p:pic>
    </p:spTree>
    <p:extLst>
      <p:ext uri="{BB962C8B-B14F-4D97-AF65-F5344CB8AC3E}">
        <p14:creationId xmlns:p14="http://schemas.microsoft.com/office/powerpoint/2010/main" val="3931211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D49B8-71EA-DDD8-8F12-652506C69DD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65AE8D9-14D6-9954-F860-7DBC5D5CCB3B}"/>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024F3632-16A8-321A-A35E-C331314FBBCF}"/>
              </a:ext>
            </a:extLst>
          </p:cNvPr>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Hasil Klasifikasi — P2: Baseline (+ Median Filter + Histogram </a:t>
            </a:r>
            <a:r>
              <a:rPr lang="en-US" sz="2700" b="1" dirty="0" err="1">
                <a:solidFill>
                  <a:srgbClr val="1E2761"/>
                </a:solidFill>
                <a:latin typeface="Cambria" pitchFamily="34" charset="0"/>
                <a:ea typeface="Cambria" pitchFamily="34" charset="-122"/>
                <a:cs typeface="Cambria" pitchFamily="34" charset="-120"/>
              </a:rPr>
              <a:t>Ekualisasi</a:t>
            </a:r>
            <a:r>
              <a:rPr lang="en-US" sz="2700" b="1" dirty="0">
                <a:solidFill>
                  <a:srgbClr val="1E2761"/>
                </a:solidFill>
                <a:latin typeface="Cambria" pitchFamily="34" charset="0"/>
                <a:ea typeface="Cambria" pitchFamily="34" charset="-122"/>
                <a:cs typeface="Cambria" pitchFamily="34" charset="-120"/>
              </a:rPr>
              <a:t>) </a:t>
            </a:r>
            <a:endParaRPr lang="en-US" sz="2700" dirty="0"/>
          </a:p>
        </p:txBody>
      </p:sp>
      <p:sp>
        <p:nvSpPr>
          <p:cNvPr id="5" name="Shape 3">
            <a:extLst>
              <a:ext uri="{FF2B5EF4-FFF2-40B4-BE49-F238E27FC236}">
                <a16:creationId xmlns:a16="http://schemas.microsoft.com/office/drawing/2014/main" id="{C565A669-5D5F-9776-3E0A-6C633FD0A8AA}"/>
              </a:ext>
            </a:extLst>
          </p:cNvPr>
          <p:cNvSpPr/>
          <p:nvPr/>
        </p:nvSpPr>
        <p:spPr>
          <a:xfrm>
            <a:off x="54864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6" name="Text 4">
            <a:extLst>
              <a:ext uri="{FF2B5EF4-FFF2-40B4-BE49-F238E27FC236}">
                <a16:creationId xmlns:a16="http://schemas.microsoft.com/office/drawing/2014/main" id="{BBB08676-BC53-A03B-0B58-2D847A33DED1}"/>
              </a:ext>
            </a:extLst>
          </p:cNvPr>
          <p:cNvSpPr/>
          <p:nvPr/>
        </p:nvSpPr>
        <p:spPr>
          <a:xfrm>
            <a:off x="822960" y="2240280"/>
            <a:ext cx="297180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Random Forest</a:t>
            </a:r>
            <a:endParaRPr lang="en-US" sz="1700" dirty="0"/>
          </a:p>
        </p:txBody>
      </p:sp>
      <p:sp>
        <p:nvSpPr>
          <p:cNvPr id="7" name="Text 5">
            <a:extLst>
              <a:ext uri="{FF2B5EF4-FFF2-40B4-BE49-F238E27FC236}">
                <a16:creationId xmlns:a16="http://schemas.microsoft.com/office/drawing/2014/main" id="{48BF36A4-9AAB-6D94-F7CE-FB3E0F850C20}"/>
              </a:ext>
            </a:extLst>
          </p:cNvPr>
          <p:cNvSpPr/>
          <p:nvPr/>
        </p:nvSpPr>
        <p:spPr>
          <a:xfrm>
            <a:off x="822960" y="2697480"/>
            <a:ext cx="2971800" cy="914400"/>
          </a:xfrm>
          <a:prstGeom prst="rect">
            <a:avLst/>
          </a:prstGeom>
          <a:noFill/>
          <a:ln/>
        </p:spPr>
        <p:txBody>
          <a:bodyPr wrap="square" rtlCol="0" anchor="ctr"/>
          <a:lstStyle/>
          <a:p>
            <a:pPr marL="0" indent="0">
              <a:buNone/>
            </a:pPr>
            <a:r>
              <a:rPr lang="en-US" sz="4400" b="1" dirty="0">
                <a:solidFill>
                  <a:srgbClr val="065A82"/>
                </a:solidFill>
                <a:latin typeface="Cambria" pitchFamily="34" charset="0"/>
                <a:ea typeface="Cambria" pitchFamily="34" charset="-122"/>
                <a:cs typeface="Cambria" pitchFamily="34" charset="-120"/>
              </a:rPr>
              <a:t>79.41%</a:t>
            </a:r>
            <a:endParaRPr lang="en-US" sz="4400" dirty="0"/>
          </a:p>
        </p:txBody>
      </p:sp>
      <p:sp>
        <p:nvSpPr>
          <p:cNvPr id="8" name="Text 6">
            <a:extLst>
              <a:ext uri="{FF2B5EF4-FFF2-40B4-BE49-F238E27FC236}">
                <a16:creationId xmlns:a16="http://schemas.microsoft.com/office/drawing/2014/main" id="{EA6247E4-A9E7-0837-FB17-3A7DC5100B7B}"/>
              </a:ext>
            </a:extLst>
          </p:cNvPr>
          <p:cNvSpPr/>
          <p:nvPr/>
        </p:nvSpPr>
        <p:spPr>
          <a:xfrm>
            <a:off x="822960" y="3657600"/>
            <a:ext cx="2971800" cy="320040"/>
          </a:xfrm>
          <a:prstGeom prst="rect">
            <a:avLst/>
          </a:prstGeom>
          <a:noFill/>
          <a:ln/>
        </p:spPr>
        <p:txBody>
          <a:bodyPr wrap="square" rtlCol="0" anchor="ctr"/>
          <a:lstStyle/>
          <a:p>
            <a:pPr marL="0" indent="0">
              <a:buNone/>
            </a:pPr>
            <a:r>
              <a:rPr lang="en-US" sz="1150" dirty="0">
                <a:solidFill>
                  <a:srgbClr val="5A6B85"/>
                </a:solidFill>
                <a:latin typeface="Calibri" pitchFamily="34" charset="0"/>
                <a:ea typeface="Calibri" pitchFamily="34" charset="-122"/>
                <a:cs typeface="Calibri" pitchFamily="34" charset="-120"/>
              </a:rPr>
              <a:t>Accuracy (Testing)</a:t>
            </a:r>
            <a:endParaRPr lang="en-US" sz="1150" dirty="0"/>
          </a:p>
        </p:txBody>
      </p:sp>
      <p:sp>
        <p:nvSpPr>
          <p:cNvPr id="9" name="Shape 7">
            <a:extLst>
              <a:ext uri="{FF2B5EF4-FFF2-40B4-BE49-F238E27FC236}">
                <a16:creationId xmlns:a16="http://schemas.microsoft.com/office/drawing/2014/main" id="{D6222657-D94D-B10F-CF83-C9D152441E16}"/>
              </a:ext>
            </a:extLst>
          </p:cNvPr>
          <p:cNvSpPr/>
          <p:nvPr/>
        </p:nvSpPr>
        <p:spPr>
          <a:xfrm>
            <a:off x="822960" y="4069080"/>
            <a:ext cx="2971800" cy="0"/>
          </a:xfrm>
          <a:prstGeom prst="line">
            <a:avLst/>
          </a:prstGeom>
          <a:noFill/>
          <a:ln w="12700">
            <a:solidFill>
              <a:srgbClr val="D5DEEC"/>
            </a:solidFill>
            <a:prstDash val="solid"/>
          </a:ln>
        </p:spPr>
      </p:sp>
      <p:sp>
        <p:nvSpPr>
          <p:cNvPr id="10" name="Text 8">
            <a:extLst>
              <a:ext uri="{FF2B5EF4-FFF2-40B4-BE49-F238E27FC236}">
                <a16:creationId xmlns:a16="http://schemas.microsoft.com/office/drawing/2014/main" id="{079B9114-B825-8F6B-E491-FA128A089B8C}"/>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Precision: 83.08%</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Recall: 79.41%</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F1-Score: 79.50%</a:t>
            </a: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2EAC3255-A780-BF5C-7A67-AAC87292DFF2}"/>
              </a:ext>
            </a:extLst>
          </p:cNvPr>
          <p:cNvSpPr/>
          <p:nvPr/>
        </p:nvSpPr>
        <p:spPr>
          <a:xfrm>
            <a:off x="4343400" y="1965960"/>
            <a:ext cx="3520440" cy="3017520"/>
          </a:xfrm>
          <a:prstGeom prst="roundRect">
            <a:avLst>
              <a:gd name="adj" fmla="val 3030"/>
            </a:avLst>
          </a:prstGeom>
          <a:solidFill>
            <a:srgbClr val="065A82"/>
          </a:solidFill>
          <a:ln/>
          <a:effectLst>
            <a:outerShdw blurRad="101600" dist="38100" dir="5400000" algn="bl" rotWithShape="0">
              <a:srgbClr val="000000">
                <a:alpha val="10000"/>
              </a:srgbClr>
            </a:outerShdw>
          </a:effectLst>
        </p:spPr>
      </p:sp>
      <p:sp>
        <p:nvSpPr>
          <p:cNvPr id="12" name="Text 10">
            <a:extLst>
              <a:ext uri="{FF2B5EF4-FFF2-40B4-BE49-F238E27FC236}">
                <a16:creationId xmlns:a16="http://schemas.microsoft.com/office/drawing/2014/main" id="{75AD9795-2696-58F2-9203-C6A08A0ED06F}"/>
              </a:ext>
            </a:extLst>
          </p:cNvPr>
          <p:cNvSpPr/>
          <p:nvPr/>
        </p:nvSpPr>
        <p:spPr>
          <a:xfrm>
            <a:off x="4617720" y="2240280"/>
            <a:ext cx="2971800" cy="41148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SVM</a:t>
            </a:r>
            <a:endParaRPr lang="en-US" sz="1700" dirty="0"/>
          </a:p>
        </p:txBody>
      </p:sp>
      <p:sp>
        <p:nvSpPr>
          <p:cNvPr id="13" name="Text 11">
            <a:extLst>
              <a:ext uri="{FF2B5EF4-FFF2-40B4-BE49-F238E27FC236}">
                <a16:creationId xmlns:a16="http://schemas.microsoft.com/office/drawing/2014/main" id="{1867EB4D-0130-CDD0-A0F6-18358E16C56B}"/>
              </a:ext>
            </a:extLst>
          </p:cNvPr>
          <p:cNvSpPr/>
          <p:nvPr/>
        </p:nvSpPr>
        <p:spPr>
          <a:xfrm>
            <a:off x="4617720" y="2697480"/>
            <a:ext cx="2971800" cy="914400"/>
          </a:xfrm>
          <a:prstGeom prst="rect">
            <a:avLst/>
          </a:prstGeom>
          <a:noFill/>
          <a:ln/>
        </p:spPr>
        <p:txBody>
          <a:bodyPr wrap="square" rtlCol="0" anchor="ctr"/>
          <a:lstStyle/>
          <a:p>
            <a:pPr marL="0" indent="0">
              <a:buNone/>
            </a:pPr>
            <a:r>
              <a:rPr lang="en-US" sz="4400" b="1" dirty="0">
                <a:solidFill>
                  <a:srgbClr val="F2A359"/>
                </a:solidFill>
                <a:latin typeface="Cambria" pitchFamily="34" charset="0"/>
                <a:ea typeface="Cambria" pitchFamily="34" charset="-122"/>
                <a:cs typeface="Cambria" pitchFamily="34" charset="-120"/>
              </a:rPr>
              <a:t>88.24%</a:t>
            </a:r>
            <a:endParaRPr lang="en-US" sz="4400" dirty="0"/>
          </a:p>
        </p:txBody>
      </p:sp>
      <p:sp>
        <p:nvSpPr>
          <p:cNvPr id="14" name="Text 12">
            <a:extLst>
              <a:ext uri="{FF2B5EF4-FFF2-40B4-BE49-F238E27FC236}">
                <a16:creationId xmlns:a16="http://schemas.microsoft.com/office/drawing/2014/main" id="{C6565CA2-E81A-2355-520F-82DD82681134}"/>
              </a:ext>
            </a:extLst>
          </p:cNvPr>
          <p:cNvSpPr/>
          <p:nvPr/>
        </p:nvSpPr>
        <p:spPr>
          <a:xfrm>
            <a:off x="4617720" y="3657600"/>
            <a:ext cx="2971800" cy="320040"/>
          </a:xfrm>
          <a:prstGeom prst="rect">
            <a:avLst/>
          </a:prstGeom>
          <a:noFill/>
          <a:ln/>
        </p:spPr>
        <p:txBody>
          <a:bodyPr wrap="square" rtlCol="0" anchor="ctr"/>
          <a:lstStyle/>
          <a:p>
            <a:pPr marL="0" indent="0">
              <a:buNone/>
            </a:pPr>
            <a:r>
              <a:rPr lang="en-US" sz="1150" dirty="0">
                <a:solidFill>
                  <a:srgbClr val="EFF3FB"/>
                </a:solidFill>
                <a:latin typeface="Calibri" pitchFamily="34" charset="0"/>
                <a:ea typeface="Calibri" pitchFamily="34" charset="-122"/>
                <a:cs typeface="Calibri" pitchFamily="34" charset="-120"/>
              </a:rPr>
              <a:t>Accuracy (Testing)</a:t>
            </a:r>
            <a:endParaRPr lang="en-US" sz="1150" dirty="0"/>
          </a:p>
        </p:txBody>
      </p:sp>
      <p:sp>
        <p:nvSpPr>
          <p:cNvPr id="15" name="Shape 13">
            <a:extLst>
              <a:ext uri="{FF2B5EF4-FFF2-40B4-BE49-F238E27FC236}">
                <a16:creationId xmlns:a16="http://schemas.microsoft.com/office/drawing/2014/main" id="{F5622166-F2EE-D500-54D3-94E55911C963}"/>
              </a:ext>
            </a:extLst>
          </p:cNvPr>
          <p:cNvSpPr/>
          <p:nvPr/>
        </p:nvSpPr>
        <p:spPr>
          <a:xfrm>
            <a:off x="4617720" y="4069080"/>
            <a:ext cx="2971800" cy="0"/>
          </a:xfrm>
          <a:prstGeom prst="line">
            <a:avLst/>
          </a:prstGeom>
          <a:noFill/>
          <a:ln w="12700">
            <a:solidFill>
              <a:srgbClr val="3A4A85"/>
            </a:solidFill>
            <a:prstDash val="solid"/>
          </a:ln>
        </p:spPr>
      </p:sp>
      <p:sp>
        <p:nvSpPr>
          <p:cNvPr id="16" name="Text 14">
            <a:extLst>
              <a:ext uri="{FF2B5EF4-FFF2-40B4-BE49-F238E27FC236}">
                <a16:creationId xmlns:a16="http://schemas.microsoft.com/office/drawing/2014/main" id="{4715BB40-4AEA-0B23-958A-46910B12D609}"/>
              </a:ext>
            </a:extLst>
          </p:cNvPr>
          <p:cNvSpPr/>
          <p:nvPr/>
        </p:nvSpPr>
        <p:spPr>
          <a:xfrm>
            <a:off x="4617720" y="4206240"/>
            <a:ext cx="2971800" cy="731520"/>
          </a:xfrm>
          <a:prstGeom prst="rect">
            <a:avLst/>
          </a:prstGeom>
          <a:noFill/>
          <a:ln/>
        </p:spPr>
        <p:txBody>
          <a:bodyPr wrap="square" rtlCol="0" anchor="ctr"/>
          <a:lstStyle/>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Precision: 90.85%</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Recall: 88.24%</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F1-Score: 88.32%</a:t>
            </a:r>
            <a:endParaRPr lang="en-US" sz="1200" dirty="0">
              <a:latin typeface="Times New Roman" panose="02020603050405020304" pitchFamily="18" charset="0"/>
              <a:cs typeface="Times New Roman" panose="02020603050405020304" pitchFamily="18" charset="0"/>
            </a:endParaRPr>
          </a:p>
        </p:txBody>
      </p:sp>
      <p:sp>
        <p:nvSpPr>
          <p:cNvPr id="17" name="Shape 15">
            <a:extLst>
              <a:ext uri="{FF2B5EF4-FFF2-40B4-BE49-F238E27FC236}">
                <a16:creationId xmlns:a16="http://schemas.microsoft.com/office/drawing/2014/main" id="{96055D4E-C68A-F139-A117-F8FC68203DEE}"/>
              </a:ext>
            </a:extLst>
          </p:cNvPr>
          <p:cNvSpPr/>
          <p:nvPr/>
        </p:nvSpPr>
        <p:spPr>
          <a:xfrm>
            <a:off x="6446520" y="2221992"/>
            <a:ext cx="1143000" cy="320040"/>
          </a:xfrm>
          <a:prstGeom prst="roundRect">
            <a:avLst>
              <a:gd name="adj" fmla="val 51429"/>
            </a:avLst>
          </a:prstGeom>
          <a:solidFill>
            <a:srgbClr val="F2A359"/>
          </a:solidFill>
          <a:ln/>
        </p:spPr>
      </p:sp>
      <p:sp>
        <p:nvSpPr>
          <p:cNvPr id="18" name="Text 16">
            <a:extLst>
              <a:ext uri="{FF2B5EF4-FFF2-40B4-BE49-F238E27FC236}">
                <a16:creationId xmlns:a16="http://schemas.microsoft.com/office/drawing/2014/main" id="{CAB8C813-82C3-2642-FCE4-C42ADD3DD139}"/>
              </a:ext>
            </a:extLst>
          </p:cNvPr>
          <p:cNvSpPr/>
          <p:nvPr/>
        </p:nvSpPr>
        <p:spPr>
          <a:xfrm>
            <a:off x="6446520" y="2221992"/>
            <a:ext cx="1143000" cy="32004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TERBAIK</a:t>
            </a:r>
            <a:endParaRPr lang="en-US" sz="950" dirty="0"/>
          </a:p>
        </p:txBody>
      </p:sp>
      <p:sp>
        <p:nvSpPr>
          <p:cNvPr id="19" name="Shape 17">
            <a:extLst>
              <a:ext uri="{FF2B5EF4-FFF2-40B4-BE49-F238E27FC236}">
                <a16:creationId xmlns:a16="http://schemas.microsoft.com/office/drawing/2014/main" id="{5619BEBA-0510-6264-83E7-08661566E2BC}"/>
              </a:ext>
            </a:extLst>
          </p:cNvPr>
          <p:cNvSpPr/>
          <p:nvPr/>
        </p:nvSpPr>
        <p:spPr>
          <a:xfrm>
            <a:off x="813816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20" name="Text 18">
            <a:extLst>
              <a:ext uri="{FF2B5EF4-FFF2-40B4-BE49-F238E27FC236}">
                <a16:creationId xmlns:a16="http://schemas.microsoft.com/office/drawing/2014/main" id="{B8BAFB71-D971-9B8B-D154-28C57E412E5B}"/>
              </a:ext>
            </a:extLst>
          </p:cNvPr>
          <p:cNvSpPr/>
          <p:nvPr/>
        </p:nvSpPr>
        <p:spPr>
          <a:xfrm>
            <a:off x="8412480" y="2240280"/>
            <a:ext cx="297180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KNN</a:t>
            </a:r>
            <a:endParaRPr lang="en-US" sz="1700" dirty="0"/>
          </a:p>
        </p:txBody>
      </p:sp>
      <p:sp>
        <p:nvSpPr>
          <p:cNvPr id="21" name="Text 19">
            <a:extLst>
              <a:ext uri="{FF2B5EF4-FFF2-40B4-BE49-F238E27FC236}">
                <a16:creationId xmlns:a16="http://schemas.microsoft.com/office/drawing/2014/main" id="{668B3429-707B-53B3-0BBA-F464803D0B25}"/>
              </a:ext>
            </a:extLst>
          </p:cNvPr>
          <p:cNvSpPr/>
          <p:nvPr/>
        </p:nvSpPr>
        <p:spPr>
          <a:xfrm>
            <a:off x="8412480" y="2697480"/>
            <a:ext cx="2971800" cy="914400"/>
          </a:xfrm>
          <a:prstGeom prst="rect">
            <a:avLst/>
          </a:prstGeom>
          <a:noFill/>
          <a:ln/>
        </p:spPr>
        <p:txBody>
          <a:bodyPr wrap="square" rtlCol="0" anchor="ctr"/>
          <a:lstStyle/>
          <a:p>
            <a:pPr marL="0" indent="0">
              <a:buNone/>
            </a:pPr>
            <a:r>
              <a:rPr lang="en-US" sz="4400" b="1" dirty="0">
                <a:solidFill>
                  <a:srgbClr val="065A82"/>
                </a:solidFill>
                <a:latin typeface="Cambria" pitchFamily="34" charset="0"/>
                <a:ea typeface="Cambria" pitchFamily="34" charset="-122"/>
                <a:cs typeface="Cambria" pitchFamily="34" charset="-120"/>
              </a:rPr>
              <a:t>82.35%</a:t>
            </a:r>
            <a:endParaRPr lang="en-US" sz="4400" dirty="0"/>
          </a:p>
        </p:txBody>
      </p:sp>
      <p:sp>
        <p:nvSpPr>
          <p:cNvPr id="22" name="Text 20">
            <a:extLst>
              <a:ext uri="{FF2B5EF4-FFF2-40B4-BE49-F238E27FC236}">
                <a16:creationId xmlns:a16="http://schemas.microsoft.com/office/drawing/2014/main" id="{FB026E91-2638-13E2-22F3-6397DBD26F83}"/>
              </a:ext>
            </a:extLst>
          </p:cNvPr>
          <p:cNvSpPr/>
          <p:nvPr/>
        </p:nvSpPr>
        <p:spPr>
          <a:xfrm>
            <a:off x="8412480" y="3657600"/>
            <a:ext cx="2971800" cy="320040"/>
          </a:xfrm>
          <a:prstGeom prst="rect">
            <a:avLst/>
          </a:prstGeom>
          <a:noFill/>
          <a:ln/>
        </p:spPr>
        <p:txBody>
          <a:bodyPr wrap="square" rtlCol="0" anchor="ctr"/>
          <a:lstStyle/>
          <a:p>
            <a:pPr marL="0" indent="0">
              <a:buNone/>
            </a:pPr>
            <a:r>
              <a:rPr lang="en-US" sz="1150" dirty="0">
                <a:solidFill>
                  <a:srgbClr val="5A6B85"/>
                </a:solidFill>
                <a:latin typeface="Calibri" pitchFamily="34" charset="0"/>
                <a:ea typeface="Calibri" pitchFamily="34" charset="-122"/>
                <a:cs typeface="Calibri" pitchFamily="34" charset="-120"/>
              </a:rPr>
              <a:t>Accuracy (Testing)</a:t>
            </a:r>
            <a:endParaRPr lang="en-US" sz="1150" dirty="0"/>
          </a:p>
        </p:txBody>
      </p:sp>
      <p:sp>
        <p:nvSpPr>
          <p:cNvPr id="23" name="Shape 21">
            <a:extLst>
              <a:ext uri="{FF2B5EF4-FFF2-40B4-BE49-F238E27FC236}">
                <a16:creationId xmlns:a16="http://schemas.microsoft.com/office/drawing/2014/main" id="{597649A0-2607-D383-3EBF-67A37A97CE6F}"/>
              </a:ext>
            </a:extLst>
          </p:cNvPr>
          <p:cNvSpPr/>
          <p:nvPr/>
        </p:nvSpPr>
        <p:spPr>
          <a:xfrm>
            <a:off x="8412480" y="4069080"/>
            <a:ext cx="2971800" cy="0"/>
          </a:xfrm>
          <a:prstGeom prst="line">
            <a:avLst/>
          </a:prstGeom>
          <a:noFill/>
          <a:ln w="12700">
            <a:solidFill>
              <a:srgbClr val="D5DEEC"/>
            </a:solidFill>
            <a:prstDash val="solid"/>
          </a:ln>
        </p:spPr>
      </p:sp>
      <p:sp>
        <p:nvSpPr>
          <p:cNvPr id="24" name="Text 22">
            <a:extLst>
              <a:ext uri="{FF2B5EF4-FFF2-40B4-BE49-F238E27FC236}">
                <a16:creationId xmlns:a16="http://schemas.microsoft.com/office/drawing/2014/main" id="{6E77E5E2-F4D0-4E9D-DD10-DD4E2D3637F9}"/>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Precision: 87.65%</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Recall: 82.35%</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F1-Score: 82.35%</a:t>
            </a: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1228913D-572D-2939-A930-686EC482C339}"/>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8</a:t>
            </a:r>
            <a:endParaRPr lang="en-US" sz="1000" dirty="0"/>
          </a:p>
        </p:txBody>
      </p:sp>
    </p:spTree>
    <p:extLst>
      <p:ext uri="{BB962C8B-B14F-4D97-AF65-F5344CB8AC3E}">
        <p14:creationId xmlns:p14="http://schemas.microsoft.com/office/powerpoint/2010/main" val="769887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BCBB4-AAD9-8CCA-FA5D-13D2FEADDB2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618570-48F3-D5C3-3080-C0C25243BF9C}"/>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64D8973E-93F5-87AE-6284-953C1CE506CB}"/>
              </a:ext>
            </a:extLst>
          </p:cNvPr>
          <p:cNvSpPr/>
          <p:nvPr/>
        </p:nvSpPr>
        <p:spPr>
          <a:xfrm>
            <a:off x="548640" y="777240"/>
            <a:ext cx="10515600" cy="640080"/>
          </a:xfrm>
          <a:prstGeom prst="rect">
            <a:avLst/>
          </a:prstGeom>
          <a:noFill/>
          <a:ln/>
        </p:spPr>
        <p:txBody>
          <a:bodyPr wrap="square" rtlCol="0" anchor="ctr"/>
          <a:lstStyle/>
          <a:p>
            <a:r>
              <a:rPr lang="en-US" sz="2700" b="1" dirty="0">
                <a:solidFill>
                  <a:srgbClr val="1E2761"/>
                </a:solidFill>
                <a:latin typeface="Cambria" pitchFamily="34" charset="0"/>
                <a:ea typeface="Cambria" pitchFamily="34" charset="-122"/>
                <a:cs typeface="Cambria" pitchFamily="34" charset="-120"/>
              </a:rPr>
              <a:t>CONFUSION MATRIX — P2: Baseline (+ Median Filter + Histogram </a:t>
            </a:r>
            <a:r>
              <a:rPr lang="en-US" sz="2700" b="1" dirty="0" err="1">
                <a:solidFill>
                  <a:srgbClr val="1E2761"/>
                </a:solidFill>
                <a:latin typeface="Cambria" pitchFamily="34" charset="0"/>
                <a:ea typeface="Cambria" pitchFamily="34" charset="-122"/>
                <a:cs typeface="Cambria" pitchFamily="34" charset="-120"/>
              </a:rPr>
              <a:t>Ekualisasi</a:t>
            </a:r>
            <a:r>
              <a:rPr lang="en-US" sz="2700" b="1" dirty="0">
                <a:solidFill>
                  <a:srgbClr val="1E2761"/>
                </a:solidFill>
                <a:latin typeface="Cambria" pitchFamily="34" charset="0"/>
                <a:ea typeface="Cambria" pitchFamily="34" charset="-122"/>
                <a:cs typeface="Cambria" pitchFamily="34" charset="-120"/>
              </a:rPr>
              <a:t>)</a:t>
            </a:r>
            <a:endParaRPr lang="en-US" sz="2700" dirty="0"/>
          </a:p>
        </p:txBody>
      </p:sp>
      <p:sp>
        <p:nvSpPr>
          <p:cNvPr id="5" name="Shape 3">
            <a:extLst>
              <a:ext uri="{FF2B5EF4-FFF2-40B4-BE49-F238E27FC236}">
                <a16:creationId xmlns:a16="http://schemas.microsoft.com/office/drawing/2014/main" id="{BB847215-6E00-3517-277A-2928E42E4C03}"/>
              </a:ext>
            </a:extLst>
          </p:cNvPr>
          <p:cNvSpPr/>
          <p:nvPr/>
        </p:nvSpPr>
        <p:spPr>
          <a:xfrm>
            <a:off x="54864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txBody>
          <a:bodyPr/>
          <a:lstStyle/>
          <a:p>
            <a:endParaRPr lang="en-ID" dirty="0"/>
          </a:p>
        </p:txBody>
      </p:sp>
      <p:sp>
        <p:nvSpPr>
          <p:cNvPr id="6" name="Text 4">
            <a:extLst>
              <a:ext uri="{FF2B5EF4-FFF2-40B4-BE49-F238E27FC236}">
                <a16:creationId xmlns:a16="http://schemas.microsoft.com/office/drawing/2014/main" id="{038864F8-6416-9321-E0F5-FA2BB6E66B3A}"/>
              </a:ext>
            </a:extLst>
          </p:cNvPr>
          <p:cNvSpPr/>
          <p:nvPr/>
        </p:nvSpPr>
        <p:spPr>
          <a:xfrm>
            <a:off x="822960" y="2240280"/>
            <a:ext cx="2971800" cy="411480"/>
          </a:xfrm>
          <a:prstGeom prst="rect">
            <a:avLst/>
          </a:prstGeom>
          <a:noFill/>
          <a:ln/>
        </p:spPr>
        <p:txBody>
          <a:bodyPr wrap="square" rtlCol="0" anchor="ctr"/>
          <a:lstStyle/>
          <a:p>
            <a:pPr marL="0" indent="0">
              <a:buNone/>
            </a:pPr>
            <a:endParaRPr lang="en-US" sz="1700" dirty="0"/>
          </a:p>
        </p:txBody>
      </p:sp>
      <p:sp>
        <p:nvSpPr>
          <p:cNvPr id="7" name="Text 5">
            <a:extLst>
              <a:ext uri="{FF2B5EF4-FFF2-40B4-BE49-F238E27FC236}">
                <a16:creationId xmlns:a16="http://schemas.microsoft.com/office/drawing/2014/main" id="{A452F2FB-178C-A55F-299F-4643FDC367EB}"/>
              </a:ext>
            </a:extLst>
          </p:cNvPr>
          <p:cNvSpPr/>
          <p:nvPr/>
        </p:nvSpPr>
        <p:spPr>
          <a:xfrm>
            <a:off x="822960" y="2697480"/>
            <a:ext cx="2971800" cy="914400"/>
          </a:xfrm>
          <a:prstGeom prst="rect">
            <a:avLst/>
          </a:prstGeom>
          <a:noFill/>
          <a:ln/>
        </p:spPr>
        <p:txBody>
          <a:bodyPr wrap="square" rtlCol="0" anchor="ctr"/>
          <a:lstStyle/>
          <a:p>
            <a:pPr marL="0" indent="0">
              <a:buNone/>
            </a:pPr>
            <a:endParaRPr lang="en-US" sz="4400" dirty="0"/>
          </a:p>
        </p:txBody>
      </p:sp>
      <p:sp>
        <p:nvSpPr>
          <p:cNvPr id="8" name="Text 6">
            <a:extLst>
              <a:ext uri="{FF2B5EF4-FFF2-40B4-BE49-F238E27FC236}">
                <a16:creationId xmlns:a16="http://schemas.microsoft.com/office/drawing/2014/main" id="{71BAE1FD-F1E3-4CDD-066A-273FB8C702CD}"/>
              </a:ext>
            </a:extLst>
          </p:cNvPr>
          <p:cNvSpPr/>
          <p:nvPr/>
        </p:nvSpPr>
        <p:spPr>
          <a:xfrm>
            <a:off x="822960" y="3657600"/>
            <a:ext cx="2971800" cy="320040"/>
          </a:xfrm>
          <a:prstGeom prst="rect">
            <a:avLst/>
          </a:prstGeom>
          <a:noFill/>
          <a:ln/>
        </p:spPr>
        <p:txBody>
          <a:bodyPr wrap="square" rtlCol="0" anchor="ctr"/>
          <a:lstStyle/>
          <a:p>
            <a:pPr marL="0" indent="0">
              <a:buNone/>
            </a:pPr>
            <a:endParaRPr lang="en-US" sz="1150" dirty="0"/>
          </a:p>
        </p:txBody>
      </p:sp>
      <p:sp>
        <p:nvSpPr>
          <p:cNvPr id="10" name="Text 8">
            <a:extLst>
              <a:ext uri="{FF2B5EF4-FFF2-40B4-BE49-F238E27FC236}">
                <a16:creationId xmlns:a16="http://schemas.microsoft.com/office/drawing/2014/main" id="{5F53D640-6894-6E3D-8176-EEC0EFA5E11E}"/>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6F2B7BA0-B586-77E6-89CE-E6088092DA20}"/>
              </a:ext>
            </a:extLst>
          </p:cNvPr>
          <p:cNvSpPr/>
          <p:nvPr/>
        </p:nvSpPr>
        <p:spPr>
          <a:xfrm>
            <a:off x="4343400" y="1965960"/>
            <a:ext cx="3520440" cy="3017520"/>
          </a:xfrm>
          <a:prstGeom prst="roundRect">
            <a:avLst>
              <a:gd name="adj" fmla="val 3030"/>
            </a:avLst>
          </a:prstGeom>
          <a:solidFill>
            <a:srgbClr val="065A82"/>
          </a:solidFill>
          <a:ln/>
          <a:effectLst>
            <a:outerShdw blurRad="101600" dist="38100" dir="5400000" algn="bl" rotWithShape="0">
              <a:srgbClr val="000000">
                <a:alpha val="10000"/>
              </a:srgbClr>
            </a:outerShdw>
          </a:effectLst>
        </p:spPr>
        <p:txBody>
          <a:bodyPr/>
          <a:lstStyle/>
          <a:p>
            <a:endParaRPr lang="en-ID" dirty="0"/>
          </a:p>
        </p:txBody>
      </p:sp>
      <p:sp>
        <p:nvSpPr>
          <p:cNvPr id="12" name="Text 10">
            <a:extLst>
              <a:ext uri="{FF2B5EF4-FFF2-40B4-BE49-F238E27FC236}">
                <a16:creationId xmlns:a16="http://schemas.microsoft.com/office/drawing/2014/main" id="{F052D899-4117-94A0-908A-6953535F5D23}"/>
              </a:ext>
            </a:extLst>
          </p:cNvPr>
          <p:cNvSpPr/>
          <p:nvPr/>
        </p:nvSpPr>
        <p:spPr>
          <a:xfrm>
            <a:off x="4617720" y="2240280"/>
            <a:ext cx="2971800" cy="411480"/>
          </a:xfrm>
          <a:prstGeom prst="rect">
            <a:avLst/>
          </a:prstGeom>
          <a:noFill/>
          <a:ln/>
        </p:spPr>
        <p:txBody>
          <a:bodyPr wrap="square" rtlCol="0" anchor="ctr"/>
          <a:lstStyle/>
          <a:p>
            <a:pPr marL="0" indent="0">
              <a:buNone/>
            </a:pPr>
            <a:endParaRPr lang="en-US" sz="1700" dirty="0"/>
          </a:p>
        </p:txBody>
      </p:sp>
      <p:sp>
        <p:nvSpPr>
          <p:cNvPr id="13" name="Text 11">
            <a:extLst>
              <a:ext uri="{FF2B5EF4-FFF2-40B4-BE49-F238E27FC236}">
                <a16:creationId xmlns:a16="http://schemas.microsoft.com/office/drawing/2014/main" id="{4001F43E-B326-FBB0-F644-D41634E5BECD}"/>
              </a:ext>
            </a:extLst>
          </p:cNvPr>
          <p:cNvSpPr/>
          <p:nvPr/>
        </p:nvSpPr>
        <p:spPr>
          <a:xfrm>
            <a:off x="4617720" y="2697480"/>
            <a:ext cx="2971800" cy="914400"/>
          </a:xfrm>
          <a:prstGeom prst="rect">
            <a:avLst/>
          </a:prstGeom>
          <a:noFill/>
          <a:ln/>
        </p:spPr>
        <p:txBody>
          <a:bodyPr wrap="square" rtlCol="0" anchor="ctr"/>
          <a:lstStyle/>
          <a:p>
            <a:pPr marL="0" indent="0">
              <a:buNone/>
            </a:pPr>
            <a:endParaRPr lang="en-US" sz="4400" dirty="0"/>
          </a:p>
        </p:txBody>
      </p:sp>
      <p:sp>
        <p:nvSpPr>
          <p:cNvPr id="14" name="Text 12">
            <a:extLst>
              <a:ext uri="{FF2B5EF4-FFF2-40B4-BE49-F238E27FC236}">
                <a16:creationId xmlns:a16="http://schemas.microsoft.com/office/drawing/2014/main" id="{22FA50E4-BDA3-CA2C-D111-C17182B2E259}"/>
              </a:ext>
            </a:extLst>
          </p:cNvPr>
          <p:cNvSpPr/>
          <p:nvPr/>
        </p:nvSpPr>
        <p:spPr>
          <a:xfrm>
            <a:off x="4617720" y="3657600"/>
            <a:ext cx="2971800" cy="320040"/>
          </a:xfrm>
          <a:prstGeom prst="rect">
            <a:avLst/>
          </a:prstGeom>
          <a:noFill/>
          <a:ln/>
        </p:spPr>
        <p:txBody>
          <a:bodyPr wrap="square" rtlCol="0" anchor="ctr"/>
          <a:lstStyle/>
          <a:p>
            <a:pPr marL="0" indent="0">
              <a:buNone/>
            </a:pPr>
            <a:endParaRPr lang="en-US" sz="1150" dirty="0"/>
          </a:p>
        </p:txBody>
      </p:sp>
      <p:sp>
        <p:nvSpPr>
          <p:cNvPr id="16" name="Text 14">
            <a:extLst>
              <a:ext uri="{FF2B5EF4-FFF2-40B4-BE49-F238E27FC236}">
                <a16:creationId xmlns:a16="http://schemas.microsoft.com/office/drawing/2014/main" id="{79C124FA-5646-4A59-0335-1E16771960EA}"/>
              </a:ext>
            </a:extLst>
          </p:cNvPr>
          <p:cNvSpPr/>
          <p:nvPr/>
        </p:nvSpPr>
        <p:spPr>
          <a:xfrm>
            <a:off x="461772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F336EA00-B574-C916-8808-6D154147FAE4}"/>
              </a:ext>
            </a:extLst>
          </p:cNvPr>
          <p:cNvSpPr/>
          <p:nvPr/>
        </p:nvSpPr>
        <p:spPr>
          <a:xfrm>
            <a:off x="6446520" y="2221992"/>
            <a:ext cx="1143000" cy="320040"/>
          </a:xfrm>
          <a:prstGeom prst="rect">
            <a:avLst/>
          </a:prstGeom>
          <a:noFill/>
          <a:ln/>
        </p:spPr>
        <p:txBody>
          <a:bodyPr wrap="square" rtlCol="0" anchor="ctr"/>
          <a:lstStyle/>
          <a:p>
            <a:pPr marL="0" indent="0" algn="ctr">
              <a:buNone/>
            </a:pPr>
            <a:endParaRPr lang="en-US" sz="950" b="1" dirty="0">
              <a:solidFill>
                <a:srgbClr val="21295C"/>
              </a:solidFill>
              <a:latin typeface="Calibri" pitchFamily="34" charset="0"/>
              <a:ea typeface="Calibri" pitchFamily="34" charset="-122"/>
              <a:cs typeface="Calibri" pitchFamily="34" charset="-120"/>
            </a:endParaRPr>
          </a:p>
        </p:txBody>
      </p:sp>
      <p:sp>
        <p:nvSpPr>
          <p:cNvPr id="19" name="Shape 17">
            <a:extLst>
              <a:ext uri="{FF2B5EF4-FFF2-40B4-BE49-F238E27FC236}">
                <a16:creationId xmlns:a16="http://schemas.microsoft.com/office/drawing/2014/main" id="{9202B631-A2D9-ED88-FC43-5D219BF60D1C}"/>
              </a:ext>
            </a:extLst>
          </p:cNvPr>
          <p:cNvSpPr/>
          <p:nvPr/>
        </p:nvSpPr>
        <p:spPr>
          <a:xfrm>
            <a:off x="813816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txBody>
          <a:bodyPr/>
          <a:lstStyle/>
          <a:p>
            <a:endParaRPr lang="en-ID" dirty="0"/>
          </a:p>
        </p:txBody>
      </p:sp>
      <p:sp>
        <p:nvSpPr>
          <p:cNvPr id="20" name="Text 18">
            <a:extLst>
              <a:ext uri="{FF2B5EF4-FFF2-40B4-BE49-F238E27FC236}">
                <a16:creationId xmlns:a16="http://schemas.microsoft.com/office/drawing/2014/main" id="{CD40F300-6B6A-A9CD-99EB-F643828F3021}"/>
              </a:ext>
            </a:extLst>
          </p:cNvPr>
          <p:cNvSpPr/>
          <p:nvPr/>
        </p:nvSpPr>
        <p:spPr>
          <a:xfrm>
            <a:off x="8412480" y="2240280"/>
            <a:ext cx="2971800" cy="411480"/>
          </a:xfrm>
          <a:prstGeom prst="rect">
            <a:avLst/>
          </a:prstGeom>
          <a:noFill/>
          <a:ln/>
        </p:spPr>
        <p:txBody>
          <a:bodyPr wrap="square" rtlCol="0" anchor="ctr"/>
          <a:lstStyle/>
          <a:p>
            <a:pPr marL="0" indent="0">
              <a:buNone/>
            </a:pPr>
            <a:endParaRPr lang="en-US" sz="1700" dirty="0"/>
          </a:p>
        </p:txBody>
      </p:sp>
      <p:sp>
        <p:nvSpPr>
          <p:cNvPr id="21" name="Text 19">
            <a:extLst>
              <a:ext uri="{FF2B5EF4-FFF2-40B4-BE49-F238E27FC236}">
                <a16:creationId xmlns:a16="http://schemas.microsoft.com/office/drawing/2014/main" id="{B93AD852-E8C2-9FBA-FB7A-41DE0FA88BFF}"/>
              </a:ext>
            </a:extLst>
          </p:cNvPr>
          <p:cNvSpPr/>
          <p:nvPr/>
        </p:nvSpPr>
        <p:spPr>
          <a:xfrm>
            <a:off x="8412480" y="2697480"/>
            <a:ext cx="2971800" cy="914400"/>
          </a:xfrm>
          <a:prstGeom prst="rect">
            <a:avLst/>
          </a:prstGeom>
          <a:noFill/>
          <a:ln/>
        </p:spPr>
        <p:txBody>
          <a:bodyPr wrap="square" rtlCol="0" anchor="ctr"/>
          <a:lstStyle/>
          <a:p>
            <a:pPr marL="0" indent="0">
              <a:buNone/>
            </a:pPr>
            <a:endParaRPr lang="en-US" sz="4400" dirty="0"/>
          </a:p>
        </p:txBody>
      </p:sp>
      <p:sp>
        <p:nvSpPr>
          <p:cNvPr id="22" name="Text 20">
            <a:extLst>
              <a:ext uri="{FF2B5EF4-FFF2-40B4-BE49-F238E27FC236}">
                <a16:creationId xmlns:a16="http://schemas.microsoft.com/office/drawing/2014/main" id="{DC31D797-1BA2-B7C7-500F-89BF9B335879}"/>
              </a:ext>
            </a:extLst>
          </p:cNvPr>
          <p:cNvSpPr/>
          <p:nvPr/>
        </p:nvSpPr>
        <p:spPr>
          <a:xfrm>
            <a:off x="8412480" y="3657600"/>
            <a:ext cx="2971800" cy="320040"/>
          </a:xfrm>
          <a:prstGeom prst="rect">
            <a:avLst/>
          </a:prstGeom>
          <a:noFill/>
          <a:ln/>
        </p:spPr>
        <p:txBody>
          <a:bodyPr wrap="square" rtlCol="0" anchor="ctr"/>
          <a:lstStyle/>
          <a:p>
            <a:pPr marL="0" indent="0">
              <a:buNone/>
            </a:pPr>
            <a:endParaRPr lang="en-US" sz="1150" dirty="0"/>
          </a:p>
        </p:txBody>
      </p:sp>
      <p:sp>
        <p:nvSpPr>
          <p:cNvPr id="24" name="Text 22">
            <a:extLst>
              <a:ext uri="{FF2B5EF4-FFF2-40B4-BE49-F238E27FC236}">
                <a16:creationId xmlns:a16="http://schemas.microsoft.com/office/drawing/2014/main" id="{AA6302DC-3944-7AAC-D352-841589BA597B}"/>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2159D7ED-C4EC-C9D2-2628-462494761931}"/>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9</a:t>
            </a:r>
            <a:endParaRPr lang="en-US" sz="1000" dirty="0"/>
          </a:p>
        </p:txBody>
      </p:sp>
      <p:pic>
        <p:nvPicPr>
          <p:cNvPr id="9" name="Picture 8">
            <a:extLst>
              <a:ext uri="{FF2B5EF4-FFF2-40B4-BE49-F238E27FC236}">
                <a16:creationId xmlns:a16="http://schemas.microsoft.com/office/drawing/2014/main" id="{25AF3595-091F-0A2A-E959-EA591BBFAB44}"/>
              </a:ext>
            </a:extLst>
          </p:cNvPr>
          <p:cNvPicPr>
            <a:picLocks noChangeAspect="1"/>
          </p:cNvPicPr>
          <p:nvPr/>
        </p:nvPicPr>
        <p:blipFill>
          <a:blip r:embed="rId3"/>
          <a:stretch>
            <a:fillRect/>
          </a:stretch>
        </p:blipFill>
        <p:spPr>
          <a:xfrm>
            <a:off x="703988" y="2146862"/>
            <a:ext cx="3209744" cy="2564275"/>
          </a:xfrm>
          <a:prstGeom prst="rect">
            <a:avLst/>
          </a:prstGeom>
        </p:spPr>
      </p:pic>
      <p:pic>
        <p:nvPicPr>
          <p:cNvPr id="17" name="Picture 16">
            <a:extLst>
              <a:ext uri="{FF2B5EF4-FFF2-40B4-BE49-F238E27FC236}">
                <a16:creationId xmlns:a16="http://schemas.microsoft.com/office/drawing/2014/main" id="{868FC423-D30C-EC0C-6294-BEB949699323}"/>
              </a:ext>
            </a:extLst>
          </p:cNvPr>
          <p:cNvPicPr>
            <a:picLocks noChangeAspect="1"/>
          </p:cNvPicPr>
          <p:nvPr/>
        </p:nvPicPr>
        <p:blipFill>
          <a:blip r:embed="rId4"/>
          <a:stretch>
            <a:fillRect/>
          </a:stretch>
        </p:blipFill>
        <p:spPr>
          <a:xfrm>
            <a:off x="4536738" y="2174520"/>
            <a:ext cx="3140544" cy="2508958"/>
          </a:xfrm>
          <a:prstGeom prst="rect">
            <a:avLst/>
          </a:prstGeom>
        </p:spPr>
      </p:pic>
      <p:pic>
        <p:nvPicPr>
          <p:cNvPr id="27" name="Picture 26">
            <a:extLst>
              <a:ext uri="{FF2B5EF4-FFF2-40B4-BE49-F238E27FC236}">
                <a16:creationId xmlns:a16="http://schemas.microsoft.com/office/drawing/2014/main" id="{D358E083-3562-ADBF-D510-B1D75C23A9D3}"/>
              </a:ext>
            </a:extLst>
          </p:cNvPr>
          <p:cNvPicPr>
            <a:picLocks noChangeAspect="1"/>
          </p:cNvPicPr>
          <p:nvPr/>
        </p:nvPicPr>
        <p:blipFill>
          <a:blip r:embed="rId5"/>
          <a:stretch>
            <a:fillRect/>
          </a:stretch>
        </p:blipFill>
        <p:spPr>
          <a:xfrm>
            <a:off x="8277073" y="2146862"/>
            <a:ext cx="3271799" cy="2572851"/>
          </a:xfrm>
          <a:prstGeom prst="rect">
            <a:avLst/>
          </a:prstGeom>
        </p:spPr>
      </p:pic>
    </p:spTree>
    <p:extLst>
      <p:ext uri="{BB962C8B-B14F-4D97-AF65-F5344CB8AC3E}">
        <p14:creationId xmlns:p14="http://schemas.microsoft.com/office/powerpoint/2010/main" val="104313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43C1-FE88-EFCE-7ABE-9555692B01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41D3A6-F6E1-DC3E-B3AA-FD150E4F173A}"/>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4F3EC305-AB02-C8BC-6F32-9D469638563F}"/>
              </a:ext>
            </a:extLst>
          </p:cNvPr>
          <p:cNvSpPr/>
          <p:nvPr/>
        </p:nvSpPr>
        <p:spPr>
          <a:xfrm>
            <a:off x="548640" y="777240"/>
            <a:ext cx="10515600" cy="640080"/>
          </a:xfrm>
          <a:prstGeom prst="rect">
            <a:avLst/>
          </a:prstGeom>
          <a:noFill/>
          <a:ln/>
        </p:spPr>
        <p:txBody>
          <a:bodyPr wrap="square" rtlCol="0" anchor="ctr"/>
          <a:lstStyle/>
          <a:p>
            <a:r>
              <a:rPr lang="en-US" sz="2700" b="1" dirty="0">
                <a:solidFill>
                  <a:srgbClr val="1E2761"/>
                </a:solidFill>
                <a:latin typeface="Cambria" pitchFamily="34" charset="0"/>
                <a:ea typeface="Cambria" pitchFamily="34" charset="-122"/>
                <a:cs typeface="Cambria" pitchFamily="34" charset="-120"/>
              </a:rPr>
              <a:t>P3: Preprocessing </a:t>
            </a:r>
            <a:r>
              <a:rPr lang="en-US" sz="2700" b="1" dirty="0" err="1">
                <a:solidFill>
                  <a:srgbClr val="1E2761"/>
                </a:solidFill>
                <a:latin typeface="Cambria" pitchFamily="34" charset="0"/>
                <a:ea typeface="Cambria" pitchFamily="34" charset="-122"/>
                <a:cs typeface="Cambria" pitchFamily="34" charset="-120"/>
              </a:rPr>
              <a:t>Lengkap</a:t>
            </a:r>
            <a:r>
              <a:rPr lang="en-US" sz="2700" b="1" dirty="0">
                <a:solidFill>
                  <a:srgbClr val="1E2761"/>
                </a:solidFill>
                <a:latin typeface="Cambria" pitchFamily="34" charset="0"/>
                <a:ea typeface="Cambria" pitchFamily="34" charset="-122"/>
                <a:cs typeface="Cambria" pitchFamily="34" charset="-120"/>
              </a:rPr>
              <a:t> (+ Sharpening + </a:t>
            </a:r>
            <a:r>
              <a:rPr lang="en-US" sz="2700" b="1" dirty="0" err="1">
                <a:solidFill>
                  <a:srgbClr val="1E2761"/>
                </a:solidFill>
                <a:latin typeface="Cambria" pitchFamily="34" charset="0"/>
                <a:ea typeface="Cambria" pitchFamily="34" charset="-122"/>
                <a:cs typeface="Cambria" pitchFamily="34" charset="-120"/>
              </a:rPr>
              <a:t>Dilasi</a:t>
            </a:r>
            <a:r>
              <a:rPr lang="en-US" sz="2700" b="1" dirty="0">
                <a:solidFill>
                  <a:srgbClr val="1E2761"/>
                </a:solidFill>
                <a:latin typeface="Cambria" pitchFamily="34" charset="0"/>
                <a:ea typeface="Cambria" pitchFamily="34" charset="-122"/>
                <a:cs typeface="Cambria" pitchFamily="34" charset="-120"/>
              </a:rPr>
              <a:t>)</a:t>
            </a:r>
            <a:endParaRPr lang="en-US" sz="2700" dirty="0"/>
          </a:p>
        </p:txBody>
      </p:sp>
      <p:sp>
        <p:nvSpPr>
          <p:cNvPr id="5" name="Shape 3">
            <a:extLst>
              <a:ext uri="{FF2B5EF4-FFF2-40B4-BE49-F238E27FC236}">
                <a16:creationId xmlns:a16="http://schemas.microsoft.com/office/drawing/2014/main" id="{0BA8E270-FFED-726E-4630-0CEB5897B885}"/>
              </a:ext>
            </a:extLst>
          </p:cNvPr>
          <p:cNvSpPr/>
          <p:nvPr/>
        </p:nvSpPr>
        <p:spPr>
          <a:xfrm>
            <a:off x="634481" y="1579206"/>
            <a:ext cx="11066107" cy="3487316"/>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6" name="Text 4">
            <a:extLst>
              <a:ext uri="{FF2B5EF4-FFF2-40B4-BE49-F238E27FC236}">
                <a16:creationId xmlns:a16="http://schemas.microsoft.com/office/drawing/2014/main" id="{00342B17-F7EF-91BD-D2A0-E92F7BEE2E20}"/>
              </a:ext>
            </a:extLst>
          </p:cNvPr>
          <p:cNvSpPr/>
          <p:nvPr/>
        </p:nvSpPr>
        <p:spPr>
          <a:xfrm>
            <a:off x="822960" y="2240280"/>
            <a:ext cx="2971800" cy="411480"/>
          </a:xfrm>
          <a:prstGeom prst="rect">
            <a:avLst/>
          </a:prstGeom>
          <a:noFill/>
          <a:ln/>
        </p:spPr>
        <p:txBody>
          <a:bodyPr wrap="square" rtlCol="0" anchor="ctr"/>
          <a:lstStyle/>
          <a:p>
            <a:pPr marL="0" indent="0">
              <a:buNone/>
            </a:pPr>
            <a:endParaRPr lang="en-US" sz="1700" dirty="0"/>
          </a:p>
        </p:txBody>
      </p:sp>
      <p:sp>
        <p:nvSpPr>
          <p:cNvPr id="7" name="Text 5">
            <a:extLst>
              <a:ext uri="{FF2B5EF4-FFF2-40B4-BE49-F238E27FC236}">
                <a16:creationId xmlns:a16="http://schemas.microsoft.com/office/drawing/2014/main" id="{B59F01C2-B1FD-6190-78BE-EBFF942BFDB0}"/>
              </a:ext>
            </a:extLst>
          </p:cNvPr>
          <p:cNvSpPr/>
          <p:nvPr/>
        </p:nvSpPr>
        <p:spPr>
          <a:xfrm>
            <a:off x="822960" y="2697480"/>
            <a:ext cx="2971800" cy="914400"/>
          </a:xfrm>
          <a:prstGeom prst="rect">
            <a:avLst/>
          </a:prstGeom>
          <a:noFill/>
          <a:ln/>
        </p:spPr>
        <p:txBody>
          <a:bodyPr wrap="square" rtlCol="0" anchor="ctr"/>
          <a:lstStyle/>
          <a:p>
            <a:pPr marL="0" indent="0">
              <a:buNone/>
            </a:pPr>
            <a:endParaRPr lang="en-US" sz="4400" dirty="0"/>
          </a:p>
        </p:txBody>
      </p:sp>
      <p:sp>
        <p:nvSpPr>
          <p:cNvPr id="8" name="Text 6">
            <a:extLst>
              <a:ext uri="{FF2B5EF4-FFF2-40B4-BE49-F238E27FC236}">
                <a16:creationId xmlns:a16="http://schemas.microsoft.com/office/drawing/2014/main" id="{DCBB7C8D-A60F-422A-C622-CE777F259FEC}"/>
              </a:ext>
            </a:extLst>
          </p:cNvPr>
          <p:cNvSpPr/>
          <p:nvPr/>
        </p:nvSpPr>
        <p:spPr>
          <a:xfrm>
            <a:off x="822960" y="3657600"/>
            <a:ext cx="2971800" cy="320040"/>
          </a:xfrm>
          <a:prstGeom prst="rect">
            <a:avLst/>
          </a:prstGeom>
          <a:noFill/>
          <a:ln/>
        </p:spPr>
        <p:txBody>
          <a:bodyPr wrap="square" rtlCol="0" anchor="ctr"/>
          <a:lstStyle/>
          <a:p>
            <a:pPr marL="0" indent="0">
              <a:buNone/>
            </a:pPr>
            <a:endParaRPr lang="en-US" sz="1150" dirty="0"/>
          </a:p>
        </p:txBody>
      </p:sp>
      <p:sp>
        <p:nvSpPr>
          <p:cNvPr id="10" name="Text 8">
            <a:extLst>
              <a:ext uri="{FF2B5EF4-FFF2-40B4-BE49-F238E27FC236}">
                <a16:creationId xmlns:a16="http://schemas.microsoft.com/office/drawing/2014/main" id="{15DA56CA-8E58-4734-F4C7-450527900207}"/>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92B200C5-6041-3843-660E-D2A22F1C69A0}"/>
              </a:ext>
            </a:extLst>
          </p:cNvPr>
          <p:cNvSpPr/>
          <p:nvPr/>
        </p:nvSpPr>
        <p:spPr>
          <a:xfrm>
            <a:off x="634481" y="5215812"/>
            <a:ext cx="11066108" cy="1127138"/>
          </a:xfrm>
          <a:prstGeom prst="roundRect">
            <a:avLst>
              <a:gd name="adj" fmla="val 3030"/>
            </a:avLst>
          </a:prstGeom>
          <a:solidFill>
            <a:srgbClr val="065A82"/>
          </a:solidFill>
          <a:ln/>
          <a:effectLst>
            <a:outerShdw blurRad="101600" dist="38100" dir="5400000" algn="bl" rotWithShape="0">
              <a:srgbClr val="000000">
                <a:alpha val="10000"/>
              </a:srgbClr>
            </a:outerShdw>
          </a:effectLst>
        </p:spPr>
      </p:sp>
      <p:sp>
        <p:nvSpPr>
          <p:cNvPr id="12" name="Text 10">
            <a:extLst>
              <a:ext uri="{FF2B5EF4-FFF2-40B4-BE49-F238E27FC236}">
                <a16:creationId xmlns:a16="http://schemas.microsoft.com/office/drawing/2014/main" id="{BAE566DD-C19B-10AF-0386-BA9800EB12F3}"/>
              </a:ext>
            </a:extLst>
          </p:cNvPr>
          <p:cNvSpPr/>
          <p:nvPr/>
        </p:nvSpPr>
        <p:spPr>
          <a:xfrm>
            <a:off x="4617720" y="2240280"/>
            <a:ext cx="2971800" cy="411480"/>
          </a:xfrm>
          <a:prstGeom prst="rect">
            <a:avLst/>
          </a:prstGeom>
          <a:noFill/>
          <a:ln/>
        </p:spPr>
        <p:txBody>
          <a:bodyPr wrap="square" rtlCol="0" anchor="ctr"/>
          <a:lstStyle/>
          <a:p>
            <a:pPr marL="0" indent="0">
              <a:buNone/>
            </a:pPr>
            <a:endParaRPr lang="en-US" sz="1700" dirty="0"/>
          </a:p>
        </p:txBody>
      </p:sp>
      <p:sp>
        <p:nvSpPr>
          <p:cNvPr id="13" name="Text 11">
            <a:extLst>
              <a:ext uri="{FF2B5EF4-FFF2-40B4-BE49-F238E27FC236}">
                <a16:creationId xmlns:a16="http://schemas.microsoft.com/office/drawing/2014/main" id="{E91462DD-6DF7-E64E-6113-CB0F76F8253C}"/>
              </a:ext>
            </a:extLst>
          </p:cNvPr>
          <p:cNvSpPr/>
          <p:nvPr/>
        </p:nvSpPr>
        <p:spPr>
          <a:xfrm>
            <a:off x="4617720" y="2697480"/>
            <a:ext cx="2971800" cy="914400"/>
          </a:xfrm>
          <a:prstGeom prst="rect">
            <a:avLst/>
          </a:prstGeom>
          <a:noFill/>
          <a:ln/>
        </p:spPr>
        <p:txBody>
          <a:bodyPr wrap="square" rtlCol="0" anchor="ctr"/>
          <a:lstStyle/>
          <a:p>
            <a:pPr marL="0" indent="0">
              <a:buNone/>
            </a:pPr>
            <a:endParaRPr lang="en-US" sz="4400" dirty="0"/>
          </a:p>
        </p:txBody>
      </p:sp>
      <p:sp>
        <p:nvSpPr>
          <p:cNvPr id="14" name="Text 12">
            <a:extLst>
              <a:ext uri="{FF2B5EF4-FFF2-40B4-BE49-F238E27FC236}">
                <a16:creationId xmlns:a16="http://schemas.microsoft.com/office/drawing/2014/main" id="{60AD9C6C-3B8E-61F4-B1BA-33EC7932D55D}"/>
              </a:ext>
            </a:extLst>
          </p:cNvPr>
          <p:cNvSpPr/>
          <p:nvPr/>
        </p:nvSpPr>
        <p:spPr>
          <a:xfrm>
            <a:off x="4617720" y="3657600"/>
            <a:ext cx="2971800" cy="320040"/>
          </a:xfrm>
          <a:prstGeom prst="rect">
            <a:avLst/>
          </a:prstGeom>
          <a:noFill/>
          <a:ln/>
        </p:spPr>
        <p:txBody>
          <a:bodyPr wrap="square" rtlCol="0" anchor="ctr"/>
          <a:lstStyle/>
          <a:p>
            <a:pPr marL="0" indent="0">
              <a:buNone/>
            </a:pPr>
            <a:endParaRPr lang="en-US" sz="1150" dirty="0"/>
          </a:p>
        </p:txBody>
      </p:sp>
      <p:sp>
        <p:nvSpPr>
          <p:cNvPr id="16" name="Text 14">
            <a:extLst>
              <a:ext uri="{FF2B5EF4-FFF2-40B4-BE49-F238E27FC236}">
                <a16:creationId xmlns:a16="http://schemas.microsoft.com/office/drawing/2014/main" id="{52B585C0-70A4-4341-A4AB-677CD201FD82}"/>
              </a:ext>
            </a:extLst>
          </p:cNvPr>
          <p:cNvSpPr/>
          <p:nvPr/>
        </p:nvSpPr>
        <p:spPr>
          <a:xfrm>
            <a:off x="822959" y="5295122"/>
            <a:ext cx="10877629" cy="978030"/>
          </a:xfrm>
          <a:prstGeom prst="rect">
            <a:avLst/>
          </a:prstGeom>
          <a:noFill/>
          <a:ln/>
        </p:spPr>
        <p:txBody>
          <a:bodyPr wrap="square" rtlCol="0" anchor="ctr"/>
          <a:lstStyle/>
          <a:p>
            <a:pPr>
              <a:spcAft>
                <a:spcPts val="300"/>
              </a:spcAft>
            </a:pPr>
            <a:r>
              <a:rPr lang="en-ID" sz="1200" dirty="0">
                <a:solidFill>
                  <a:schemeClr val="bg1"/>
                </a:solidFill>
                <a:latin typeface="Times New Roman" panose="02020603050405020304" pitchFamily="18" charset="0"/>
                <a:cs typeface="Times New Roman" panose="02020603050405020304" pitchFamily="18" charset="0"/>
              </a:rPr>
              <a:t>ANALISIS</a:t>
            </a:r>
          </a:p>
          <a:p>
            <a:pPr>
              <a:spcAft>
                <a:spcPts val="300"/>
              </a:spcAft>
            </a:pPr>
            <a:r>
              <a:rPr lang="en-ID" sz="1200" dirty="0">
                <a:solidFill>
                  <a:schemeClr val="bg1"/>
                </a:solidFill>
                <a:latin typeface="Times New Roman" panose="02020603050405020304" pitchFamily="18" charset="0"/>
                <a:cs typeface="Times New Roman" panose="02020603050405020304" pitchFamily="18" charset="0"/>
              </a:rPr>
              <a:t>Sharpening </a:t>
            </a:r>
            <a:r>
              <a:rPr lang="en-ID" sz="1200" dirty="0" err="1">
                <a:solidFill>
                  <a:schemeClr val="bg1"/>
                </a:solidFill>
                <a:latin typeface="Times New Roman" panose="02020603050405020304" pitchFamily="18" charset="0"/>
                <a:cs typeface="Times New Roman" panose="02020603050405020304" pitchFamily="18" charset="0"/>
              </a:rPr>
              <a:t>digunakan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untuk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memperjelas</a:t>
            </a:r>
            <a:r>
              <a:rPr lang="en-ID" sz="1200" dirty="0">
                <a:solidFill>
                  <a:schemeClr val="bg1"/>
                </a:solidFill>
                <a:latin typeface="Times New Roman" panose="02020603050405020304" pitchFamily="18" charset="0"/>
                <a:cs typeface="Times New Roman" panose="02020603050405020304" pitchFamily="18" charset="0"/>
              </a:rPr>
              <a:t> detail dan batas </a:t>
            </a:r>
            <a:r>
              <a:rPr lang="en-ID" sz="1200" dirty="0" err="1">
                <a:solidFill>
                  <a:schemeClr val="bg1"/>
                </a:solidFill>
                <a:latin typeface="Times New Roman" panose="02020603050405020304" pitchFamily="18" charset="0"/>
                <a:cs typeface="Times New Roman" panose="02020603050405020304" pitchFamily="18" charset="0"/>
              </a:rPr>
              <a:t>tekstur</a:t>
            </a:r>
            <a:r>
              <a:rPr lang="en-ID" sz="1200" dirty="0">
                <a:solidFill>
                  <a:schemeClr val="bg1"/>
                </a:solidFill>
                <a:latin typeface="Times New Roman" panose="02020603050405020304" pitchFamily="18" charset="0"/>
                <a:cs typeface="Times New Roman" panose="02020603050405020304" pitchFamily="18" charset="0"/>
              </a:rPr>
              <a:t> pada </a:t>
            </a:r>
            <a:r>
              <a:rPr lang="en-ID" sz="1200" dirty="0" err="1">
                <a:solidFill>
                  <a:schemeClr val="bg1"/>
                </a:solidFill>
                <a:latin typeface="Times New Roman" panose="02020603050405020304" pitchFamily="18" charset="0"/>
                <a:cs typeface="Times New Roman" panose="02020603050405020304" pitchFamily="18" charset="0"/>
              </a:rPr>
              <a:t>citra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sedangkan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dilasi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digunakan</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untuk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mempertegas</a:t>
            </a:r>
            <a:r>
              <a:rPr lang="en-ID" sz="1200" dirty="0">
                <a:solidFill>
                  <a:schemeClr val="bg1"/>
                </a:solidFill>
                <a:latin typeface="Times New Roman" panose="02020603050405020304" pitchFamily="18" charset="0"/>
                <a:cs typeface="Times New Roman" panose="02020603050405020304" pitchFamily="18" charset="0"/>
              </a:rPr>
              <a:t> area </a:t>
            </a:r>
            <a:r>
              <a:rPr lang="en-ID" sz="1200" dirty="0" err="1">
                <a:solidFill>
                  <a:schemeClr val="bg1"/>
                </a:solidFill>
                <a:latin typeface="Times New Roman" panose="02020603050405020304" pitchFamily="18" charset="0"/>
                <a:cs typeface="Times New Roman" panose="02020603050405020304" pitchFamily="18" charset="0"/>
              </a:rPr>
              <a:t>objek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atau</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cacat</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sehingga</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karakteristik</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tekstur</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menjadi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lebih</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menonjol</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sebelum</a:t>
            </a:r>
            <a:r>
              <a:rPr lang="en-ID" sz="1200" dirty="0">
                <a:solidFill>
                  <a:schemeClr val="bg1"/>
                </a:solidFill>
                <a:latin typeface="Times New Roman" panose="02020603050405020304" pitchFamily="18" charset="0"/>
                <a:cs typeface="Times New Roman" panose="02020603050405020304" pitchFamily="18" charset="0"/>
              </a:rPr>
              <a:t> proses </a:t>
            </a:r>
            <a:r>
              <a:rPr lang="en-ID" sz="1200" dirty="0" err="1">
                <a:solidFill>
                  <a:schemeClr val="bg1"/>
                </a:solidFill>
                <a:latin typeface="Times New Roman" panose="02020603050405020304" pitchFamily="18" charset="0"/>
                <a:cs typeface="Times New Roman" panose="02020603050405020304" pitchFamily="18" charset="0"/>
              </a:rPr>
              <a:t>ekstraksi</a:t>
            </a:r>
            <a:r>
              <a:rPr lang="en-ID" sz="1200" dirty="0">
                <a:solidFill>
                  <a:schemeClr val="bg1"/>
                </a:solidFill>
                <a:latin typeface="Times New Roman" panose="02020603050405020304" pitchFamily="18" charset="0"/>
                <a:cs typeface="Times New Roman" panose="02020603050405020304" pitchFamily="18" charset="0"/>
              </a:rPr>
              <a:t> </a:t>
            </a:r>
            <a:r>
              <a:rPr lang="en-ID" sz="1200" dirty="0" err="1">
                <a:solidFill>
                  <a:schemeClr val="bg1"/>
                </a:solidFill>
                <a:latin typeface="Times New Roman" panose="02020603050405020304" pitchFamily="18" charset="0"/>
                <a:cs typeface="Times New Roman" panose="02020603050405020304" pitchFamily="18" charset="0"/>
              </a:rPr>
              <a:t>fitur</a:t>
            </a:r>
            <a:r>
              <a:rPr lang="en-ID" sz="1200" dirty="0">
                <a:solidFill>
                  <a:schemeClr val="bg1"/>
                </a:solidFill>
                <a:latin typeface="Times New Roman" panose="02020603050405020304" pitchFamily="18" charset="0"/>
                <a:cs typeface="Times New Roman" panose="02020603050405020304" pitchFamily="18" charset="0"/>
              </a:rPr>
              <a:t> GLCM.</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ED6179FF-5827-AE60-C0C4-A811EA49568D}"/>
              </a:ext>
            </a:extLst>
          </p:cNvPr>
          <p:cNvSpPr/>
          <p:nvPr/>
        </p:nvSpPr>
        <p:spPr>
          <a:xfrm>
            <a:off x="6446520" y="2221992"/>
            <a:ext cx="1143000" cy="320040"/>
          </a:xfrm>
          <a:prstGeom prst="rect">
            <a:avLst/>
          </a:prstGeom>
          <a:noFill/>
          <a:ln/>
        </p:spPr>
        <p:txBody>
          <a:bodyPr wrap="square" rtlCol="0" anchor="ctr"/>
          <a:lstStyle/>
          <a:p>
            <a:pPr marL="0" indent="0" algn="ctr">
              <a:buNone/>
            </a:pPr>
            <a:endParaRPr lang="en-US" sz="950" dirty="0"/>
          </a:p>
        </p:txBody>
      </p:sp>
      <p:sp>
        <p:nvSpPr>
          <p:cNvPr id="20" name="Text 18">
            <a:extLst>
              <a:ext uri="{FF2B5EF4-FFF2-40B4-BE49-F238E27FC236}">
                <a16:creationId xmlns:a16="http://schemas.microsoft.com/office/drawing/2014/main" id="{54B798AD-519A-F0A1-B408-D7A5A6246DE0}"/>
              </a:ext>
            </a:extLst>
          </p:cNvPr>
          <p:cNvSpPr/>
          <p:nvPr/>
        </p:nvSpPr>
        <p:spPr>
          <a:xfrm>
            <a:off x="8412480" y="2240280"/>
            <a:ext cx="2971800" cy="411480"/>
          </a:xfrm>
          <a:prstGeom prst="rect">
            <a:avLst/>
          </a:prstGeom>
          <a:noFill/>
          <a:ln/>
        </p:spPr>
        <p:txBody>
          <a:bodyPr wrap="square" rtlCol="0" anchor="ctr"/>
          <a:lstStyle/>
          <a:p>
            <a:pPr marL="0" indent="0">
              <a:buNone/>
            </a:pPr>
            <a:endParaRPr lang="en-US" sz="1700" dirty="0"/>
          </a:p>
        </p:txBody>
      </p:sp>
      <p:sp>
        <p:nvSpPr>
          <p:cNvPr id="21" name="Text 19">
            <a:extLst>
              <a:ext uri="{FF2B5EF4-FFF2-40B4-BE49-F238E27FC236}">
                <a16:creationId xmlns:a16="http://schemas.microsoft.com/office/drawing/2014/main" id="{25B50797-E501-B8B4-7665-C027F55321F3}"/>
              </a:ext>
            </a:extLst>
          </p:cNvPr>
          <p:cNvSpPr/>
          <p:nvPr/>
        </p:nvSpPr>
        <p:spPr>
          <a:xfrm>
            <a:off x="8412480" y="2697480"/>
            <a:ext cx="2971800" cy="914400"/>
          </a:xfrm>
          <a:prstGeom prst="rect">
            <a:avLst/>
          </a:prstGeom>
          <a:noFill/>
          <a:ln/>
        </p:spPr>
        <p:txBody>
          <a:bodyPr wrap="square" rtlCol="0" anchor="ctr"/>
          <a:lstStyle/>
          <a:p>
            <a:pPr marL="0" indent="0">
              <a:buNone/>
            </a:pPr>
            <a:endParaRPr lang="en-US" sz="4400" dirty="0"/>
          </a:p>
        </p:txBody>
      </p:sp>
      <p:sp>
        <p:nvSpPr>
          <p:cNvPr id="22" name="Text 20">
            <a:extLst>
              <a:ext uri="{FF2B5EF4-FFF2-40B4-BE49-F238E27FC236}">
                <a16:creationId xmlns:a16="http://schemas.microsoft.com/office/drawing/2014/main" id="{8300FF2A-E8F7-5888-0BF6-32EB10E02665}"/>
              </a:ext>
            </a:extLst>
          </p:cNvPr>
          <p:cNvSpPr/>
          <p:nvPr/>
        </p:nvSpPr>
        <p:spPr>
          <a:xfrm>
            <a:off x="8412480" y="3657600"/>
            <a:ext cx="2971800" cy="320040"/>
          </a:xfrm>
          <a:prstGeom prst="rect">
            <a:avLst/>
          </a:prstGeom>
          <a:noFill/>
          <a:ln/>
        </p:spPr>
        <p:txBody>
          <a:bodyPr wrap="square" rtlCol="0" anchor="ctr"/>
          <a:lstStyle/>
          <a:p>
            <a:pPr marL="0" indent="0">
              <a:buNone/>
            </a:pPr>
            <a:endParaRPr lang="en-US" sz="1150" dirty="0">
              <a:solidFill>
                <a:srgbClr val="5A6B85"/>
              </a:solidFill>
              <a:latin typeface="Calibri" pitchFamily="34" charset="0"/>
              <a:ea typeface="Calibri" pitchFamily="34" charset="-122"/>
              <a:cs typeface="Calibri" pitchFamily="34" charset="-120"/>
            </a:endParaRPr>
          </a:p>
        </p:txBody>
      </p:sp>
      <p:sp>
        <p:nvSpPr>
          <p:cNvPr id="24" name="Text 22">
            <a:extLst>
              <a:ext uri="{FF2B5EF4-FFF2-40B4-BE49-F238E27FC236}">
                <a16:creationId xmlns:a16="http://schemas.microsoft.com/office/drawing/2014/main" id="{38EA1F22-DEA7-7839-5C40-96F8A6434F7D}"/>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CA775A73-2937-946B-5630-0F3F042C095F}"/>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6</a:t>
            </a:r>
            <a:endParaRPr lang="en-US" sz="1000" dirty="0"/>
          </a:p>
        </p:txBody>
      </p:sp>
      <p:pic>
        <p:nvPicPr>
          <p:cNvPr id="9" name="Picture 8">
            <a:extLst>
              <a:ext uri="{FF2B5EF4-FFF2-40B4-BE49-F238E27FC236}">
                <a16:creationId xmlns:a16="http://schemas.microsoft.com/office/drawing/2014/main" id="{B79BD34E-982C-E166-EAA2-9BC4FC607B25}"/>
              </a:ext>
            </a:extLst>
          </p:cNvPr>
          <p:cNvPicPr>
            <a:picLocks noChangeAspect="1"/>
          </p:cNvPicPr>
          <p:nvPr/>
        </p:nvPicPr>
        <p:blipFill>
          <a:blip r:embed="rId3"/>
          <a:stretch>
            <a:fillRect/>
          </a:stretch>
        </p:blipFill>
        <p:spPr>
          <a:xfrm>
            <a:off x="2296573" y="1763039"/>
            <a:ext cx="7778622" cy="3174620"/>
          </a:xfrm>
          <a:prstGeom prst="rect">
            <a:avLst/>
          </a:prstGeom>
        </p:spPr>
      </p:pic>
    </p:spTree>
    <p:extLst>
      <p:ext uri="{BB962C8B-B14F-4D97-AF65-F5344CB8AC3E}">
        <p14:creationId xmlns:p14="http://schemas.microsoft.com/office/powerpoint/2010/main" val="1865418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p:cNvSpPr/>
          <p:nvPr/>
        </p:nvSpPr>
        <p:spPr>
          <a:xfrm>
            <a:off x="548640" y="77724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Hasil Klasifikasi — P3: Preprocessing Lengkap (+ Sharpening + Dilasi)</a:t>
            </a:r>
            <a:endParaRPr lang="en-US" sz="2700" dirty="0"/>
          </a:p>
        </p:txBody>
      </p:sp>
      <p:sp>
        <p:nvSpPr>
          <p:cNvPr id="5" name="Shape 3"/>
          <p:cNvSpPr/>
          <p:nvPr/>
        </p:nvSpPr>
        <p:spPr>
          <a:xfrm>
            <a:off x="54864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6" name="Text 4"/>
          <p:cNvSpPr/>
          <p:nvPr/>
        </p:nvSpPr>
        <p:spPr>
          <a:xfrm>
            <a:off x="822960" y="2240280"/>
            <a:ext cx="297180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Random Forest</a:t>
            </a:r>
            <a:endParaRPr lang="en-US" sz="1700" dirty="0"/>
          </a:p>
        </p:txBody>
      </p:sp>
      <p:sp>
        <p:nvSpPr>
          <p:cNvPr id="7" name="Text 5"/>
          <p:cNvSpPr/>
          <p:nvPr/>
        </p:nvSpPr>
        <p:spPr>
          <a:xfrm>
            <a:off x="822960" y="2697480"/>
            <a:ext cx="2971800" cy="914400"/>
          </a:xfrm>
          <a:prstGeom prst="rect">
            <a:avLst/>
          </a:prstGeom>
          <a:noFill/>
          <a:ln/>
        </p:spPr>
        <p:txBody>
          <a:bodyPr wrap="square"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85.29%</a:t>
            </a:r>
            <a:endParaRPr lang="en-US" sz="4400" dirty="0"/>
          </a:p>
        </p:txBody>
      </p:sp>
      <p:sp>
        <p:nvSpPr>
          <p:cNvPr id="8" name="Text 6"/>
          <p:cNvSpPr/>
          <p:nvPr/>
        </p:nvSpPr>
        <p:spPr>
          <a:xfrm>
            <a:off x="822960" y="3657600"/>
            <a:ext cx="2971800" cy="320040"/>
          </a:xfrm>
          <a:prstGeom prst="rect">
            <a:avLst/>
          </a:prstGeom>
          <a:noFill/>
          <a:ln/>
        </p:spPr>
        <p:txBody>
          <a:bodyPr wrap="square" rtlCol="0" anchor="ctr"/>
          <a:lstStyle/>
          <a:p>
            <a:pPr marL="0" indent="0">
              <a:buNone/>
            </a:pPr>
            <a:r>
              <a:rPr lang="en-US" sz="1150" dirty="0">
                <a:solidFill>
                  <a:srgbClr val="5A6B85"/>
                </a:solidFill>
                <a:latin typeface="Calibri" pitchFamily="34" charset="0"/>
                <a:ea typeface="Calibri" pitchFamily="34" charset="-122"/>
                <a:cs typeface="Calibri" pitchFamily="34" charset="-120"/>
              </a:rPr>
              <a:t>Accuracy (Testing)</a:t>
            </a:r>
            <a:endParaRPr lang="en-US" sz="1150" dirty="0"/>
          </a:p>
        </p:txBody>
      </p:sp>
      <p:sp>
        <p:nvSpPr>
          <p:cNvPr id="9" name="Shape 7"/>
          <p:cNvSpPr/>
          <p:nvPr/>
        </p:nvSpPr>
        <p:spPr>
          <a:xfrm>
            <a:off x="822960" y="4069080"/>
            <a:ext cx="2971800" cy="0"/>
          </a:xfrm>
          <a:prstGeom prst="line">
            <a:avLst/>
          </a:prstGeom>
          <a:noFill/>
          <a:ln w="12700">
            <a:solidFill>
              <a:srgbClr val="D5DEEC"/>
            </a:solidFill>
            <a:prstDash val="solid"/>
          </a:ln>
        </p:spPr>
      </p:sp>
      <p:sp>
        <p:nvSpPr>
          <p:cNvPr id="10" name="Text 8"/>
          <p:cNvSpPr/>
          <p:nvPr/>
        </p:nvSpPr>
        <p:spPr>
          <a:xfrm>
            <a:off x="822960" y="4206240"/>
            <a:ext cx="2971800" cy="731520"/>
          </a:xfrm>
          <a:prstGeom prst="rect">
            <a:avLst/>
          </a:prstGeom>
          <a:noFill/>
          <a:ln/>
        </p:spPr>
        <p:txBody>
          <a:bodyPr wrap="square" rtlCol="0" anchor="ctr"/>
          <a:lstStyle/>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Precision: 85.57%</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Recall: 85.29%</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F1-Score: 85.36%</a:t>
            </a:r>
            <a:endParaRPr lang="en-US" sz="1200" dirty="0">
              <a:latin typeface="Times New Roman" panose="02020603050405020304" pitchFamily="18" charset="0"/>
              <a:cs typeface="Times New Roman" panose="02020603050405020304" pitchFamily="18" charset="0"/>
            </a:endParaRPr>
          </a:p>
        </p:txBody>
      </p:sp>
      <p:sp>
        <p:nvSpPr>
          <p:cNvPr id="11" name="Shape 9"/>
          <p:cNvSpPr/>
          <p:nvPr/>
        </p:nvSpPr>
        <p:spPr>
          <a:xfrm>
            <a:off x="4343400" y="1965960"/>
            <a:ext cx="3520440" cy="3017520"/>
          </a:xfrm>
          <a:prstGeom prst="roundRect">
            <a:avLst>
              <a:gd name="adj" fmla="val 3030"/>
            </a:avLst>
          </a:prstGeom>
          <a:solidFill>
            <a:srgbClr val="1C7293"/>
          </a:solidFill>
          <a:ln/>
          <a:effectLst>
            <a:outerShdw blurRad="101600" dist="38100" dir="5400000" algn="bl" rotWithShape="0">
              <a:srgbClr val="000000">
                <a:alpha val="10000"/>
              </a:srgbClr>
            </a:outerShdw>
          </a:effectLst>
        </p:spPr>
      </p:sp>
      <p:sp>
        <p:nvSpPr>
          <p:cNvPr id="12" name="Text 10"/>
          <p:cNvSpPr/>
          <p:nvPr/>
        </p:nvSpPr>
        <p:spPr>
          <a:xfrm>
            <a:off x="4617720" y="2240280"/>
            <a:ext cx="2971800" cy="41148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SVM</a:t>
            </a:r>
            <a:endParaRPr lang="en-US" sz="1700" dirty="0"/>
          </a:p>
        </p:txBody>
      </p:sp>
      <p:sp>
        <p:nvSpPr>
          <p:cNvPr id="13" name="Text 11"/>
          <p:cNvSpPr/>
          <p:nvPr/>
        </p:nvSpPr>
        <p:spPr>
          <a:xfrm>
            <a:off x="4617720" y="2697480"/>
            <a:ext cx="2971800" cy="914400"/>
          </a:xfrm>
          <a:prstGeom prst="rect">
            <a:avLst/>
          </a:prstGeom>
          <a:noFill/>
          <a:ln/>
        </p:spPr>
        <p:txBody>
          <a:bodyPr wrap="square" rtlCol="0" anchor="ctr"/>
          <a:lstStyle/>
          <a:p>
            <a:pPr marL="0" indent="0">
              <a:buNone/>
            </a:pPr>
            <a:r>
              <a:rPr lang="en-US" sz="4400" b="1" dirty="0">
                <a:solidFill>
                  <a:srgbClr val="F2A359"/>
                </a:solidFill>
                <a:latin typeface="Cambria" pitchFamily="34" charset="0"/>
                <a:ea typeface="Cambria" pitchFamily="34" charset="-122"/>
                <a:cs typeface="Cambria" pitchFamily="34" charset="-120"/>
              </a:rPr>
              <a:t>88.24%</a:t>
            </a:r>
            <a:endParaRPr lang="en-US" sz="4400" dirty="0"/>
          </a:p>
        </p:txBody>
      </p:sp>
      <p:sp>
        <p:nvSpPr>
          <p:cNvPr id="14" name="Text 12"/>
          <p:cNvSpPr/>
          <p:nvPr/>
        </p:nvSpPr>
        <p:spPr>
          <a:xfrm>
            <a:off x="4617720" y="3657600"/>
            <a:ext cx="2971800" cy="320040"/>
          </a:xfrm>
          <a:prstGeom prst="rect">
            <a:avLst/>
          </a:prstGeom>
          <a:noFill/>
          <a:ln/>
        </p:spPr>
        <p:txBody>
          <a:bodyPr wrap="square" rtlCol="0" anchor="ctr"/>
          <a:lstStyle/>
          <a:p>
            <a:pPr marL="0" indent="0">
              <a:buNone/>
            </a:pPr>
            <a:r>
              <a:rPr lang="en-US" sz="1150" dirty="0">
                <a:solidFill>
                  <a:srgbClr val="EFF3FB"/>
                </a:solidFill>
                <a:latin typeface="Calibri" pitchFamily="34" charset="0"/>
                <a:ea typeface="Calibri" pitchFamily="34" charset="-122"/>
                <a:cs typeface="Calibri" pitchFamily="34" charset="-120"/>
              </a:rPr>
              <a:t>Accuracy (Testing)</a:t>
            </a:r>
            <a:endParaRPr lang="en-US" sz="1150" dirty="0"/>
          </a:p>
        </p:txBody>
      </p:sp>
      <p:sp>
        <p:nvSpPr>
          <p:cNvPr id="15" name="Shape 13"/>
          <p:cNvSpPr/>
          <p:nvPr/>
        </p:nvSpPr>
        <p:spPr>
          <a:xfrm>
            <a:off x="4617720" y="4069080"/>
            <a:ext cx="2971800" cy="0"/>
          </a:xfrm>
          <a:prstGeom prst="line">
            <a:avLst/>
          </a:prstGeom>
          <a:noFill/>
          <a:ln w="12700">
            <a:solidFill>
              <a:srgbClr val="3A4A85"/>
            </a:solidFill>
            <a:prstDash val="solid"/>
          </a:ln>
        </p:spPr>
      </p:sp>
      <p:sp>
        <p:nvSpPr>
          <p:cNvPr id="16" name="Text 14"/>
          <p:cNvSpPr/>
          <p:nvPr/>
        </p:nvSpPr>
        <p:spPr>
          <a:xfrm>
            <a:off x="4617720" y="4206240"/>
            <a:ext cx="2971800" cy="731520"/>
          </a:xfrm>
          <a:prstGeom prst="rect">
            <a:avLst/>
          </a:prstGeom>
          <a:noFill/>
          <a:ln/>
        </p:spPr>
        <p:txBody>
          <a:bodyPr wrap="square" rtlCol="0" anchor="ctr"/>
          <a:lstStyle/>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Precision: 89.01%</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Recall: 88.24%</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F1-Score: 88.32%</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6446520" y="2221992"/>
            <a:ext cx="1143000" cy="320040"/>
          </a:xfrm>
          <a:prstGeom prst="roundRect">
            <a:avLst>
              <a:gd name="adj" fmla="val 51429"/>
            </a:avLst>
          </a:prstGeom>
          <a:solidFill>
            <a:srgbClr val="F2A359"/>
          </a:solidFill>
          <a:ln/>
        </p:spPr>
      </p:sp>
      <p:sp>
        <p:nvSpPr>
          <p:cNvPr id="18" name="Text 16"/>
          <p:cNvSpPr/>
          <p:nvPr/>
        </p:nvSpPr>
        <p:spPr>
          <a:xfrm>
            <a:off x="6446520" y="2221992"/>
            <a:ext cx="1143000" cy="320040"/>
          </a:xfrm>
          <a:prstGeom prst="rect">
            <a:avLst/>
          </a:prstGeom>
          <a:noFill/>
          <a:ln/>
        </p:spPr>
        <p:txBody>
          <a:bodyPr wrap="square" rtlCol="0" anchor="ctr"/>
          <a:lstStyle/>
          <a:p>
            <a:pPr marL="0" indent="0" algn="ctr">
              <a:buNone/>
            </a:pPr>
            <a:r>
              <a:rPr lang="en-US" sz="950" b="1" dirty="0">
                <a:solidFill>
                  <a:srgbClr val="21295C"/>
                </a:solidFill>
                <a:latin typeface="Calibri" pitchFamily="34" charset="0"/>
                <a:ea typeface="Calibri" pitchFamily="34" charset="-122"/>
                <a:cs typeface="Calibri" pitchFamily="34" charset="-120"/>
              </a:rPr>
              <a:t>TERBAIK</a:t>
            </a:r>
            <a:endParaRPr lang="en-US" sz="950" dirty="0"/>
          </a:p>
        </p:txBody>
      </p:sp>
      <p:sp>
        <p:nvSpPr>
          <p:cNvPr id="19" name="Shape 17"/>
          <p:cNvSpPr/>
          <p:nvPr/>
        </p:nvSpPr>
        <p:spPr>
          <a:xfrm>
            <a:off x="813816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sp>
      <p:sp>
        <p:nvSpPr>
          <p:cNvPr id="20" name="Text 18"/>
          <p:cNvSpPr/>
          <p:nvPr/>
        </p:nvSpPr>
        <p:spPr>
          <a:xfrm>
            <a:off x="8412480" y="2240280"/>
            <a:ext cx="297180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KNN</a:t>
            </a:r>
            <a:endParaRPr lang="en-US" sz="1700" dirty="0"/>
          </a:p>
        </p:txBody>
      </p:sp>
      <p:sp>
        <p:nvSpPr>
          <p:cNvPr id="21" name="Text 19"/>
          <p:cNvSpPr/>
          <p:nvPr/>
        </p:nvSpPr>
        <p:spPr>
          <a:xfrm>
            <a:off x="8412480" y="2697480"/>
            <a:ext cx="2971800" cy="914400"/>
          </a:xfrm>
          <a:prstGeom prst="rect">
            <a:avLst/>
          </a:prstGeom>
          <a:noFill/>
          <a:ln/>
        </p:spPr>
        <p:txBody>
          <a:bodyPr wrap="square" rtlCol="0" anchor="ctr"/>
          <a:lstStyle/>
          <a:p>
            <a:pPr marL="0" indent="0">
              <a:buNone/>
            </a:pPr>
            <a:r>
              <a:rPr lang="en-US" sz="4400" b="1" dirty="0">
                <a:solidFill>
                  <a:srgbClr val="1C7293"/>
                </a:solidFill>
                <a:latin typeface="Cambria" pitchFamily="34" charset="0"/>
                <a:ea typeface="Cambria" pitchFamily="34" charset="-122"/>
                <a:cs typeface="Cambria" pitchFamily="34" charset="-120"/>
              </a:rPr>
              <a:t>85.29%</a:t>
            </a:r>
            <a:endParaRPr lang="en-US" sz="4400" dirty="0"/>
          </a:p>
        </p:txBody>
      </p:sp>
      <p:sp>
        <p:nvSpPr>
          <p:cNvPr id="22" name="Text 20"/>
          <p:cNvSpPr/>
          <p:nvPr/>
        </p:nvSpPr>
        <p:spPr>
          <a:xfrm>
            <a:off x="8412480" y="3657600"/>
            <a:ext cx="2971800" cy="320040"/>
          </a:xfrm>
          <a:prstGeom prst="rect">
            <a:avLst/>
          </a:prstGeom>
          <a:noFill/>
          <a:ln/>
        </p:spPr>
        <p:txBody>
          <a:bodyPr wrap="square" rtlCol="0" anchor="ctr"/>
          <a:lstStyle/>
          <a:p>
            <a:pPr marL="0" indent="0">
              <a:buNone/>
            </a:pPr>
            <a:r>
              <a:rPr lang="en-US" sz="1150" dirty="0">
                <a:solidFill>
                  <a:srgbClr val="5A6B85"/>
                </a:solidFill>
                <a:latin typeface="Calibri" pitchFamily="34" charset="0"/>
                <a:ea typeface="Calibri" pitchFamily="34" charset="-122"/>
                <a:cs typeface="Calibri" pitchFamily="34" charset="-120"/>
              </a:rPr>
              <a:t>Accuracy (Testing)</a:t>
            </a:r>
            <a:endParaRPr lang="en-US" sz="1150" dirty="0"/>
          </a:p>
        </p:txBody>
      </p:sp>
      <p:sp>
        <p:nvSpPr>
          <p:cNvPr id="23" name="Shape 21"/>
          <p:cNvSpPr/>
          <p:nvPr/>
        </p:nvSpPr>
        <p:spPr>
          <a:xfrm>
            <a:off x="8412480" y="4069080"/>
            <a:ext cx="2971800" cy="0"/>
          </a:xfrm>
          <a:prstGeom prst="line">
            <a:avLst/>
          </a:prstGeom>
          <a:noFill/>
          <a:ln w="12700">
            <a:solidFill>
              <a:srgbClr val="D5DEEC"/>
            </a:solidFill>
            <a:prstDash val="solid"/>
          </a:ln>
        </p:spPr>
      </p:sp>
      <p:sp>
        <p:nvSpPr>
          <p:cNvPr id="24" name="Text 22"/>
          <p:cNvSpPr/>
          <p:nvPr/>
        </p:nvSpPr>
        <p:spPr>
          <a:xfrm>
            <a:off x="8412480" y="4206240"/>
            <a:ext cx="2971800" cy="731520"/>
          </a:xfrm>
          <a:prstGeom prst="rect">
            <a:avLst/>
          </a:prstGeom>
          <a:noFill/>
          <a:ln/>
        </p:spPr>
        <p:txBody>
          <a:bodyPr wrap="square" rtlCol="0" anchor="ctr"/>
          <a:lstStyle/>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Precision: 89.16%</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Recall: 85.29%</a:t>
            </a:r>
            <a:endParaRPr lang="en-US" sz="1200" dirty="0">
              <a:latin typeface="Times New Roman" panose="02020603050405020304" pitchFamily="18" charset="0"/>
              <a:cs typeface="Times New Roman" panose="02020603050405020304" pitchFamily="18" charset="0"/>
            </a:endParaRPr>
          </a:p>
          <a:p>
            <a:pPr marL="0" indent="0">
              <a:spcAft>
                <a:spcPts val="300"/>
              </a:spcAft>
              <a:buNone/>
            </a:pPr>
            <a:r>
              <a:rPr lang="en-US" sz="1200" dirty="0">
                <a:solidFill>
                  <a:srgbClr val="1E2761"/>
                </a:solidFill>
                <a:latin typeface="Times New Roman" panose="02020603050405020304" pitchFamily="18" charset="0"/>
                <a:ea typeface="Calibri" pitchFamily="34" charset="-122"/>
                <a:cs typeface="Times New Roman" panose="02020603050405020304" pitchFamily="18" charset="0"/>
              </a:rPr>
              <a:t>F1-Score: 85.36%</a:t>
            </a:r>
            <a:endParaRPr lang="en-US" sz="1200" dirty="0">
              <a:latin typeface="Times New Roman" panose="02020603050405020304" pitchFamily="18" charset="0"/>
              <a:cs typeface="Times New Roman" panose="02020603050405020304" pitchFamily="18" charset="0"/>
            </a:endParaRPr>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9BF3E-0F88-F6CB-A7DB-44B7169347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C8DF43-7E12-4CEF-13B6-2F4423AB12FC}"/>
              </a:ext>
            </a:extLst>
          </p:cNvPr>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HASIL &amp; EVALUASI</a:t>
            </a:r>
            <a:endParaRPr lang="en-US" sz="1200" dirty="0"/>
          </a:p>
        </p:txBody>
      </p:sp>
      <p:sp>
        <p:nvSpPr>
          <p:cNvPr id="3" name="Text 1">
            <a:extLst>
              <a:ext uri="{FF2B5EF4-FFF2-40B4-BE49-F238E27FC236}">
                <a16:creationId xmlns:a16="http://schemas.microsoft.com/office/drawing/2014/main" id="{4E43CBF5-00F5-C020-B0C7-5CB5B7AE29B2}"/>
              </a:ext>
            </a:extLst>
          </p:cNvPr>
          <p:cNvSpPr/>
          <p:nvPr/>
        </p:nvSpPr>
        <p:spPr>
          <a:xfrm>
            <a:off x="548640" y="777240"/>
            <a:ext cx="10515600" cy="640080"/>
          </a:xfrm>
          <a:prstGeom prst="rect">
            <a:avLst/>
          </a:prstGeom>
          <a:noFill/>
          <a:ln/>
        </p:spPr>
        <p:txBody>
          <a:bodyPr wrap="square" rtlCol="0" anchor="ctr"/>
          <a:lstStyle/>
          <a:p>
            <a:r>
              <a:rPr lang="en-US" sz="2700" b="1" dirty="0">
                <a:solidFill>
                  <a:srgbClr val="1E2761"/>
                </a:solidFill>
                <a:latin typeface="Cambria" pitchFamily="34" charset="0"/>
                <a:ea typeface="Cambria" pitchFamily="34" charset="-122"/>
                <a:cs typeface="Cambria" pitchFamily="34" charset="-120"/>
              </a:rPr>
              <a:t>CONFUSION MATRIX — Preprocessing </a:t>
            </a:r>
            <a:r>
              <a:rPr lang="en-US" sz="2700" b="1" dirty="0" err="1">
                <a:solidFill>
                  <a:srgbClr val="1E2761"/>
                </a:solidFill>
                <a:latin typeface="Cambria" pitchFamily="34" charset="0"/>
                <a:ea typeface="Cambria" pitchFamily="34" charset="-122"/>
                <a:cs typeface="Cambria" pitchFamily="34" charset="-120"/>
              </a:rPr>
              <a:t>Lengkap</a:t>
            </a:r>
            <a:r>
              <a:rPr lang="en-US" sz="2700" b="1" dirty="0">
                <a:solidFill>
                  <a:srgbClr val="1E2761"/>
                </a:solidFill>
                <a:latin typeface="Cambria" pitchFamily="34" charset="0"/>
                <a:ea typeface="Cambria" pitchFamily="34" charset="-122"/>
                <a:cs typeface="Cambria" pitchFamily="34" charset="-120"/>
              </a:rPr>
              <a:t> (+ Sharpening + </a:t>
            </a:r>
            <a:r>
              <a:rPr lang="en-US" sz="2700" b="1" dirty="0" err="1">
                <a:solidFill>
                  <a:srgbClr val="1E2761"/>
                </a:solidFill>
                <a:latin typeface="Cambria" pitchFamily="34" charset="0"/>
                <a:ea typeface="Cambria" pitchFamily="34" charset="-122"/>
                <a:cs typeface="Cambria" pitchFamily="34" charset="-120"/>
              </a:rPr>
              <a:t>Dilasi</a:t>
            </a:r>
            <a:r>
              <a:rPr lang="en-US" sz="2700" b="1" dirty="0">
                <a:solidFill>
                  <a:srgbClr val="1E2761"/>
                </a:solidFill>
                <a:latin typeface="Cambria" pitchFamily="34" charset="0"/>
                <a:ea typeface="Cambria" pitchFamily="34" charset="-122"/>
                <a:cs typeface="Cambria" pitchFamily="34" charset="-120"/>
              </a:rPr>
              <a:t>)</a:t>
            </a:r>
            <a:endParaRPr lang="en-US" sz="2700" dirty="0"/>
          </a:p>
        </p:txBody>
      </p:sp>
      <p:sp>
        <p:nvSpPr>
          <p:cNvPr id="5" name="Shape 3">
            <a:extLst>
              <a:ext uri="{FF2B5EF4-FFF2-40B4-BE49-F238E27FC236}">
                <a16:creationId xmlns:a16="http://schemas.microsoft.com/office/drawing/2014/main" id="{58645684-0E59-40E0-01B7-5C12550FE881}"/>
              </a:ext>
            </a:extLst>
          </p:cNvPr>
          <p:cNvSpPr/>
          <p:nvPr/>
        </p:nvSpPr>
        <p:spPr>
          <a:xfrm>
            <a:off x="54864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txBody>
          <a:bodyPr/>
          <a:lstStyle/>
          <a:p>
            <a:endParaRPr lang="en-ID" dirty="0"/>
          </a:p>
        </p:txBody>
      </p:sp>
      <p:sp>
        <p:nvSpPr>
          <p:cNvPr id="6" name="Text 4">
            <a:extLst>
              <a:ext uri="{FF2B5EF4-FFF2-40B4-BE49-F238E27FC236}">
                <a16:creationId xmlns:a16="http://schemas.microsoft.com/office/drawing/2014/main" id="{96DD8ED1-A48E-DC01-0B96-45CB58BC631F}"/>
              </a:ext>
            </a:extLst>
          </p:cNvPr>
          <p:cNvSpPr/>
          <p:nvPr/>
        </p:nvSpPr>
        <p:spPr>
          <a:xfrm>
            <a:off x="822960" y="2240280"/>
            <a:ext cx="2971800" cy="411480"/>
          </a:xfrm>
          <a:prstGeom prst="rect">
            <a:avLst/>
          </a:prstGeom>
          <a:noFill/>
          <a:ln/>
        </p:spPr>
        <p:txBody>
          <a:bodyPr wrap="square" rtlCol="0" anchor="ctr"/>
          <a:lstStyle/>
          <a:p>
            <a:pPr marL="0" indent="0">
              <a:buNone/>
            </a:pPr>
            <a:endParaRPr lang="en-US" sz="1700" dirty="0"/>
          </a:p>
        </p:txBody>
      </p:sp>
      <p:sp>
        <p:nvSpPr>
          <p:cNvPr id="7" name="Text 5">
            <a:extLst>
              <a:ext uri="{FF2B5EF4-FFF2-40B4-BE49-F238E27FC236}">
                <a16:creationId xmlns:a16="http://schemas.microsoft.com/office/drawing/2014/main" id="{47217B29-2E3A-2F82-92F3-74628A57BCD3}"/>
              </a:ext>
            </a:extLst>
          </p:cNvPr>
          <p:cNvSpPr/>
          <p:nvPr/>
        </p:nvSpPr>
        <p:spPr>
          <a:xfrm>
            <a:off x="822960" y="2697480"/>
            <a:ext cx="2971800" cy="914400"/>
          </a:xfrm>
          <a:prstGeom prst="rect">
            <a:avLst/>
          </a:prstGeom>
          <a:noFill/>
          <a:ln/>
        </p:spPr>
        <p:txBody>
          <a:bodyPr wrap="square" rtlCol="0" anchor="ctr"/>
          <a:lstStyle/>
          <a:p>
            <a:pPr marL="0" indent="0">
              <a:buNone/>
            </a:pPr>
            <a:endParaRPr lang="en-US" sz="4400" dirty="0"/>
          </a:p>
        </p:txBody>
      </p:sp>
      <p:sp>
        <p:nvSpPr>
          <p:cNvPr id="8" name="Text 6">
            <a:extLst>
              <a:ext uri="{FF2B5EF4-FFF2-40B4-BE49-F238E27FC236}">
                <a16:creationId xmlns:a16="http://schemas.microsoft.com/office/drawing/2014/main" id="{F481E314-4128-9BF7-5EB4-43756F693198}"/>
              </a:ext>
            </a:extLst>
          </p:cNvPr>
          <p:cNvSpPr/>
          <p:nvPr/>
        </p:nvSpPr>
        <p:spPr>
          <a:xfrm>
            <a:off x="822960" y="3657600"/>
            <a:ext cx="2971800" cy="320040"/>
          </a:xfrm>
          <a:prstGeom prst="rect">
            <a:avLst/>
          </a:prstGeom>
          <a:noFill/>
          <a:ln/>
        </p:spPr>
        <p:txBody>
          <a:bodyPr wrap="square" rtlCol="0" anchor="ctr"/>
          <a:lstStyle/>
          <a:p>
            <a:pPr marL="0" indent="0">
              <a:buNone/>
            </a:pPr>
            <a:endParaRPr lang="en-US" sz="1150" dirty="0"/>
          </a:p>
        </p:txBody>
      </p:sp>
      <p:sp>
        <p:nvSpPr>
          <p:cNvPr id="10" name="Text 8">
            <a:extLst>
              <a:ext uri="{FF2B5EF4-FFF2-40B4-BE49-F238E27FC236}">
                <a16:creationId xmlns:a16="http://schemas.microsoft.com/office/drawing/2014/main" id="{8C50B341-5147-343F-9FC8-20D474EA9C7A}"/>
              </a:ext>
            </a:extLst>
          </p:cNvPr>
          <p:cNvSpPr/>
          <p:nvPr/>
        </p:nvSpPr>
        <p:spPr>
          <a:xfrm>
            <a:off x="82296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1" name="Shape 9">
            <a:extLst>
              <a:ext uri="{FF2B5EF4-FFF2-40B4-BE49-F238E27FC236}">
                <a16:creationId xmlns:a16="http://schemas.microsoft.com/office/drawing/2014/main" id="{1B736BAF-BABF-5EF7-F5D3-8A3713CA06A8}"/>
              </a:ext>
            </a:extLst>
          </p:cNvPr>
          <p:cNvSpPr/>
          <p:nvPr/>
        </p:nvSpPr>
        <p:spPr>
          <a:xfrm>
            <a:off x="4343400" y="1965960"/>
            <a:ext cx="3520440" cy="3017520"/>
          </a:xfrm>
          <a:prstGeom prst="roundRect">
            <a:avLst>
              <a:gd name="adj" fmla="val 3030"/>
            </a:avLst>
          </a:prstGeom>
          <a:solidFill>
            <a:srgbClr val="065A82"/>
          </a:solidFill>
          <a:ln/>
          <a:effectLst>
            <a:outerShdw blurRad="101600" dist="38100" dir="5400000" algn="bl" rotWithShape="0">
              <a:srgbClr val="000000">
                <a:alpha val="10000"/>
              </a:srgbClr>
            </a:outerShdw>
          </a:effectLst>
        </p:spPr>
        <p:txBody>
          <a:bodyPr/>
          <a:lstStyle/>
          <a:p>
            <a:endParaRPr lang="en-ID" dirty="0"/>
          </a:p>
        </p:txBody>
      </p:sp>
      <p:sp>
        <p:nvSpPr>
          <p:cNvPr id="12" name="Text 10">
            <a:extLst>
              <a:ext uri="{FF2B5EF4-FFF2-40B4-BE49-F238E27FC236}">
                <a16:creationId xmlns:a16="http://schemas.microsoft.com/office/drawing/2014/main" id="{82D90F7E-0349-1822-A411-EFBE029A42D6}"/>
              </a:ext>
            </a:extLst>
          </p:cNvPr>
          <p:cNvSpPr/>
          <p:nvPr/>
        </p:nvSpPr>
        <p:spPr>
          <a:xfrm>
            <a:off x="4617720" y="2240280"/>
            <a:ext cx="2971800" cy="411480"/>
          </a:xfrm>
          <a:prstGeom prst="rect">
            <a:avLst/>
          </a:prstGeom>
          <a:noFill/>
          <a:ln/>
        </p:spPr>
        <p:txBody>
          <a:bodyPr wrap="square" rtlCol="0" anchor="ctr"/>
          <a:lstStyle/>
          <a:p>
            <a:pPr marL="0" indent="0">
              <a:buNone/>
            </a:pPr>
            <a:endParaRPr lang="en-US" sz="1700" dirty="0"/>
          </a:p>
        </p:txBody>
      </p:sp>
      <p:sp>
        <p:nvSpPr>
          <p:cNvPr id="13" name="Text 11">
            <a:extLst>
              <a:ext uri="{FF2B5EF4-FFF2-40B4-BE49-F238E27FC236}">
                <a16:creationId xmlns:a16="http://schemas.microsoft.com/office/drawing/2014/main" id="{7A8FE70F-E42E-BE4A-127F-CF31C6494D5F}"/>
              </a:ext>
            </a:extLst>
          </p:cNvPr>
          <p:cNvSpPr/>
          <p:nvPr/>
        </p:nvSpPr>
        <p:spPr>
          <a:xfrm>
            <a:off x="4617720" y="2697480"/>
            <a:ext cx="2971800" cy="914400"/>
          </a:xfrm>
          <a:prstGeom prst="rect">
            <a:avLst/>
          </a:prstGeom>
          <a:noFill/>
          <a:ln/>
        </p:spPr>
        <p:txBody>
          <a:bodyPr wrap="square" rtlCol="0" anchor="ctr"/>
          <a:lstStyle/>
          <a:p>
            <a:pPr marL="0" indent="0">
              <a:buNone/>
            </a:pPr>
            <a:endParaRPr lang="en-US" sz="4400" dirty="0"/>
          </a:p>
        </p:txBody>
      </p:sp>
      <p:sp>
        <p:nvSpPr>
          <p:cNvPr id="14" name="Text 12">
            <a:extLst>
              <a:ext uri="{FF2B5EF4-FFF2-40B4-BE49-F238E27FC236}">
                <a16:creationId xmlns:a16="http://schemas.microsoft.com/office/drawing/2014/main" id="{FD39C747-D2B8-499C-B929-F1E957FB99B9}"/>
              </a:ext>
            </a:extLst>
          </p:cNvPr>
          <p:cNvSpPr/>
          <p:nvPr/>
        </p:nvSpPr>
        <p:spPr>
          <a:xfrm>
            <a:off x="4617720" y="3657600"/>
            <a:ext cx="2971800" cy="320040"/>
          </a:xfrm>
          <a:prstGeom prst="rect">
            <a:avLst/>
          </a:prstGeom>
          <a:noFill/>
          <a:ln/>
        </p:spPr>
        <p:txBody>
          <a:bodyPr wrap="square" rtlCol="0" anchor="ctr"/>
          <a:lstStyle/>
          <a:p>
            <a:pPr marL="0" indent="0">
              <a:buNone/>
            </a:pPr>
            <a:endParaRPr lang="en-US" sz="1150" dirty="0"/>
          </a:p>
        </p:txBody>
      </p:sp>
      <p:sp>
        <p:nvSpPr>
          <p:cNvPr id="16" name="Text 14">
            <a:extLst>
              <a:ext uri="{FF2B5EF4-FFF2-40B4-BE49-F238E27FC236}">
                <a16:creationId xmlns:a16="http://schemas.microsoft.com/office/drawing/2014/main" id="{4C7908DC-E680-5F69-53DA-3A00F65D1532}"/>
              </a:ext>
            </a:extLst>
          </p:cNvPr>
          <p:cNvSpPr/>
          <p:nvPr/>
        </p:nvSpPr>
        <p:spPr>
          <a:xfrm>
            <a:off x="461772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18" name="Text 16">
            <a:extLst>
              <a:ext uri="{FF2B5EF4-FFF2-40B4-BE49-F238E27FC236}">
                <a16:creationId xmlns:a16="http://schemas.microsoft.com/office/drawing/2014/main" id="{E98EAD96-3E6A-2A4B-A913-6840243DD9EF}"/>
              </a:ext>
            </a:extLst>
          </p:cNvPr>
          <p:cNvSpPr/>
          <p:nvPr/>
        </p:nvSpPr>
        <p:spPr>
          <a:xfrm>
            <a:off x="6446520" y="2221992"/>
            <a:ext cx="1143000" cy="320040"/>
          </a:xfrm>
          <a:prstGeom prst="rect">
            <a:avLst/>
          </a:prstGeom>
          <a:noFill/>
          <a:ln/>
        </p:spPr>
        <p:txBody>
          <a:bodyPr wrap="square" rtlCol="0" anchor="ctr"/>
          <a:lstStyle/>
          <a:p>
            <a:pPr marL="0" indent="0" algn="ctr">
              <a:buNone/>
            </a:pPr>
            <a:endParaRPr lang="en-US" sz="950" b="1" dirty="0">
              <a:solidFill>
                <a:srgbClr val="21295C"/>
              </a:solidFill>
              <a:latin typeface="Calibri" pitchFamily="34" charset="0"/>
              <a:ea typeface="Calibri" pitchFamily="34" charset="-122"/>
              <a:cs typeface="Calibri" pitchFamily="34" charset="-120"/>
            </a:endParaRPr>
          </a:p>
        </p:txBody>
      </p:sp>
      <p:sp>
        <p:nvSpPr>
          <p:cNvPr id="19" name="Shape 17">
            <a:extLst>
              <a:ext uri="{FF2B5EF4-FFF2-40B4-BE49-F238E27FC236}">
                <a16:creationId xmlns:a16="http://schemas.microsoft.com/office/drawing/2014/main" id="{C0513346-FB22-E98C-2D91-CECDCAE8ED55}"/>
              </a:ext>
            </a:extLst>
          </p:cNvPr>
          <p:cNvSpPr/>
          <p:nvPr/>
        </p:nvSpPr>
        <p:spPr>
          <a:xfrm>
            <a:off x="8138160" y="1965960"/>
            <a:ext cx="3520440" cy="3017520"/>
          </a:xfrm>
          <a:prstGeom prst="roundRect">
            <a:avLst>
              <a:gd name="adj" fmla="val 3030"/>
            </a:avLst>
          </a:prstGeom>
          <a:solidFill>
            <a:srgbClr val="EAF4F7"/>
          </a:solidFill>
          <a:ln/>
          <a:effectLst>
            <a:outerShdw blurRad="101600" dist="38100" dir="5400000" algn="bl" rotWithShape="0">
              <a:srgbClr val="000000">
                <a:alpha val="10000"/>
              </a:srgbClr>
            </a:outerShdw>
          </a:effectLst>
        </p:spPr>
        <p:txBody>
          <a:bodyPr/>
          <a:lstStyle/>
          <a:p>
            <a:endParaRPr lang="en-ID" dirty="0"/>
          </a:p>
        </p:txBody>
      </p:sp>
      <p:sp>
        <p:nvSpPr>
          <p:cNvPr id="20" name="Text 18">
            <a:extLst>
              <a:ext uri="{FF2B5EF4-FFF2-40B4-BE49-F238E27FC236}">
                <a16:creationId xmlns:a16="http://schemas.microsoft.com/office/drawing/2014/main" id="{F076C3CB-6EFF-FBB0-AE39-687D7AD806EA}"/>
              </a:ext>
            </a:extLst>
          </p:cNvPr>
          <p:cNvSpPr/>
          <p:nvPr/>
        </p:nvSpPr>
        <p:spPr>
          <a:xfrm>
            <a:off x="8412480" y="2240280"/>
            <a:ext cx="2971800" cy="411480"/>
          </a:xfrm>
          <a:prstGeom prst="rect">
            <a:avLst/>
          </a:prstGeom>
          <a:noFill/>
          <a:ln/>
        </p:spPr>
        <p:txBody>
          <a:bodyPr wrap="square" rtlCol="0" anchor="ctr"/>
          <a:lstStyle/>
          <a:p>
            <a:pPr marL="0" indent="0">
              <a:buNone/>
            </a:pPr>
            <a:endParaRPr lang="en-US" sz="1700" dirty="0"/>
          </a:p>
        </p:txBody>
      </p:sp>
      <p:sp>
        <p:nvSpPr>
          <p:cNvPr id="21" name="Text 19">
            <a:extLst>
              <a:ext uri="{FF2B5EF4-FFF2-40B4-BE49-F238E27FC236}">
                <a16:creationId xmlns:a16="http://schemas.microsoft.com/office/drawing/2014/main" id="{69C6B598-31F1-E2FF-50EB-2927394ED9A0}"/>
              </a:ext>
            </a:extLst>
          </p:cNvPr>
          <p:cNvSpPr/>
          <p:nvPr/>
        </p:nvSpPr>
        <p:spPr>
          <a:xfrm>
            <a:off x="8412480" y="2697480"/>
            <a:ext cx="2971800" cy="914400"/>
          </a:xfrm>
          <a:prstGeom prst="rect">
            <a:avLst/>
          </a:prstGeom>
          <a:noFill/>
          <a:ln/>
        </p:spPr>
        <p:txBody>
          <a:bodyPr wrap="square" rtlCol="0" anchor="ctr"/>
          <a:lstStyle/>
          <a:p>
            <a:pPr marL="0" indent="0">
              <a:buNone/>
            </a:pPr>
            <a:endParaRPr lang="en-US" sz="4400" dirty="0"/>
          </a:p>
        </p:txBody>
      </p:sp>
      <p:sp>
        <p:nvSpPr>
          <p:cNvPr id="22" name="Text 20">
            <a:extLst>
              <a:ext uri="{FF2B5EF4-FFF2-40B4-BE49-F238E27FC236}">
                <a16:creationId xmlns:a16="http://schemas.microsoft.com/office/drawing/2014/main" id="{7D3E76EC-DEEF-9C0D-EAD7-36D4A4A8CB22}"/>
              </a:ext>
            </a:extLst>
          </p:cNvPr>
          <p:cNvSpPr/>
          <p:nvPr/>
        </p:nvSpPr>
        <p:spPr>
          <a:xfrm>
            <a:off x="8412480" y="3657600"/>
            <a:ext cx="2971800" cy="320040"/>
          </a:xfrm>
          <a:prstGeom prst="rect">
            <a:avLst/>
          </a:prstGeom>
          <a:noFill/>
          <a:ln/>
        </p:spPr>
        <p:txBody>
          <a:bodyPr wrap="square" rtlCol="0" anchor="ctr"/>
          <a:lstStyle/>
          <a:p>
            <a:pPr marL="0" indent="0">
              <a:buNone/>
            </a:pPr>
            <a:endParaRPr lang="en-US" sz="1150" dirty="0"/>
          </a:p>
        </p:txBody>
      </p:sp>
      <p:sp>
        <p:nvSpPr>
          <p:cNvPr id="24" name="Text 22">
            <a:extLst>
              <a:ext uri="{FF2B5EF4-FFF2-40B4-BE49-F238E27FC236}">
                <a16:creationId xmlns:a16="http://schemas.microsoft.com/office/drawing/2014/main" id="{221E79E1-33EA-8BBA-E65D-619BBFCD82BC}"/>
              </a:ext>
            </a:extLst>
          </p:cNvPr>
          <p:cNvSpPr/>
          <p:nvPr/>
        </p:nvSpPr>
        <p:spPr>
          <a:xfrm>
            <a:off x="8412480" y="4206240"/>
            <a:ext cx="2971800" cy="731520"/>
          </a:xfrm>
          <a:prstGeom prst="rect">
            <a:avLst/>
          </a:prstGeom>
          <a:noFill/>
          <a:ln/>
        </p:spPr>
        <p:txBody>
          <a:bodyPr wrap="square" rtlCol="0" anchor="ctr"/>
          <a:lstStyle/>
          <a:p>
            <a:pPr marL="0" indent="0">
              <a:spcAft>
                <a:spcPts val="300"/>
              </a:spcAft>
              <a:buNone/>
            </a:pPr>
            <a:endParaRPr lang="en-US" sz="12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185895D8-DEE4-8498-2ACD-405D736EE460}"/>
              </a:ext>
            </a:extLst>
          </p:cNvPr>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A9B4C9"/>
                </a:solidFill>
                <a:latin typeface="Calibri" pitchFamily="34" charset="0"/>
                <a:ea typeface="Calibri" pitchFamily="34" charset="-122"/>
                <a:cs typeface="Calibri" pitchFamily="34" charset="-120"/>
              </a:rPr>
              <a:t>11</a:t>
            </a:r>
            <a:endParaRPr lang="en-US" sz="1000" dirty="0"/>
          </a:p>
        </p:txBody>
      </p:sp>
      <p:pic>
        <p:nvPicPr>
          <p:cNvPr id="9" name="Picture 8">
            <a:extLst>
              <a:ext uri="{FF2B5EF4-FFF2-40B4-BE49-F238E27FC236}">
                <a16:creationId xmlns:a16="http://schemas.microsoft.com/office/drawing/2014/main" id="{20A9DFC9-C5CA-249B-BC96-D37ED8DD0E06}"/>
              </a:ext>
            </a:extLst>
          </p:cNvPr>
          <p:cNvPicPr>
            <a:picLocks noChangeAspect="1"/>
          </p:cNvPicPr>
          <p:nvPr/>
        </p:nvPicPr>
        <p:blipFill>
          <a:blip r:embed="rId3"/>
          <a:stretch>
            <a:fillRect/>
          </a:stretch>
        </p:blipFill>
        <p:spPr>
          <a:xfrm>
            <a:off x="676157" y="2162604"/>
            <a:ext cx="3265406" cy="2624232"/>
          </a:xfrm>
          <a:prstGeom prst="rect">
            <a:avLst/>
          </a:prstGeom>
        </p:spPr>
      </p:pic>
      <p:pic>
        <p:nvPicPr>
          <p:cNvPr id="17" name="Picture 16">
            <a:extLst>
              <a:ext uri="{FF2B5EF4-FFF2-40B4-BE49-F238E27FC236}">
                <a16:creationId xmlns:a16="http://schemas.microsoft.com/office/drawing/2014/main" id="{E017214C-1BA2-3E54-43F5-742B41961476}"/>
              </a:ext>
            </a:extLst>
          </p:cNvPr>
          <p:cNvPicPr>
            <a:picLocks noChangeAspect="1"/>
          </p:cNvPicPr>
          <p:nvPr/>
        </p:nvPicPr>
        <p:blipFill>
          <a:blip r:embed="rId4"/>
          <a:stretch>
            <a:fillRect/>
          </a:stretch>
        </p:blipFill>
        <p:spPr>
          <a:xfrm>
            <a:off x="4456626" y="2162604"/>
            <a:ext cx="3293988" cy="2624232"/>
          </a:xfrm>
          <a:prstGeom prst="rect">
            <a:avLst/>
          </a:prstGeom>
        </p:spPr>
      </p:pic>
      <p:pic>
        <p:nvPicPr>
          <p:cNvPr id="27" name="Picture 26">
            <a:extLst>
              <a:ext uri="{FF2B5EF4-FFF2-40B4-BE49-F238E27FC236}">
                <a16:creationId xmlns:a16="http://schemas.microsoft.com/office/drawing/2014/main" id="{00D9C64D-12BD-DC8C-D84E-60227467EFAE}"/>
              </a:ext>
            </a:extLst>
          </p:cNvPr>
          <p:cNvPicPr>
            <a:picLocks noChangeAspect="1"/>
          </p:cNvPicPr>
          <p:nvPr/>
        </p:nvPicPr>
        <p:blipFill>
          <a:blip r:embed="rId5"/>
          <a:stretch>
            <a:fillRect/>
          </a:stretch>
        </p:blipFill>
        <p:spPr>
          <a:xfrm>
            <a:off x="8238744" y="2162604"/>
            <a:ext cx="3319272" cy="2638238"/>
          </a:xfrm>
          <a:prstGeom prst="rect">
            <a:avLst/>
          </a:prstGeom>
        </p:spPr>
      </p:pic>
    </p:spTree>
    <p:extLst>
      <p:ext uri="{BB962C8B-B14F-4D97-AF65-F5344CB8AC3E}">
        <p14:creationId xmlns:p14="http://schemas.microsoft.com/office/powerpoint/2010/main" val="1949350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188720" y="-1813290"/>
            <a:ext cx="5486400" cy="5486400"/>
          </a:xfrm>
          <a:prstGeom prst="ellipse">
            <a:avLst/>
          </a:prstGeom>
          <a:solidFill>
            <a:srgbClr val="065A82">
              <a:alpha val="40000"/>
            </a:srgbClr>
          </a:solidFill>
          <a:ln/>
        </p:spPr>
      </p:sp>
      <p:sp>
        <p:nvSpPr>
          <p:cNvPr id="3" name="Text 1"/>
          <p:cNvSpPr/>
          <p:nvPr/>
        </p:nvSpPr>
        <p:spPr>
          <a:xfrm>
            <a:off x="548640" y="411480"/>
            <a:ext cx="7315200" cy="365760"/>
          </a:xfrm>
          <a:prstGeom prst="rect">
            <a:avLst/>
          </a:prstGeom>
          <a:noFill/>
          <a:ln/>
        </p:spPr>
        <p:txBody>
          <a:bodyPr wrap="square" rtlCol="0" anchor="ctr"/>
          <a:lstStyle/>
          <a:p>
            <a:pPr marL="0" indent="0">
              <a:buNone/>
            </a:pPr>
            <a:r>
              <a:rPr lang="en-US" sz="1200" b="1" kern="0" spc="200" dirty="0">
                <a:solidFill>
                  <a:srgbClr val="7FB3D5"/>
                </a:solidFill>
                <a:latin typeface="Calibri" pitchFamily="34" charset="0"/>
                <a:ea typeface="Calibri" pitchFamily="34" charset="-122"/>
                <a:cs typeface="Calibri" pitchFamily="34" charset="-120"/>
              </a:rPr>
              <a:t>KESIMPULAN</a:t>
            </a:r>
            <a:endParaRPr lang="en-US" sz="1200" dirty="0"/>
          </a:p>
        </p:txBody>
      </p:sp>
      <p:sp>
        <p:nvSpPr>
          <p:cNvPr id="4" name="Text 2"/>
          <p:cNvSpPr/>
          <p:nvPr/>
        </p:nvSpPr>
        <p:spPr>
          <a:xfrm>
            <a:off x="4206240" y="777240"/>
            <a:ext cx="356616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Ringkasan Temuan</a:t>
            </a:r>
            <a:endParaRPr lang="en-US" sz="3000" dirty="0"/>
          </a:p>
        </p:txBody>
      </p:sp>
      <p:sp>
        <p:nvSpPr>
          <p:cNvPr id="5" name="Text 3"/>
          <p:cNvSpPr/>
          <p:nvPr/>
        </p:nvSpPr>
        <p:spPr>
          <a:xfrm>
            <a:off x="548640" y="1691640"/>
            <a:ext cx="1005840" cy="914400"/>
          </a:xfrm>
          <a:prstGeom prst="rect">
            <a:avLst/>
          </a:prstGeom>
          <a:noFill/>
          <a:ln/>
        </p:spPr>
        <p:txBody>
          <a:bodyPr wrap="square" rtlCol="0" anchor="ctr"/>
          <a:lstStyle/>
          <a:p>
            <a:pPr marL="0" indent="0">
              <a:buNone/>
            </a:pPr>
            <a:endParaRPr lang="en-US" sz="3600" dirty="0"/>
          </a:p>
        </p:txBody>
      </p:sp>
      <p:sp>
        <p:nvSpPr>
          <p:cNvPr id="6" name="Text 4"/>
          <p:cNvSpPr/>
          <p:nvPr/>
        </p:nvSpPr>
        <p:spPr>
          <a:xfrm>
            <a:off x="579120" y="1432021"/>
            <a:ext cx="4434840" cy="411480"/>
          </a:xfrm>
          <a:prstGeom prst="rect">
            <a:avLst/>
          </a:prstGeom>
          <a:noFill/>
          <a:ln/>
        </p:spPr>
        <p:txBody>
          <a:bodyPr wrap="square" rtlCol="0" anchor="ctr"/>
          <a:lstStyle/>
          <a:p>
            <a:pPr marL="0" indent="0">
              <a:buNone/>
            </a:pPr>
            <a:endParaRPr lang="en-US" sz="1500" dirty="0"/>
          </a:p>
        </p:txBody>
      </p:sp>
      <p:sp>
        <p:nvSpPr>
          <p:cNvPr id="7" name="Text 5"/>
          <p:cNvSpPr/>
          <p:nvPr/>
        </p:nvSpPr>
        <p:spPr>
          <a:xfrm>
            <a:off x="1463040" y="2130552"/>
            <a:ext cx="4434840" cy="1188720"/>
          </a:xfrm>
          <a:prstGeom prst="rect">
            <a:avLst/>
          </a:prstGeom>
          <a:noFill/>
          <a:ln/>
        </p:spPr>
        <p:txBody>
          <a:bodyPr wrap="square" rtlCol="0" anchor="ctr"/>
          <a:lstStyle/>
          <a:p>
            <a:pPr marL="0" indent="0">
              <a:lnSpc>
                <a:spcPct val="125000"/>
              </a:lnSpc>
              <a:buNone/>
            </a:pPr>
            <a:endParaRPr lang="en-US" sz="1200" dirty="0">
              <a:latin typeface="Times New Roman" panose="02020603050405020304" pitchFamily="18" charset="0"/>
              <a:cs typeface="Times New Roman" panose="02020603050405020304" pitchFamily="18" charset="0"/>
            </a:endParaRPr>
          </a:p>
        </p:txBody>
      </p:sp>
      <p:sp>
        <p:nvSpPr>
          <p:cNvPr id="8" name="Text 6"/>
          <p:cNvSpPr/>
          <p:nvPr/>
        </p:nvSpPr>
        <p:spPr>
          <a:xfrm>
            <a:off x="6263640" y="1691640"/>
            <a:ext cx="1005840" cy="914400"/>
          </a:xfrm>
          <a:prstGeom prst="rect">
            <a:avLst/>
          </a:prstGeom>
          <a:noFill/>
          <a:ln/>
        </p:spPr>
        <p:txBody>
          <a:bodyPr wrap="square" rtlCol="0" anchor="ctr"/>
          <a:lstStyle/>
          <a:p>
            <a:pPr marL="0" indent="0">
              <a:buNone/>
            </a:pPr>
            <a:endParaRPr lang="en-US" sz="3600" dirty="0"/>
          </a:p>
        </p:txBody>
      </p:sp>
      <p:sp>
        <p:nvSpPr>
          <p:cNvPr id="9" name="Text 7"/>
          <p:cNvSpPr/>
          <p:nvPr/>
        </p:nvSpPr>
        <p:spPr>
          <a:xfrm>
            <a:off x="7178040" y="1709928"/>
            <a:ext cx="4434840" cy="411480"/>
          </a:xfrm>
          <a:prstGeom prst="rect">
            <a:avLst/>
          </a:prstGeom>
          <a:noFill/>
          <a:ln/>
        </p:spPr>
        <p:txBody>
          <a:bodyPr wrap="square" rtlCol="0" anchor="ctr"/>
          <a:lstStyle/>
          <a:p>
            <a:pPr marL="0" indent="0">
              <a:buNone/>
            </a:pPr>
            <a:endParaRPr lang="en-US" sz="1500" dirty="0"/>
          </a:p>
        </p:txBody>
      </p:sp>
      <p:sp>
        <p:nvSpPr>
          <p:cNvPr id="10" name="Text 8"/>
          <p:cNvSpPr/>
          <p:nvPr/>
        </p:nvSpPr>
        <p:spPr>
          <a:xfrm>
            <a:off x="7178040" y="2130552"/>
            <a:ext cx="4434840" cy="1188720"/>
          </a:xfrm>
          <a:prstGeom prst="rect">
            <a:avLst/>
          </a:prstGeom>
          <a:noFill/>
          <a:ln/>
        </p:spPr>
        <p:txBody>
          <a:bodyPr wrap="square" rtlCol="0" anchor="ctr"/>
          <a:lstStyle/>
          <a:p>
            <a:pPr marL="0" indent="0">
              <a:lnSpc>
                <a:spcPct val="125000"/>
              </a:lnSpc>
              <a:buNone/>
            </a:pP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548640" y="3749040"/>
            <a:ext cx="1005840" cy="914400"/>
          </a:xfrm>
          <a:prstGeom prst="rect">
            <a:avLst/>
          </a:prstGeom>
          <a:noFill/>
          <a:ln/>
        </p:spPr>
        <p:txBody>
          <a:bodyPr wrap="square" rtlCol="0" anchor="ctr"/>
          <a:lstStyle/>
          <a:p>
            <a:pPr marL="0" indent="0">
              <a:buNone/>
            </a:pPr>
            <a:endParaRPr lang="en-US" sz="3600" dirty="0"/>
          </a:p>
        </p:txBody>
      </p:sp>
      <p:sp>
        <p:nvSpPr>
          <p:cNvPr id="12" name="Text 10"/>
          <p:cNvSpPr/>
          <p:nvPr/>
        </p:nvSpPr>
        <p:spPr>
          <a:xfrm>
            <a:off x="1463040" y="3767328"/>
            <a:ext cx="4434840" cy="411480"/>
          </a:xfrm>
          <a:prstGeom prst="rect">
            <a:avLst/>
          </a:prstGeom>
          <a:noFill/>
          <a:ln/>
        </p:spPr>
        <p:txBody>
          <a:bodyPr wrap="square" rtlCol="0" anchor="ctr"/>
          <a:lstStyle/>
          <a:p>
            <a:pPr marL="0" indent="0">
              <a:buNone/>
            </a:pPr>
            <a:endParaRPr lang="en-US" sz="1500" dirty="0"/>
          </a:p>
        </p:txBody>
      </p:sp>
      <p:sp>
        <p:nvSpPr>
          <p:cNvPr id="13" name="Text 11"/>
          <p:cNvSpPr/>
          <p:nvPr/>
        </p:nvSpPr>
        <p:spPr>
          <a:xfrm>
            <a:off x="387250" y="1882276"/>
            <a:ext cx="11417500" cy="3795571"/>
          </a:xfrm>
          <a:prstGeom prst="rect">
            <a:avLst/>
          </a:prstGeom>
          <a:noFill/>
          <a:ln/>
        </p:spPr>
        <p:txBody>
          <a:bodyPr wrap="square" rtlCol="0" anchor="ctr"/>
          <a:lstStyle/>
          <a:p>
            <a:pPr marL="171450" indent="-171450" algn="just">
              <a:lnSpc>
                <a:spcPct val="125000"/>
              </a:lnSpc>
              <a:buFont typeface="Wingdings" panose="05000000000000000000" pitchFamily="2" charset="2"/>
              <a:buChar char="v"/>
            </a:pPr>
            <a:r>
              <a:rPr lang="en-ID" sz="1600" dirty="0">
                <a:solidFill>
                  <a:schemeClr val="bg1"/>
                </a:solidFill>
                <a:latin typeface="Cambria" panose="02040503050406030204" pitchFamily="18" charset="0"/>
                <a:ea typeface="Cambria" panose="02040503050406030204" pitchFamily="18" charset="0"/>
              </a:rPr>
              <a:t>Metode GLCM </a:t>
            </a:r>
            <a:r>
              <a:rPr lang="en-ID" sz="1600" dirty="0" err="1">
                <a:solidFill>
                  <a:schemeClr val="bg1"/>
                </a:solidFill>
                <a:latin typeface="Cambria" panose="02040503050406030204" pitchFamily="18" charset="0"/>
                <a:ea typeface="Cambria" panose="02040503050406030204" pitchFamily="18" charset="0"/>
              </a:rPr>
              <a:t>berhasil</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digunakan</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untuk</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mengekstraksi</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fitur</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tekstur</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citra</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kain</a:t>
            </a:r>
            <a:r>
              <a:rPr lang="en-ID" sz="1600" dirty="0">
                <a:solidFill>
                  <a:schemeClr val="bg1"/>
                </a:solidFill>
                <a:latin typeface="Cambria" panose="02040503050406030204" pitchFamily="18" charset="0"/>
                <a:ea typeface="Cambria" panose="02040503050406030204" pitchFamily="18" charset="0"/>
              </a:rPr>
              <a:t> defect dan non-defect.</a:t>
            </a:r>
          </a:p>
          <a:p>
            <a:pPr marL="171450" indent="-171450" algn="just">
              <a:lnSpc>
                <a:spcPct val="125000"/>
              </a:lnSpc>
              <a:buFont typeface="Wingdings" panose="05000000000000000000" pitchFamily="2" charset="2"/>
              <a:buChar char="v"/>
            </a:pPr>
            <a:endParaRPr lang="en-ID" sz="16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pPr marL="171450" indent="-171450" algn="just">
              <a:lnSpc>
                <a:spcPct val="125000"/>
              </a:lnSpc>
              <a:buFont typeface="Wingdings" panose="05000000000000000000" pitchFamily="2" charset="2"/>
              <a:buChar char="v"/>
            </a:pPr>
            <a:r>
              <a:rPr lang="en-ID" sz="1600" dirty="0" err="1">
                <a:solidFill>
                  <a:schemeClr val="bg1"/>
                </a:solidFill>
                <a:latin typeface="Cambria" panose="02040503050406030204" pitchFamily="18" charset="0"/>
                <a:ea typeface="Cambria" panose="02040503050406030204" pitchFamily="18" charset="0"/>
              </a:rPr>
              <a:t>Algoritma</a:t>
            </a:r>
            <a:r>
              <a:rPr lang="en-ID" sz="1600" dirty="0">
                <a:solidFill>
                  <a:schemeClr val="bg1"/>
                </a:solidFill>
                <a:latin typeface="Cambria" panose="02040503050406030204" pitchFamily="18" charset="0"/>
                <a:ea typeface="Cambria" panose="02040503050406030204" pitchFamily="18" charset="0"/>
              </a:rPr>
              <a:t> SVM </a:t>
            </a:r>
            <a:r>
              <a:rPr lang="en-ID" sz="1600" dirty="0" err="1">
                <a:solidFill>
                  <a:schemeClr val="bg1"/>
                </a:solidFill>
                <a:latin typeface="Cambria" panose="02040503050406030204" pitchFamily="18" charset="0"/>
                <a:ea typeface="Cambria" panose="02040503050406030204" pitchFamily="18" charset="0"/>
              </a:rPr>
              <a:t>memberikan</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performa</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terbaik</a:t>
            </a:r>
            <a:r>
              <a:rPr lang="en-ID" sz="1600" dirty="0">
                <a:solidFill>
                  <a:schemeClr val="bg1"/>
                </a:solidFill>
                <a:latin typeface="Cambria" panose="02040503050406030204" pitchFamily="18" charset="0"/>
                <a:ea typeface="Cambria" panose="02040503050406030204" pitchFamily="18" charset="0"/>
              </a:rPr>
              <a:t> pada </a:t>
            </a:r>
            <a:r>
              <a:rPr lang="en-ID" sz="1600" dirty="0" err="1">
                <a:solidFill>
                  <a:schemeClr val="bg1"/>
                </a:solidFill>
                <a:latin typeface="Cambria" panose="02040503050406030204" pitchFamily="18" charset="0"/>
                <a:ea typeface="Cambria" panose="02040503050406030204" pitchFamily="18" charset="0"/>
              </a:rPr>
              <a:t>seluruh</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percobaan</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dibandingkan</a:t>
            </a:r>
            <a:r>
              <a:rPr lang="en-ID" sz="1600" dirty="0">
                <a:solidFill>
                  <a:schemeClr val="bg1"/>
                </a:solidFill>
                <a:latin typeface="Cambria" panose="02040503050406030204" pitchFamily="18" charset="0"/>
                <a:ea typeface="Cambria" panose="02040503050406030204" pitchFamily="18" charset="0"/>
              </a:rPr>
              <a:t> Random Forest dan KNN. </a:t>
            </a:r>
          </a:p>
          <a:p>
            <a:pPr algn="just">
              <a:lnSpc>
                <a:spcPct val="125000"/>
              </a:lnSpc>
            </a:pPr>
            <a:endParaRPr lang="en-ID" sz="16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pPr marL="171450" indent="-171450" algn="just">
              <a:lnSpc>
                <a:spcPct val="125000"/>
              </a:lnSpc>
              <a:buFont typeface="Wingdings" panose="05000000000000000000" pitchFamily="2" charset="2"/>
              <a:buChar char="v"/>
            </a:pPr>
            <a:r>
              <a:rPr lang="en-ID" sz="1600" dirty="0">
                <a:solidFill>
                  <a:schemeClr val="bg1"/>
                </a:solidFill>
                <a:latin typeface="Cambria" panose="02040503050406030204" pitchFamily="18" charset="0"/>
                <a:ea typeface="Cambria" panose="02040503050406030204" pitchFamily="18" charset="0"/>
              </a:rPr>
              <a:t>Hasil </a:t>
            </a:r>
            <a:r>
              <a:rPr lang="en-ID" sz="1600" dirty="0" err="1">
                <a:solidFill>
                  <a:schemeClr val="bg1"/>
                </a:solidFill>
                <a:latin typeface="Cambria" panose="02040503050406030204" pitchFamily="18" charset="0"/>
                <a:ea typeface="Cambria" panose="02040503050406030204" pitchFamily="18" charset="0"/>
              </a:rPr>
              <a:t>terbaik</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diperoleh</a:t>
            </a:r>
            <a:r>
              <a:rPr lang="en-ID" sz="1600" dirty="0">
                <a:solidFill>
                  <a:schemeClr val="bg1"/>
                </a:solidFill>
                <a:latin typeface="Cambria" panose="02040503050406030204" pitchFamily="18" charset="0"/>
                <a:ea typeface="Cambria" panose="02040503050406030204" pitchFamily="18" charset="0"/>
              </a:rPr>
              <a:t> pada </a:t>
            </a:r>
            <a:r>
              <a:rPr lang="en-ID" sz="1600" dirty="0" err="1">
                <a:solidFill>
                  <a:schemeClr val="bg1"/>
                </a:solidFill>
                <a:latin typeface="Cambria" panose="02040503050406030204" pitchFamily="18" charset="0"/>
                <a:ea typeface="Cambria" panose="02040503050406030204" pitchFamily="18" charset="0"/>
              </a:rPr>
              <a:t>Percobaan</a:t>
            </a:r>
            <a:r>
              <a:rPr lang="en-ID" sz="1600" dirty="0">
                <a:solidFill>
                  <a:schemeClr val="bg1"/>
                </a:solidFill>
                <a:latin typeface="Cambria" panose="02040503050406030204" pitchFamily="18" charset="0"/>
                <a:ea typeface="Cambria" panose="02040503050406030204" pitchFamily="18" charset="0"/>
              </a:rPr>
              <a:t> 1 (Resize + Grayscale) </a:t>
            </a:r>
            <a:r>
              <a:rPr lang="en-ID" sz="1600" dirty="0" err="1">
                <a:solidFill>
                  <a:schemeClr val="bg1"/>
                </a:solidFill>
                <a:latin typeface="Cambria" panose="02040503050406030204" pitchFamily="18" charset="0"/>
                <a:ea typeface="Cambria" panose="02040503050406030204" pitchFamily="18" charset="0"/>
              </a:rPr>
              <a:t>dengan</a:t>
            </a:r>
            <a:r>
              <a:rPr lang="en-ID" sz="1600" dirty="0">
                <a:solidFill>
                  <a:schemeClr val="bg1"/>
                </a:solidFill>
                <a:latin typeface="Cambria" panose="02040503050406030204" pitchFamily="18" charset="0"/>
                <a:ea typeface="Cambria" panose="02040503050406030204" pitchFamily="18" charset="0"/>
              </a:rPr>
              <a:t> Accuracy 94,12%, Precision 94,85%, Recall 94,12%, dan F1-Score 94,16%.</a:t>
            </a:r>
          </a:p>
          <a:p>
            <a:pPr algn="just">
              <a:lnSpc>
                <a:spcPct val="125000"/>
              </a:lnSpc>
            </a:pPr>
            <a:endParaRPr lang="en-ID" sz="1600" dirty="0">
              <a:solidFill>
                <a:schemeClr val="bg1"/>
              </a:solidFill>
              <a:latin typeface="Cambria" panose="02040503050406030204" pitchFamily="18" charset="0"/>
              <a:ea typeface="Cambria" panose="02040503050406030204" pitchFamily="18" charset="0"/>
            </a:endParaRPr>
          </a:p>
          <a:p>
            <a:pPr marL="171450" indent="-171450" algn="just">
              <a:lnSpc>
                <a:spcPct val="125000"/>
              </a:lnSpc>
              <a:buFont typeface="Wingdings" panose="05000000000000000000" pitchFamily="2" charset="2"/>
              <a:buChar char="v"/>
            </a:pPr>
            <a:r>
              <a:rPr lang="en-ID" sz="1600" dirty="0" err="1">
                <a:solidFill>
                  <a:schemeClr val="bg1"/>
                </a:solidFill>
                <a:latin typeface="Cambria" panose="02040503050406030204" pitchFamily="18" charset="0"/>
                <a:ea typeface="Cambria" panose="02040503050406030204" pitchFamily="18" charset="0"/>
              </a:rPr>
              <a:t>Penambahan</a:t>
            </a:r>
            <a:r>
              <a:rPr lang="en-ID" sz="1600" dirty="0">
                <a:solidFill>
                  <a:schemeClr val="bg1"/>
                </a:solidFill>
                <a:latin typeface="Cambria" panose="02040503050406030204" pitchFamily="18" charset="0"/>
                <a:ea typeface="Cambria" panose="02040503050406030204" pitchFamily="18" charset="0"/>
              </a:rPr>
              <a:t> preprocessing </a:t>
            </a:r>
            <a:r>
              <a:rPr lang="en-ID" sz="1600" dirty="0" err="1">
                <a:solidFill>
                  <a:schemeClr val="bg1"/>
                </a:solidFill>
                <a:latin typeface="Cambria" panose="02040503050406030204" pitchFamily="18" charset="0"/>
                <a:ea typeface="Cambria" panose="02040503050406030204" pitchFamily="18" charset="0"/>
              </a:rPr>
              <a:t>seperti</a:t>
            </a:r>
            <a:r>
              <a:rPr lang="en-ID" sz="1600" dirty="0">
                <a:solidFill>
                  <a:schemeClr val="bg1"/>
                </a:solidFill>
                <a:latin typeface="Cambria" panose="02040503050406030204" pitchFamily="18" charset="0"/>
                <a:ea typeface="Cambria" panose="02040503050406030204" pitchFamily="18" charset="0"/>
              </a:rPr>
              <a:t> Median Filter, Histogram Equalization, Sharpening, dan </a:t>
            </a:r>
            <a:r>
              <a:rPr lang="en-ID" sz="1600" dirty="0" err="1">
                <a:solidFill>
                  <a:schemeClr val="bg1"/>
                </a:solidFill>
                <a:latin typeface="Cambria" panose="02040503050406030204" pitchFamily="18" charset="0"/>
                <a:ea typeface="Cambria" panose="02040503050406030204" pitchFamily="18" charset="0"/>
              </a:rPr>
              <a:t>Dilasi</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tidak</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meningkatkan</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performa</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klasifikasi</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karena</a:t>
            </a:r>
            <a:r>
              <a:rPr lang="en-ID" sz="1600" dirty="0">
                <a:solidFill>
                  <a:schemeClr val="bg1"/>
                </a:solidFill>
                <a:latin typeface="Cambria" panose="02040503050406030204" pitchFamily="18" charset="0"/>
                <a:ea typeface="Cambria" panose="02040503050406030204" pitchFamily="18" charset="0"/>
              </a:rPr>
              <a:t> proses </a:t>
            </a:r>
            <a:r>
              <a:rPr lang="en-ID" sz="1600" dirty="0" err="1">
                <a:solidFill>
                  <a:schemeClr val="bg1"/>
                </a:solidFill>
                <a:latin typeface="Cambria" panose="02040503050406030204" pitchFamily="18" charset="0"/>
                <a:ea typeface="Cambria" panose="02040503050406030204" pitchFamily="18" charset="0"/>
              </a:rPr>
              <a:t>tersebut</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dapat</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mengubah</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karakteristik</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tekstur</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asli</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citra</a:t>
            </a:r>
            <a:r>
              <a:rPr lang="en-ID" sz="1600" dirty="0">
                <a:solidFill>
                  <a:schemeClr val="bg1"/>
                </a:solidFill>
                <a:latin typeface="Cambria" panose="02040503050406030204" pitchFamily="18" charset="0"/>
                <a:ea typeface="Cambria" panose="02040503050406030204" pitchFamily="18" charset="0"/>
              </a:rPr>
              <a:t> yang </a:t>
            </a:r>
            <a:r>
              <a:rPr lang="en-ID" sz="1600" dirty="0" err="1">
                <a:solidFill>
                  <a:schemeClr val="bg1"/>
                </a:solidFill>
                <a:latin typeface="Cambria" panose="02040503050406030204" pitchFamily="18" charset="0"/>
                <a:ea typeface="Cambria" panose="02040503050406030204" pitchFamily="18" charset="0"/>
              </a:rPr>
              <a:t>menjadi</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dasar</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ekstraksi</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fitur</a:t>
            </a:r>
            <a:r>
              <a:rPr lang="en-ID" sz="1600" dirty="0">
                <a:solidFill>
                  <a:schemeClr val="bg1"/>
                </a:solidFill>
                <a:latin typeface="Cambria" panose="02040503050406030204" pitchFamily="18" charset="0"/>
                <a:ea typeface="Cambria" panose="02040503050406030204" pitchFamily="18" charset="0"/>
              </a:rPr>
              <a:t> GLCM, </a:t>
            </a:r>
            <a:r>
              <a:rPr lang="en-ID" sz="1600" dirty="0" err="1">
                <a:solidFill>
                  <a:schemeClr val="bg1"/>
                </a:solidFill>
                <a:latin typeface="Cambria" panose="02040503050406030204" pitchFamily="18" charset="0"/>
                <a:ea typeface="Cambria" panose="02040503050406030204" pitchFamily="18" charset="0"/>
              </a:rPr>
              <a:t>sehingga</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fitur</a:t>
            </a:r>
            <a:r>
              <a:rPr lang="en-ID" sz="1600" dirty="0">
                <a:solidFill>
                  <a:schemeClr val="bg1"/>
                </a:solidFill>
                <a:latin typeface="Cambria" panose="02040503050406030204" pitchFamily="18" charset="0"/>
                <a:ea typeface="Cambria" panose="02040503050406030204" pitchFamily="18" charset="0"/>
              </a:rPr>
              <a:t> yang </a:t>
            </a:r>
            <a:r>
              <a:rPr lang="en-ID" sz="1600" dirty="0" err="1">
                <a:solidFill>
                  <a:schemeClr val="bg1"/>
                </a:solidFill>
                <a:latin typeface="Cambria" panose="02040503050406030204" pitchFamily="18" charset="0"/>
                <a:ea typeface="Cambria" panose="02040503050406030204" pitchFamily="18" charset="0"/>
              </a:rPr>
              <a:t>dihasilkan</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kurang</a:t>
            </a:r>
            <a:r>
              <a:rPr lang="en-ID" sz="1600" dirty="0">
                <a:solidFill>
                  <a:schemeClr val="bg1"/>
                </a:solidFill>
                <a:latin typeface="Cambria" panose="02040503050406030204" pitchFamily="18" charset="0"/>
                <a:ea typeface="Cambria" panose="02040503050406030204" pitchFamily="18" charset="0"/>
              </a:rPr>
              <a:t> optimal </a:t>
            </a:r>
            <a:r>
              <a:rPr lang="en-ID" sz="1600" dirty="0" err="1">
                <a:solidFill>
                  <a:schemeClr val="bg1"/>
                </a:solidFill>
                <a:latin typeface="Cambria" panose="02040503050406030204" pitchFamily="18" charset="0"/>
                <a:ea typeface="Cambria" panose="02040503050406030204" pitchFamily="18" charset="0"/>
              </a:rPr>
              <a:t>untuk</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membedakan</a:t>
            </a:r>
            <a:r>
              <a:rPr lang="en-ID" sz="1600" dirty="0">
                <a:solidFill>
                  <a:schemeClr val="bg1"/>
                </a:solidFill>
                <a:latin typeface="Cambria" panose="02040503050406030204" pitchFamily="18" charset="0"/>
                <a:ea typeface="Cambria" panose="02040503050406030204" pitchFamily="18" charset="0"/>
              </a:rPr>
              <a:t> </a:t>
            </a:r>
            <a:r>
              <a:rPr lang="en-ID" sz="1600" dirty="0" err="1">
                <a:solidFill>
                  <a:schemeClr val="bg1"/>
                </a:solidFill>
                <a:latin typeface="Cambria" panose="02040503050406030204" pitchFamily="18" charset="0"/>
                <a:ea typeface="Cambria" panose="02040503050406030204" pitchFamily="18" charset="0"/>
              </a:rPr>
              <a:t>kelas</a:t>
            </a:r>
            <a:r>
              <a:rPr lang="en-ID" sz="1600" dirty="0">
                <a:solidFill>
                  <a:schemeClr val="bg1"/>
                </a:solidFill>
                <a:latin typeface="Cambria" panose="02040503050406030204" pitchFamily="18" charset="0"/>
                <a:ea typeface="Cambria" panose="02040503050406030204" pitchFamily="18" charset="0"/>
              </a:rPr>
              <a:t> defect dan non-defect.</a:t>
            </a:r>
            <a:endParaRPr lang="en-US" sz="16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4" name="Text 12"/>
          <p:cNvSpPr/>
          <p:nvPr/>
        </p:nvSpPr>
        <p:spPr>
          <a:xfrm>
            <a:off x="6263640" y="3749040"/>
            <a:ext cx="1005840" cy="914400"/>
          </a:xfrm>
          <a:prstGeom prst="rect">
            <a:avLst/>
          </a:prstGeom>
          <a:noFill/>
          <a:ln/>
        </p:spPr>
        <p:txBody>
          <a:bodyPr wrap="square" rtlCol="0" anchor="ctr"/>
          <a:lstStyle/>
          <a:p>
            <a:pPr marL="0" indent="0">
              <a:buNone/>
            </a:pPr>
            <a:endParaRPr lang="en-US" sz="3600" dirty="0"/>
          </a:p>
        </p:txBody>
      </p:sp>
      <p:sp>
        <p:nvSpPr>
          <p:cNvPr id="15" name="Text 13"/>
          <p:cNvSpPr/>
          <p:nvPr/>
        </p:nvSpPr>
        <p:spPr>
          <a:xfrm>
            <a:off x="7178040" y="3767328"/>
            <a:ext cx="4434840" cy="411480"/>
          </a:xfrm>
          <a:prstGeom prst="rect">
            <a:avLst/>
          </a:prstGeom>
          <a:noFill/>
          <a:ln/>
        </p:spPr>
        <p:txBody>
          <a:bodyPr wrap="square" rtlCol="0" anchor="ctr"/>
          <a:lstStyle/>
          <a:p>
            <a:pPr marL="0" indent="0">
              <a:buNone/>
            </a:pPr>
            <a:endParaRPr lang="en-US" sz="1500" dirty="0"/>
          </a:p>
        </p:txBody>
      </p:sp>
      <p:sp>
        <p:nvSpPr>
          <p:cNvPr id="16" name="Text 14"/>
          <p:cNvSpPr/>
          <p:nvPr/>
        </p:nvSpPr>
        <p:spPr>
          <a:xfrm>
            <a:off x="7178040" y="4187952"/>
            <a:ext cx="4434840" cy="1188720"/>
          </a:xfrm>
          <a:prstGeom prst="rect">
            <a:avLst/>
          </a:prstGeom>
          <a:noFill/>
          <a:ln/>
        </p:spPr>
        <p:txBody>
          <a:bodyPr wrap="square" rtlCol="0" anchor="ctr"/>
          <a:lstStyle/>
          <a:p>
            <a:pPr marL="0" indent="0">
              <a:lnSpc>
                <a:spcPct val="125000"/>
              </a:lnSpc>
              <a:buNone/>
            </a:pP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8895C7"/>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979</Words>
  <Application>Microsoft Office PowerPoint</Application>
  <PresentationFormat>Widescreen</PresentationFormat>
  <Paragraphs>213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Klasifikasi Kain Defektif dan Non Defektif Menggunakan Fitur GLCM</dc:title>
  <dc:subject>PptxGenJS Presentation</dc:subject>
  <dc:creator>Deswita Salsabila, Winona Andien Jihan Habbibah, Faiz Ahmad Tsaqib Wirawan, Dita Ayu Julita</dc:creator>
  <cp:lastModifiedBy>LENOVO LOQ</cp:lastModifiedBy>
  <cp:revision>4</cp:revision>
  <dcterms:created xsi:type="dcterms:W3CDTF">2026-06-19T13:51:49Z</dcterms:created>
  <dcterms:modified xsi:type="dcterms:W3CDTF">2026-06-20T02:47:09Z</dcterms:modified>
</cp:coreProperties>
</file>